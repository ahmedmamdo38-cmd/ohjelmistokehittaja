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1" r:id="rId4"/>
  </p:sldMasterIdLst>
  <p:notesMasterIdLst>
    <p:notesMasterId r:id="rId87"/>
  </p:notesMasterIdLst>
  <p:handoutMasterIdLst>
    <p:handoutMasterId r:id="rId88"/>
  </p:handoutMasterIdLst>
  <p:sldIdLst>
    <p:sldId id="256" r:id="rId5"/>
    <p:sldId id="337" r:id="rId6"/>
    <p:sldId id="338" r:id="rId7"/>
    <p:sldId id="339" r:id="rId8"/>
    <p:sldId id="278" r:id="rId9"/>
    <p:sldId id="258" r:id="rId10"/>
    <p:sldId id="259" r:id="rId11"/>
    <p:sldId id="260" r:id="rId12"/>
    <p:sldId id="261" r:id="rId13"/>
    <p:sldId id="263" r:id="rId14"/>
    <p:sldId id="264" r:id="rId15"/>
    <p:sldId id="262" r:id="rId16"/>
    <p:sldId id="279" r:id="rId17"/>
    <p:sldId id="280" r:id="rId18"/>
    <p:sldId id="286" r:id="rId19"/>
    <p:sldId id="287" r:id="rId20"/>
    <p:sldId id="265" r:id="rId21"/>
    <p:sldId id="266" r:id="rId22"/>
    <p:sldId id="267" r:id="rId23"/>
    <p:sldId id="274" r:id="rId24"/>
    <p:sldId id="320" r:id="rId25"/>
    <p:sldId id="321" r:id="rId26"/>
    <p:sldId id="275" r:id="rId27"/>
    <p:sldId id="322" r:id="rId28"/>
    <p:sldId id="323" r:id="rId29"/>
    <p:sldId id="276" r:id="rId30"/>
    <p:sldId id="277" r:id="rId31"/>
    <p:sldId id="299" r:id="rId32"/>
    <p:sldId id="300" r:id="rId33"/>
    <p:sldId id="309" r:id="rId34"/>
    <p:sldId id="301" r:id="rId35"/>
    <p:sldId id="302" r:id="rId36"/>
    <p:sldId id="303" r:id="rId37"/>
    <p:sldId id="304" r:id="rId38"/>
    <p:sldId id="305" r:id="rId39"/>
    <p:sldId id="306" r:id="rId40"/>
    <p:sldId id="307" r:id="rId41"/>
    <p:sldId id="308" r:id="rId42"/>
    <p:sldId id="310" r:id="rId43"/>
    <p:sldId id="288" r:id="rId44"/>
    <p:sldId id="289" r:id="rId45"/>
    <p:sldId id="290" r:id="rId46"/>
    <p:sldId id="291" r:id="rId47"/>
    <p:sldId id="292" r:id="rId48"/>
    <p:sldId id="293" r:id="rId49"/>
    <p:sldId id="294" r:id="rId50"/>
    <p:sldId id="295" r:id="rId51"/>
    <p:sldId id="296" r:id="rId52"/>
    <p:sldId id="297" r:id="rId53"/>
    <p:sldId id="311" r:id="rId54"/>
    <p:sldId id="312" r:id="rId55"/>
    <p:sldId id="313" r:id="rId56"/>
    <p:sldId id="314" r:id="rId57"/>
    <p:sldId id="315" r:id="rId58"/>
    <p:sldId id="316" r:id="rId59"/>
    <p:sldId id="317" r:id="rId60"/>
    <p:sldId id="318" r:id="rId61"/>
    <p:sldId id="319" r:id="rId62"/>
    <p:sldId id="268" r:id="rId63"/>
    <p:sldId id="269" r:id="rId64"/>
    <p:sldId id="272" r:id="rId65"/>
    <p:sldId id="281" r:id="rId66"/>
    <p:sldId id="282" r:id="rId67"/>
    <p:sldId id="283" r:id="rId68"/>
    <p:sldId id="284" r:id="rId69"/>
    <p:sldId id="285" r:id="rId70"/>
    <p:sldId id="273" r:id="rId71"/>
    <p:sldId id="324" r:id="rId72"/>
    <p:sldId id="325" r:id="rId73"/>
    <p:sldId id="326" r:id="rId74"/>
    <p:sldId id="270" r:id="rId75"/>
    <p:sldId id="271" r:id="rId76"/>
    <p:sldId id="327" r:id="rId77"/>
    <p:sldId id="328" r:id="rId78"/>
    <p:sldId id="329" r:id="rId79"/>
    <p:sldId id="330" r:id="rId80"/>
    <p:sldId id="331" r:id="rId81"/>
    <p:sldId id="332" r:id="rId82"/>
    <p:sldId id="333" r:id="rId83"/>
    <p:sldId id="334" r:id="rId84"/>
    <p:sldId id="335" r:id="rId85"/>
    <p:sldId id="336" r:id="rId8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0D8"/>
    <a:srgbClr val="BCCF00"/>
    <a:srgbClr val="AF2867"/>
    <a:srgbClr val="C9338B"/>
    <a:srgbClr val="0074D8"/>
    <a:srgbClr val="623D91"/>
    <a:srgbClr val="442D73"/>
    <a:srgbClr val="A32271"/>
    <a:srgbClr val="0098BE"/>
    <a:srgbClr val="C9332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263" autoAdjust="0"/>
    <p:restoredTop sz="96327" autoAdjust="0"/>
  </p:normalViewPr>
  <p:slideViewPr>
    <p:cSldViewPr snapToGrid="0" snapToObjects="1">
      <p:cViewPr varScale="1">
        <p:scale>
          <a:sx n="96" d="100"/>
          <a:sy n="96" d="100"/>
        </p:scale>
        <p:origin x="1056"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9014"/>
    </p:cViewPr>
  </p:sorterViewPr>
  <p:notesViewPr>
    <p:cSldViewPr snapToGrid="0" snapToObjects="1" showGuides="1">
      <p:cViewPr varScale="1">
        <p:scale>
          <a:sx n="87" d="100"/>
          <a:sy n="87" d="100"/>
        </p:scale>
        <p:origin x="384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presProps" Target="pres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viewProps" Target="viewProps.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handoutMaster" Target="handoutMasters/handoutMaster1.xml"/><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notesMaster" Target="notesMasters/notesMaster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B94D4C9-6805-D540-BF0E-8D5D44FA5A14}" type="datetimeFigureOut">
              <a:rPr lang="en-US" smtClean="0"/>
              <a:t>1/7/2026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88212D4-8506-FA4A-B89D-DDD39B1D739E}" type="slidenum">
              <a:rPr lang="en-US" smtClean="0"/>
              <a:t>‹#›</a:t>
            </a:fld>
            <a:endParaRPr lang="en-US"/>
          </a:p>
        </p:txBody>
      </p:sp>
    </p:spTree>
    <p:extLst>
      <p:ext uri="{BB962C8B-B14F-4D97-AF65-F5344CB8AC3E}">
        <p14:creationId xmlns:p14="http://schemas.microsoft.com/office/powerpoint/2010/main" val="40213269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01EE868-360A-9D4F-ADEB-D95F6F3D8AE4}" type="datetimeFigureOut">
              <a:rPr lang="en-US" smtClean="0"/>
              <a:t>1/7/2026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D3639CC-2304-9949-BEF3-54E737648D9B}" type="slidenum">
              <a:rPr lang="en-US" smtClean="0"/>
              <a:t>‹#›</a:t>
            </a:fld>
            <a:endParaRPr lang="en-US"/>
          </a:p>
        </p:txBody>
      </p:sp>
    </p:spTree>
    <p:extLst>
      <p:ext uri="{BB962C8B-B14F-4D97-AF65-F5344CB8AC3E}">
        <p14:creationId xmlns:p14="http://schemas.microsoft.com/office/powerpoint/2010/main" val="266912929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Kansi">
    <p:spTree>
      <p:nvGrpSpPr>
        <p:cNvPr id="1" name=""/>
        <p:cNvGrpSpPr/>
        <p:nvPr/>
      </p:nvGrpSpPr>
      <p:grpSpPr>
        <a:xfrm>
          <a:off x="0" y="0"/>
          <a:ext cx="0" cy="0"/>
          <a:chOff x="0" y="0"/>
          <a:chExt cx="0" cy="0"/>
        </a:xfrm>
      </p:grpSpPr>
      <p:sp>
        <p:nvSpPr>
          <p:cNvPr id="3" name="Otsikko 2"/>
          <p:cNvSpPr>
            <a:spLocks noGrp="1"/>
          </p:cNvSpPr>
          <p:nvPr>
            <p:ph type="title"/>
          </p:nvPr>
        </p:nvSpPr>
        <p:spPr>
          <a:xfrm>
            <a:off x="2358596" y="2049523"/>
            <a:ext cx="6373512" cy="2817092"/>
          </a:xfrm>
          <a:prstGeom prst="rect">
            <a:avLst/>
          </a:prstGeom>
        </p:spPr>
        <p:txBody>
          <a:bodyPr>
            <a:normAutofit/>
          </a:bodyPr>
          <a:lstStyle>
            <a:lvl1pPr>
              <a:lnSpc>
                <a:spcPts val="3600"/>
              </a:lnSpc>
              <a:defRPr sz="3200"/>
            </a:lvl1pPr>
          </a:lstStyle>
          <a:p>
            <a:r>
              <a:rPr lang="fi-FI"/>
              <a:t>Muokkaa ots. perustyyl. napsautt.</a:t>
            </a:r>
            <a:endParaRPr lang="fi-FI" dirty="0"/>
          </a:p>
        </p:txBody>
      </p:sp>
    </p:spTree>
    <p:extLst>
      <p:ext uri="{BB962C8B-B14F-4D97-AF65-F5344CB8AC3E}">
        <p14:creationId xmlns:p14="http://schemas.microsoft.com/office/powerpoint/2010/main" val="4037976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Kansi - ykkösvalinta">
    <p:spTree>
      <p:nvGrpSpPr>
        <p:cNvPr id="1" name=""/>
        <p:cNvGrpSpPr/>
        <p:nvPr/>
      </p:nvGrpSpPr>
      <p:grpSpPr>
        <a:xfrm>
          <a:off x="0" y="0"/>
          <a:ext cx="0" cy="0"/>
          <a:chOff x="0" y="0"/>
          <a:chExt cx="0" cy="0"/>
        </a:xfrm>
      </p:grpSpPr>
      <p:pic>
        <p:nvPicPr>
          <p:cNvPr id="4" name="Kuva 3">
            <a:extLst>
              <a:ext uri="{FF2B5EF4-FFF2-40B4-BE49-F238E27FC236}">
                <a16:creationId xmlns:a16="http://schemas.microsoft.com/office/drawing/2014/main" id="{4AB942B8-D485-43EB-B893-D7EF85259774}"/>
              </a:ext>
            </a:extLst>
          </p:cNvPr>
          <p:cNvPicPr>
            <a:picLocks noChangeAspect="1"/>
          </p:cNvPicPr>
          <p:nvPr userDrawn="1"/>
        </p:nvPicPr>
        <p:blipFill>
          <a:blip r:embed="rId2"/>
          <a:stretch>
            <a:fillRect/>
          </a:stretch>
        </p:blipFill>
        <p:spPr>
          <a:xfrm>
            <a:off x="0" y="0"/>
            <a:ext cx="9144000" cy="6857999"/>
          </a:xfrm>
          <a:prstGeom prst="rect">
            <a:avLst/>
          </a:prstGeom>
        </p:spPr>
      </p:pic>
      <p:sp>
        <p:nvSpPr>
          <p:cNvPr id="3" name="Otsikko 2"/>
          <p:cNvSpPr>
            <a:spLocks noGrp="1"/>
          </p:cNvSpPr>
          <p:nvPr>
            <p:ph type="title"/>
          </p:nvPr>
        </p:nvSpPr>
        <p:spPr>
          <a:xfrm>
            <a:off x="978683" y="2049523"/>
            <a:ext cx="6373512" cy="2817092"/>
          </a:xfrm>
          <a:prstGeom prst="rect">
            <a:avLst/>
          </a:prstGeom>
        </p:spPr>
        <p:txBody>
          <a:bodyPr>
            <a:normAutofit/>
          </a:bodyPr>
          <a:lstStyle>
            <a:lvl1pPr>
              <a:lnSpc>
                <a:spcPts val="3600"/>
              </a:lnSpc>
              <a:defRPr sz="3200"/>
            </a:lvl1pPr>
          </a:lstStyle>
          <a:p>
            <a:r>
              <a:rPr lang="fi-FI"/>
              <a:t>Muokkaa ots. perustyyl. napsautt.</a:t>
            </a:r>
            <a:endParaRPr lang="fi-FI" dirty="0"/>
          </a:p>
        </p:txBody>
      </p:sp>
      <p:sp>
        <p:nvSpPr>
          <p:cNvPr id="5" name="TextBox 10">
            <a:extLst>
              <a:ext uri="{FF2B5EF4-FFF2-40B4-BE49-F238E27FC236}">
                <a16:creationId xmlns:a16="http://schemas.microsoft.com/office/drawing/2014/main" id="{C6C2C99A-DA4C-41F0-ADDF-F850E7C02A8C}"/>
              </a:ext>
            </a:extLst>
          </p:cNvPr>
          <p:cNvSpPr txBox="1"/>
          <p:nvPr userDrawn="1"/>
        </p:nvSpPr>
        <p:spPr>
          <a:xfrm>
            <a:off x="7270101" y="6475102"/>
            <a:ext cx="1585487"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latin typeface="TitilliumText22L Light"/>
                <a:cs typeface="TitilliumText22L Light"/>
              </a:rPr>
              <a:t>KEUDA</a:t>
            </a:r>
            <a:r>
              <a:rPr lang="en-US" sz="800" baseline="0" dirty="0"/>
              <a:t> </a:t>
            </a:r>
            <a:r>
              <a:rPr lang="fi-FI" sz="800" b="0" i="0" u="none" strike="noStrike" kern="1200" baseline="10000" dirty="0">
                <a:solidFill>
                  <a:schemeClr val="accent1"/>
                </a:solidFill>
                <a:latin typeface="+mn-lt"/>
                <a:ea typeface="+mn-ea"/>
                <a:cs typeface="+mn-cs"/>
              </a:rPr>
              <a:t>•</a:t>
            </a:r>
            <a:r>
              <a:rPr lang="fi-FI" sz="800" b="0" i="0" u="none" strike="noStrike" kern="1200" baseline="0" dirty="0">
                <a:solidFill>
                  <a:schemeClr val="accent3"/>
                </a:solidFill>
                <a:latin typeface="+mn-lt"/>
                <a:ea typeface="+mn-ea"/>
                <a:cs typeface="+mn-cs"/>
              </a:rPr>
              <a:t> </a:t>
            </a:r>
            <a:fld id="{682124FE-E830-FA47-9347-515BBA8263AC}" type="slidenum">
              <a:rPr lang="fi-FI" sz="800" b="0" i="0" u="none" strike="noStrike" kern="1200" baseline="0" smtClean="0">
                <a:solidFill>
                  <a:schemeClr val="tx1"/>
                </a:solidFill>
                <a:latin typeface="TitilliumText22L Light"/>
                <a:ea typeface="+mn-ea"/>
                <a:cs typeface="TitilliumText22L Light"/>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latin typeface="TitilliumText22L Light"/>
              <a:cs typeface="TitilliumText22L Light"/>
            </a:endParaRPr>
          </a:p>
        </p:txBody>
      </p:sp>
    </p:spTree>
    <p:extLst>
      <p:ext uri="{BB962C8B-B14F-4D97-AF65-F5344CB8AC3E}">
        <p14:creationId xmlns:p14="http://schemas.microsoft.com/office/powerpoint/2010/main" val="2667396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sältö ">
    <p:spTree>
      <p:nvGrpSpPr>
        <p:cNvPr id="1" name=""/>
        <p:cNvGrpSpPr/>
        <p:nvPr/>
      </p:nvGrpSpPr>
      <p:grpSpPr>
        <a:xfrm>
          <a:off x="0" y="0"/>
          <a:ext cx="0" cy="0"/>
          <a:chOff x="0" y="0"/>
          <a:chExt cx="0" cy="0"/>
        </a:xfrm>
      </p:grpSpPr>
      <p:sp>
        <p:nvSpPr>
          <p:cNvPr id="24" name="Title 1"/>
          <p:cNvSpPr>
            <a:spLocks noGrp="1"/>
          </p:cNvSpPr>
          <p:nvPr>
            <p:ph type="title" hasCustomPrompt="1"/>
          </p:nvPr>
        </p:nvSpPr>
        <p:spPr>
          <a:xfrm>
            <a:off x="2357108" y="1583952"/>
            <a:ext cx="5761282" cy="1440392"/>
          </a:xfrm>
          <a:prstGeom prst="rect">
            <a:avLst/>
          </a:prstGeom>
        </p:spPr>
        <p:txBody>
          <a:bodyPr anchor="b">
            <a:normAutofit/>
          </a:bodyPr>
          <a:lstStyle>
            <a:lvl1pPr algn="l">
              <a:lnSpc>
                <a:spcPts val="3600"/>
              </a:lnSpc>
              <a:defRPr sz="3200" baseline="0">
                <a:latin typeface="Arial"/>
                <a:cs typeface="Arial"/>
              </a:defRPr>
            </a:lvl1pPr>
          </a:lstStyle>
          <a:p>
            <a:r>
              <a:rPr lang="fi-FI" dirty="0"/>
              <a:t>Otsikko </a:t>
            </a:r>
            <a:r>
              <a:rPr lang="fi-FI" dirty="0" err="1"/>
              <a:t>lorem</a:t>
            </a:r>
            <a:r>
              <a:rPr lang="fi-FI" dirty="0"/>
              <a:t> </a:t>
            </a:r>
            <a:r>
              <a:rPr lang="fi-FI" dirty="0" err="1"/>
              <a:t>ipsum</a:t>
            </a:r>
            <a:r>
              <a:rPr lang="fi-FI" dirty="0"/>
              <a:t> </a:t>
            </a:r>
            <a:br>
              <a:rPr lang="fi-FI" dirty="0"/>
            </a:br>
            <a:r>
              <a:rPr lang="fi-FI" dirty="0" err="1"/>
              <a:t>Arial</a:t>
            </a:r>
            <a:r>
              <a:rPr lang="fi-FI" dirty="0"/>
              <a:t> 32/36</a:t>
            </a:r>
            <a:endParaRPr lang="en-US" dirty="0"/>
          </a:p>
        </p:txBody>
      </p:sp>
      <p:sp>
        <p:nvSpPr>
          <p:cNvPr id="4" name="Sisällön paikkamerkki 2"/>
          <p:cNvSpPr>
            <a:spLocks noGrp="1"/>
          </p:cNvSpPr>
          <p:nvPr>
            <p:ph sz="quarter" idx="12"/>
          </p:nvPr>
        </p:nvSpPr>
        <p:spPr>
          <a:xfrm>
            <a:off x="2357108" y="3123454"/>
            <a:ext cx="5248647" cy="2884487"/>
          </a:xfrm>
          <a:prstGeom prst="rect">
            <a:avLst/>
          </a:prstGeom>
        </p:spPr>
        <p:txBody>
          <a:bodyPr>
            <a:normAutofit/>
          </a:bodyPr>
          <a:lstStyle>
            <a:lvl1pPr>
              <a:defRPr sz="1600" b="0" i="0">
                <a:latin typeface="Arial"/>
                <a:ea typeface="TitilliumText22L Light" charset="0"/>
                <a:cs typeface="Arial"/>
              </a:defRPr>
            </a:lvl1pPr>
            <a:lvl2pPr>
              <a:defRPr sz="1600" b="0" i="0">
                <a:latin typeface="Arial"/>
                <a:ea typeface="TitilliumText22L Light" charset="0"/>
                <a:cs typeface="Arial"/>
              </a:defRPr>
            </a:lvl2pPr>
            <a:lvl3pPr>
              <a:defRPr sz="1600" b="0" i="0">
                <a:latin typeface="Arial"/>
                <a:ea typeface="TitilliumText22L Light" charset="0"/>
                <a:cs typeface="Arial"/>
              </a:defRPr>
            </a:lvl3pPr>
            <a:lvl4pPr>
              <a:defRPr sz="1600" b="0" i="0">
                <a:latin typeface="Arial"/>
                <a:ea typeface="TitilliumText22L Light" charset="0"/>
                <a:cs typeface="Arial"/>
              </a:defRPr>
            </a:lvl4pPr>
            <a:lvl5pPr>
              <a:defRPr sz="1600" b="0" i="0">
                <a:latin typeface="Arial"/>
                <a:ea typeface="TitilliumText22L Light" charset="0"/>
                <a:cs typeface="Arial"/>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fi-FI" dirty="0"/>
          </a:p>
        </p:txBody>
      </p:sp>
    </p:spTree>
    <p:extLst>
      <p:ext uri="{BB962C8B-B14F-4D97-AF65-F5344CB8AC3E}">
        <p14:creationId xmlns:p14="http://schemas.microsoft.com/office/powerpoint/2010/main" val="1489151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sältö - ykkösvalinta">
    <p:spTree>
      <p:nvGrpSpPr>
        <p:cNvPr id="1" name=""/>
        <p:cNvGrpSpPr/>
        <p:nvPr/>
      </p:nvGrpSpPr>
      <p:grpSpPr>
        <a:xfrm>
          <a:off x="0" y="0"/>
          <a:ext cx="0" cy="0"/>
          <a:chOff x="0" y="0"/>
          <a:chExt cx="0" cy="0"/>
        </a:xfrm>
      </p:grpSpPr>
      <p:pic>
        <p:nvPicPr>
          <p:cNvPr id="3" name="Kuva 2">
            <a:extLst>
              <a:ext uri="{FF2B5EF4-FFF2-40B4-BE49-F238E27FC236}">
                <a16:creationId xmlns:a16="http://schemas.microsoft.com/office/drawing/2014/main" id="{483DE276-B9F3-49A3-A012-F8B91BA51C04}"/>
              </a:ext>
            </a:extLst>
          </p:cNvPr>
          <p:cNvPicPr>
            <a:picLocks noChangeAspect="1"/>
          </p:cNvPicPr>
          <p:nvPr userDrawn="1"/>
        </p:nvPicPr>
        <p:blipFill>
          <a:blip r:embed="rId2"/>
          <a:stretch>
            <a:fillRect/>
          </a:stretch>
        </p:blipFill>
        <p:spPr>
          <a:xfrm>
            <a:off x="0" y="0"/>
            <a:ext cx="9144000" cy="6857999"/>
          </a:xfrm>
          <a:prstGeom prst="rect">
            <a:avLst/>
          </a:prstGeom>
        </p:spPr>
      </p:pic>
      <p:sp>
        <p:nvSpPr>
          <p:cNvPr id="24" name="Title 1"/>
          <p:cNvSpPr>
            <a:spLocks noGrp="1"/>
          </p:cNvSpPr>
          <p:nvPr>
            <p:ph type="title" hasCustomPrompt="1"/>
          </p:nvPr>
        </p:nvSpPr>
        <p:spPr>
          <a:xfrm>
            <a:off x="791918" y="129863"/>
            <a:ext cx="8063670" cy="1440392"/>
          </a:xfrm>
          <a:prstGeom prst="rect">
            <a:avLst/>
          </a:prstGeom>
        </p:spPr>
        <p:txBody>
          <a:bodyPr anchor="b">
            <a:normAutofit/>
          </a:bodyPr>
          <a:lstStyle>
            <a:lvl1pPr algn="l">
              <a:lnSpc>
                <a:spcPts val="3600"/>
              </a:lnSpc>
              <a:defRPr sz="3200" baseline="0">
                <a:latin typeface="Arial"/>
                <a:cs typeface="Arial"/>
              </a:defRPr>
            </a:lvl1pPr>
          </a:lstStyle>
          <a:p>
            <a:r>
              <a:rPr lang="fi-FI" dirty="0"/>
              <a:t>Otsikko </a:t>
            </a:r>
            <a:r>
              <a:rPr lang="fi-FI" dirty="0" err="1"/>
              <a:t>lorem</a:t>
            </a:r>
            <a:r>
              <a:rPr lang="fi-FI" dirty="0"/>
              <a:t> </a:t>
            </a:r>
            <a:r>
              <a:rPr lang="fi-FI" dirty="0" err="1"/>
              <a:t>ipsum</a:t>
            </a:r>
            <a:r>
              <a:rPr lang="fi-FI" dirty="0"/>
              <a:t> </a:t>
            </a:r>
            <a:br>
              <a:rPr lang="fi-FI" dirty="0"/>
            </a:br>
            <a:r>
              <a:rPr lang="fi-FI" dirty="0" err="1"/>
              <a:t>Arial</a:t>
            </a:r>
            <a:r>
              <a:rPr lang="fi-FI" dirty="0"/>
              <a:t> 32/36</a:t>
            </a:r>
            <a:endParaRPr lang="en-US" dirty="0"/>
          </a:p>
        </p:txBody>
      </p:sp>
      <p:sp>
        <p:nvSpPr>
          <p:cNvPr id="4" name="Sisällön paikkamerkki 2"/>
          <p:cNvSpPr>
            <a:spLocks noGrp="1"/>
          </p:cNvSpPr>
          <p:nvPr>
            <p:ph sz="quarter" idx="12"/>
          </p:nvPr>
        </p:nvSpPr>
        <p:spPr>
          <a:xfrm>
            <a:off x="791918" y="1700118"/>
            <a:ext cx="8063670" cy="5028019"/>
          </a:xfrm>
          <a:prstGeom prst="rect">
            <a:avLst/>
          </a:prstGeom>
        </p:spPr>
        <p:txBody>
          <a:bodyPr>
            <a:normAutofit/>
          </a:bodyPr>
          <a:lstStyle>
            <a:lvl1pPr>
              <a:defRPr sz="1600" b="0" i="0">
                <a:latin typeface="Arial"/>
                <a:ea typeface="TitilliumText22L Light" charset="0"/>
                <a:cs typeface="Arial"/>
              </a:defRPr>
            </a:lvl1pPr>
            <a:lvl2pPr>
              <a:defRPr sz="1600" b="0" i="0">
                <a:latin typeface="Arial"/>
                <a:ea typeface="TitilliumText22L Light" charset="0"/>
                <a:cs typeface="Arial"/>
              </a:defRPr>
            </a:lvl2pPr>
            <a:lvl3pPr>
              <a:defRPr sz="1600" b="0" i="0">
                <a:latin typeface="Arial"/>
                <a:ea typeface="TitilliumText22L Light" charset="0"/>
                <a:cs typeface="Arial"/>
              </a:defRPr>
            </a:lvl3pPr>
            <a:lvl4pPr>
              <a:defRPr sz="1600" b="0" i="0">
                <a:latin typeface="Arial"/>
                <a:ea typeface="TitilliumText22L Light" charset="0"/>
                <a:cs typeface="Arial"/>
              </a:defRPr>
            </a:lvl4pPr>
            <a:lvl5pPr>
              <a:defRPr sz="1600" b="0" i="0">
                <a:latin typeface="Arial"/>
                <a:ea typeface="TitilliumText22L Light" charset="0"/>
                <a:cs typeface="Arial"/>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fi-FI" dirty="0"/>
          </a:p>
        </p:txBody>
      </p:sp>
      <p:sp>
        <p:nvSpPr>
          <p:cNvPr id="5" name="TextBox 10">
            <a:extLst>
              <a:ext uri="{FF2B5EF4-FFF2-40B4-BE49-F238E27FC236}">
                <a16:creationId xmlns:a16="http://schemas.microsoft.com/office/drawing/2014/main" id="{9B2DEAFD-14B8-46F3-89ED-609D3D3377D8}"/>
              </a:ext>
            </a:extLst>
          </p:cNvPr>
          <p:cNvSpPr txBox="1"/>
          <p:nvPr userDrawn="1"/>
        </p:nvSpPr>
        <p:spPr>
          <a:xfrm>
            <a:off x="7270101" y="6475102"/>
            <a:ext cx="1585487"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latin typeface="TitilliumText22L Light"/>
                <a:cs typeface="TitilliumText22L Light"/>
              </a:rPr>
              <a:t>KEUDA</a:t>
            </a:r>
            <a:r>
              <a:rPr lang="en-US" sz="800" baseline="0" dirty="0"/>
              <a:t> </a:t>
            </a:r>
            <a:r>
              <a:rPr lang="fi-FI" sz="800" b="0" i="0" u="none" strike="noStrike" kern="1200" baseline="10000" dirty="0">
                <a:solidFill>
                  <a:schemeClr val="accent1"/>
                </a:solidFill>
                <a:latin typeface="+mn-lt"/>
                <a:ea typeface="+mn-ea"/>
                <a:cs typeface="+mn-cs"/>
              </a:rPr>
              <a:t>•</a:t>
            </a:r>
            <a:r>
              <a:rPr lang="fi-FI" sz="800" b="0" i="0" u="none" strike="noStrike" kern="1200" baseline="0" dirty="0">
                <a:solidFill>
                  <a:schemeClr val="accent3"/>
                </a:solidFill>
                <a:latin typeface="+mn-lt"/>
                <a:ea typeface="+mn-ea"/>
                <a:cs typeface="+mn-cs"/>
              </a:rPr>
              <a:t> </a:t>
            </a:r>
            <a:fld id="{682124FE-E830-FA47-9347-515BBA8263AC}" type="slidenum">
              <a:rPr lang="fi-FI" sz="800" b="0" i="0" u="none" strike="noStrike" kern="1200" baseline="0" smtClean="0">
                <a:solidFill>
                  <a:schemeClr val="tx1"/>
                </a:solidFill>
                <a:latin typeface="TitilliumText22L Light"/>
                <a:ea typeface="+mn-ea"/>
                <a:cs typeface="TitilliumText22L Light"/>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latin typeface="TitilliumText22L Light"/>
              <a:cs typeface="TitilliumText22L Light"/>
            </a:endParaRPr>
          </a:p>
        </p:txBody>
      </p:sp>
    </p:spTree>
    <p:extLst>
      <p:ext uri="{BB962C8B-B14F-4D97-AF65-F5344CB8AC3E}">
        <p14:creationId xmlns:p14="http://schemas.microsoft.com/office/powerpoint/2010/main" val="25963212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isältö - ykkösvalinta - lime">
    <p:spTree>
      <p:nvGrpSpPr>
        <p:cNvPr id="1" name=""/>
        <p:cNvGrpSpPr/>
        <p:nvPr/>
      </p:nvGrpSpPr>
      <p:grpSpPr>
        <a:xfrm>
          <a:off x="0" y="0"/>
          <a:ext cx="0" cy="0"/>
          <a:chOff x="0" y="0"/>
          <a:chExt cx="0" cy="0"/>
        </a:xfrm>
      </p:grpSpPr>
      <p:pic>
        <p:nvPicPr>
          <p:cNvPr id="7" name="Kuva 6">
            <a:extLst>
              <a:ext uri="{FF2B5EF4-FFF2-40B4-BE49-F238E27FC236}">
                <a16:creationId xmlns:a16="http://schemas.microsoft.com/office/drawing/2014/main" id="{FE89DC39-807A-4E9C-9BF9-8794BD58BCC3}"/>
              </a:ext>
            </a:extLst>
          </p:cNvPr>
          <p:cNvPicPr>
            <a:picLocks noChangeAspect="1"/>
          </p:cNvPicPr>
          <p:nvPr userDrawn="1"/>
        </p:nvPicPr>
        <p:blipFill>
          <a:blip r:embed="rId2"/>
          <a:stretch>
            <a:fillRect/>
          </a:stretch>
        </p:blipFill>
        <p:spPr>
          <a:xfrm>
            <a:off x="0" y="0"/>
            <a:ext cx="9144000" cy="6857999"/>
          </a:xfrm>
          <a:prstGeom prst="rect">
            <a:avLst/>
          </a:prstGeom>
        </p:spPr>
      </p:pic>
      <p:sp>
        <p:nvSpPr>
          <p:cNvPr id="24" name="Title 1"/>
          <p:cNvSpPr>
            <a:spLocks noGrp="1"/>
          </p:cNvSpPr>
          <p:nvPr>
            <p:ph type="title" hasCustomPrompt="1"/>
          </p:nvPr>
        </p:nvSpPr>
        <p:spPr>
          <a:xfrm>
            <a:off x="791918" y="1583952"/>
            <a:ext cx="5761282" cy="1440392"/>
          </a:xfrm>
          <a:prstGeom prst="rect">
            <a:avLst/>
          </a:prstGeom>
        </p:spPr>
        <p:txBody>
          <a:bodyPr anchor="b">
            <a:normAutofit/>
          </a:bodyPr>
          <a:lstStyle>
            <a:lvl1pPr algn="l">
              <a:lnSpc>
                <a:spcPts val="3600"/>
              </a:lnSpc>
              <a:defRPr sz="3200" baseline="0">
                <a:latin typeface="Arial"/>
                <a:cs typeface="Arial"/>
              </a:defRPr>
            </a:lvl1pPr>
          </a:lstStyle>
          <a:p>
            <a:r>
              <a:rPr lang="fi-FI" dirty="0"/>
              <a:t>Otsikko </a:t>
            </a:r>
            <a:r>
              <a:rPr lang="fi-FI" dirty="0" err="1"/>
              <a:t>lorem</a:t>
            </a:r>
            <a:r>
              <a:rPr lang="fi-FI" dirty="0"/>
              <a:t> </a:t>
            </a:r>
            <a:r>
              <a:rPr lang="fi-FI" dirty="0" err="1"/>
              <a:t>ipsum</a:t>
            </a:r>
            <a:r>
              <a:rPr lang="fi-FI" dirty="0"/>
              <a:t> </a:t>
            </a:r>
            <a:br>
              <a:rPr lang="fi-FI" dirty="0"/>
            </a:br>
            <a:r>
              <a:rPr lang="fi-FI" dirty="0" err="1"/>
              <a:t>Arial</a:t>
            </a:r>
            <a:r>
              <a:rPr lang="fi-FI" dirty="0"/>
              <a:t> 32/36</a:t>
            </a:r>
            <a:endParaRPr lang="en-US" dirty="0"/>
          </a:p>
        </p:txBody>
      </p:sp>
      <p:sp>
        <p:nvSpPr>
          <p:cNvPr id="4" name="Sisällön paikkamerkki 2"/>
          <p:cNvSpPr>
            <a:spLocks noGrp="1"/>
          </p:cNvSpPr>
          <p:nvPr>
            <p:ph sz="quarter" idx="12"/>
          </p:nvPr>
        </p:nvSpPr>
        <p:spPr>
          <a:xfrm>
            <a:off x="791918" y="3123454"/>
            <a:ext cx="5248647" cy="2884487"/>
          </a:xfrm>
          <a:prstGeom prst="rect">
            <a:avLst/>
          </a:prstGeom>
        </p:spPr>
        <p:txBody>
          <a:bodyPr>
            <a:normAutofit/>
          </a:bodyPr>
          <a:lstStyle>
            <a:lvl1pPr>
              <a:defRPr sz="1600" b="0" i="0">
                <a:latin typeface="Arial"/>
                <a:ea typeface="TitilliumText22L Light" charset="0"/>
                <a:cs typeface="Arial"/>
              </a:defRPr>
            </a:lvl1pPr>
            <a:lvl2pPr>
              <a:defRPr sz="1600" b="0" i="0">
                <a:latin typeface="Arial"/>
                <a:ea typeface="TitilliumText22L Light" charset="0"/>
                <a:cs typeface="Arial"/>
              </a:defRPr>
            </a:lvl2pPr>
            <a:lvl3pPr>
              <a:defRPr sz="1600" b="0" i="0">
                <a:latin typeface="Arial"/>
                <a:ea typeface="TitilliumText22L Light" charset="0"/>
                <a:cs typeface="Arial"/>
              </a:defRPr>
            </a:lvl3pPr>
            <a:lvl4pPr>
              <a:defRPr sz="1600" b="0" i="0">
                <a:latin typeface="Arial"/>
                <a:ea typeface="TitilliumText22L Light" charset="0"/>
                <a:cs typeface="Arial"/>
              </a:defRPr>
            </a:lvl4pPr>
            <a:lvl5pPr>
              <a:defRPr sz="1600" b="0" i="0">
                <a:latin typeface="Arial"/>
                <a:ea typeface="TitilliumText22L Light" charset="0"/>
                <a:cs typeface="Arial"/>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fi-FI" dirty="0"/>
          </a:p>
        </p:txBody>
      </p:sp>
      <p:sp>
        <p:nvSpPr>
          <p:cNvPr id="5" name="TextBox 10">
            <a:extLst>
              <a:ext uri="{FF2B5EF4-FFF2-40B4-BE49-F238E27FC236}">
                <a16:creationId xmlns:a16="http://schemas.microsoft.com/office/drawing/2014/main" id="{AE6C7CC8-3097-4489-8F57-1AAB4DBE7496}"/>
              </a:ext>
            </a:extLst>
          </p:cNvPr>
          <p:cNvSpPr txBox="1"/>
          <p:nvPr userDrawn="1"/>
        </p:nvSpPr>
        <p:spPr>
          <a:xfrm>
            <a:off x="7270101" y="6475102"/>
            <a:ext cx="1585487"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latin typeface="TitilliumText22L Light"/>
                <a:cs typeface="TitilliumText22L Light"/>
              </a:rPr>
              <a:t>KEUDA</a:t>
            </a:r>
            <a:r>
              <a:rPr lang="en-US" sz="800" baseline="0" dirty="0"/>
              <a:t> </a:t>
            </a:r>
            <a:r>
              <a:rPr lang="fi-FI" sz="800" b="0" i="0" u="none" strike="noStrike" kern="1200" baseline="10000" dirty="0">
                <a:solidFill>
                  <a:schemeClr val="accent1"/>
                </a:solidFill>
                <a:latin typeface="+mn-lt"/>
                <a:ea typeface="+mn-ea"/>
                <a:cs typeface="+mn-cs"/>
              </a:rPr>
              <a:t>•</a:t>
            </a:r>
            <a:r>
              <a:rPr lang="fi-FI" sz="800" b="0" i="0" u="none" strike="noStrike" kern="1200" baseline="0" dirty="0">
                <a:solidFill>
                  <a:schemeClr val="accent3"/>
                </a:solidFill>
                <a:latin typeface="+mn-lt"/>
                <a:ea typeface="+mn-ea"/>
                <a:cs typeface="+mn-cs"/>
              </a:rPr>
              <a:t> </a:t>
            </a:r>
            <a:fld id="{682124FE-E830-FA47-9347-515BBA8263AC}" type="slidenum">
              <a:rPr lang="fi-FI" sz="800" b="0" i="0" u="none" strike="noStrike" kern="1200" baseline="0" smtClean="0">
                <a:solidFill>
                  <a:schemeClr val="tx1"/>
                </a:solidFill>
                <a:latin typeface="TitilliumText22L Light"/>
                <a:ea typeface="+mn-ea"/>
                <a:cs typeface="TitilliumText22L Light"/>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latin typeface="TitilliumText22L Light"/>
              <a:cs typeface="TitilliumText22L Light"/>
            </a:endParaRPr>
          </a:p>
        </p:txBody>
      </p:sp>
    </p:spTree>
    <p:extLst>
      <p:ext uri="{BB962C8B-B14F-4D97-AF65-F5344CB8AC3E}">
        <p14:creationId xmlns:p14="http://schemas.microsoft.com/office/powerpoint/2010/main" val="2832274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so kuva">
    <p:spTree>
      <p:nvGrpSpPr>
        <p:cNvPr id="1" name=""/>
        <p:cNvGrpSpPr/>
        <p:nvPr/>
      </p:nvGrpSpPr>
      <p:grpSpPr>
        <a:xfrm>
          <a:off x="0" y="0"/>
          <a:ext cx="0" cy="0"/>
          <a:chOff x="0" y="0"/>
          <a:chExt cx="0" cy="0"/>
        </a:xfrm>
      </p:grpSpPr>
      <p:sp>
        <p:nvSpPr>
          <p:cNvPr id="3" name="Kuvan paikkamerkki 2"/>
          <p:cNvSpPr>
            <a:spLocks noGrp="1" noChangeAspect="1"/>
          </p:cNvSpPr>
          <p:nvPr>
            <p:ph type="pic" sz="quarter" idx="11" hasCustomPrompt="1"/>
          </p:nvPr>
        </p:nvSpPr>
        <p:spPr>
          <a:xfrm>
            <a:off x="247135" y="2004607"/>
            <a:ext cx="6912000" cy="4214962"/>
          </a:xfrm>
          <a:prstGeom prst="rect">
            <a:avLst/>
          </a:prstGeom>
          <a:noFill/>
        </p:spPr>
        <p:txBody>
          <a:bodyPr anchor="t"/>
          <a:lstStyle>
            <a:lvl1pPr marL="0" indent="0" algn="ctr">
              <a:buNone/>
              <a:defRPr sz="1800" baseline="0">
                <a:latin typeface="Arial"/>
                <a:ea typeface="TitilliumText22L" charset="0"/>
                <a:cs typeface="Arial"/>
              </a:defRPr>
            </a:lvl1pPr>
          </a:lstStyle>
          <a:p>
            <a:r>
              <a:rPr lang="fi-FI" dirty="0"/>
              <a:t>Paikka kuvalle</a:t>
            </a:r>
          </a:p>
        </p:txBody>
      </p:sp>
      <p:sp>
        <p:nvSpPr>
          <p:cNvPr id="11" name="Sisällön paikkamerkki 2"/>
          <p:cNvSpPr>
            <a:spLocks noGrp="1"/>
          </p:cNvSpPr>
          <p:nvPr>
            <p:ph sz="quarter" idx="12"/>
          </p:nvPr>
        </p:nvSpPr>
        <p:spPr>
          <a:xfrm>
            <a:off x="7298724" y="4061254"/>
            <a:ext cx="1441622" cy="2158314"/>
          </a:xfrm>
          <a:prstGeom prst="rect">
            <a:avLst/>
          </a:prstGeom>
        </p:spPr>
        <p:txBody>
          <a:bodyPr anchor="b">
            <a:normAutofit/>
          </a:bodyPr>
          <a:lstStyle>
            <a:lvl1pPr marL="0" indent="0" algn="l">
              <a:buNone/>
              <a:defRPr sz="1600" b="0" i="0">
                <a:latin typeface="Arial"/>
                <a:ea typeface="TitilliumText22L Light" charset="0"/>
                <a:cs typeface="Arial"/>
              </a:defRPr>
            </a:lvl1pPr>
            <a:lvl2pPr>
              <a:defRPr sz="1600" b="0" i="0">
                <a:latin typeface="TitilliumText22L Light" charset="0"/>
                <a:ea typeface="TitilliumText22L Light" charset="0"/>
                <a:cs typeface="TitilliumText22L Light" charset="0"/>
              </a:defRPr>
            </a:lvl2pPr>
            <a:lvl3pPr>
              <a:defRPr sz="1600" b="0" i="0">
                <a:latin typeface="TitilliumText22L Light" charset="0"/>
                <a:ea typeface="TitilliumText22L Light" charset="0"/>
                <a:cs typeface="TitilliumText22L Light" charset="0"/>
              </a:defRPr>
            </a:lvl3pPr>
            <a:lvl4pPr>
              <a:defRPr sz="1600" b="0" i="0">
                <a:latin typeface="TitilliumText22L Light" charset="0"/>
                <a:ea typeface="TitilliumText22L Light" charset="0"/>
                <a:cs typeface="TitilliumText22L Light" charset="0"/>
              </a:defRPr>
            </a:lvl4pPr>
            <a:lvl5pPr>
              <a:defRPr sz="1600" b="0" i="0">
                <a:latin typeface="TitilliumText22L Light" charset="0"/>
                <a:ea typeface="TitilliumText22L Light" charset="0"/>
                <a:cs typeface="TitilliumText22L Light" charset="0"/>
              </a:defRPr>
            </a:lvl5pPr>
          </a:lstStyle>
          <a:p>
            <a:pPr lvl="0"/>
            <a:r>
              <a:rPr lang="fi-FI"/>
              <a:t>Muokkaa tekstin perustyylejä napsauttamalla</a:t>
            </a:r>
          </a:p>
        </p:txBody>
      </p:sp>
      <p:sp>
        <p:nvSpPr>
          <p:cNvPr id="13" name="Title 1"/>
          <p:cNvSpPr>
            <a:spLocks noGrp="1"/>
          </p:cNvSpPr>
          <p:nvPr>
            <p:ph type="title" hasCustomPrompt="1"/>
          </p:nvPr>
        </p:nvSpPr>
        <p:spPr>
          <a:xfrm>
            <a:off x="247135" y="463607"/>
            <a:ext cx="5761282" cy="1440392"/>
          </a:xfrm>
          <a:prstGeom prst="rect">
            <a:avLst/>
          </a:prstGeom>
        </p:spPr>
        <p:txBody>
          <a:bodyPr anchor="b">
            <a:normAutofit/>
          </a:bodyPr>
          <a:lstStyle>
            <a:lvl1pPr algn="l">
              <a:lnSpc>
                <a:spcPts val="3600"/>
              </a:lnSpc>
              <a:defRPr sz="3200" baseline="0">
                <a:latin typeface="Arial"/>
                <a:cs typeface="Arial"/>
              </a:defRPr>
            </a:lvl1pPr>
          </a:lstStyle>
          <a:p>
            <a:r>
              <a:rPr lang="fi-FI" dirty="0"/>
              <a:t>Kuvan otsikko </a:t>
            </a:r>
            <a:r>
              <a:rPr lang="fi-FI" dirty="0" err="1"/>
              <a:t>lorem</a:t>
            </a:r>
            <a:r>
              <a:rPr lang="fi-FI" dirty="0"/>
              <a:t> </a:t>
            </a:r>
            <a:r>
              <a:rPr lang="fi-FI" dirty="0" err="1"/>
              <a:t>ipsum</a:t>
            </a:r>
            <a:r>
              <a:rPr lang="fi-FI" dirty="0"/>
              <a:t> </a:t>
            </a:r>
            <a:r>
              <a:rPr lang="fi-FI" dirty="0" err="1"/>
              <a:t>Arial</a:t>
            </a:r>
            <a:r>
              <a:rPr lang="fi-FI" dirty="0"/>
              <a:t> 32/36</a:t>
            </a:r>
            <a:endParaRPr lang="en-US" dirty="0"/>
          </a:p>
        </p:txBody>
      </p:sp>
    </p:spTree>
    <p:extLst>
      <p:ext uri="{BB962C8B-B14F-4D97-AF65-F5344CB8AC3E}">
        <p14:creationId xmlns:p14="http://schemas.microsoft.com/office/powerpoint/2010/main" val="898033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uva ja sisältö">
    <p:spTree>
      <p:nvGrpSpPr>
        <p:cNvPr id="1" name=""/>
        <p:cNvGrpSpPr/>
        <p:nvPr/>
      </p:nvGrpSpPr>
      <p:grpSpPr>
        <a:xfrm>
          <a:off x="0" y="0"/>
          <a:ext cx="0" cy="0"/>
          <a:chOff x="0" y="0"/>
          <a:chExt cx="0" cy="0"/>
        </a:xfrm>
      </p:grpSpPr>
      <p:sp>
        <p:nvSpPr>
          <p:cNvPr id="24" name="Title 1"/>
          <p:cNvSpPr>
            <a:spLocks noGrp="1"/>
          </p:cNvSpPr>
          <p:nvPr>
            <p:ph type="title" hasCustomPrompt="1"/>
          </p:nvPr>
        </p:nvSpPr>
        <p:spPr>
          <a:xfrm>
            <a:off x="4283676" y="947206"/>
            <a:ext cx="4473147" cy="1597771"/>
          </a:xfrm>
          <a:prstGeom prst="rect">
            <a:avLst/>
          </a:prstGeom>
        </p:spPr>
        <p:txBody>
          <a:bodyPr anchor="b">
            <a:normAutofit/>
          </a:bodyPr>
          <a:lstStyle>
            <a:lvl1pPr algn="l">
              <a:lnSpc>
                <a:spcPts val="3600"/>
              </a:lnSpc>
              <a:defRPr sz="3200" baseline="0">
                <a:latin typeface="Arial"/>
                <a:cs typeface="Arial"/>
              </a:defRPr>
            </a:lvl1pPr>
          </a:lstStyle>
          <a:p>
            <a:r>
              <a:rPr lang="fi-FI" dirty="0"/>
              <a:t>Otsikko </a:t>
            </a:r>
            <a:r>
              <a:rPr lang="fi-FI" dirty="0" err="1"/>
              <a:t>lorem</a:t>
            </a:r>
            <a:r>
              <a:rPr lang="fi-FI" dirty="0"/>
              <a:t> </a:t>
            </a:r>
            <a:r>
              <a:rPr lang="fi-FI" dirty="0" err="1"/>
              <a:t>ipsum</a:t>
            </a:r>
            <a:r>
              <a:rPr lang="fi-FI" dirty="0"/>
              <a:t> </a:t>
            </a:r>
            <a:r>
              <a:rPr lang="fi-FI" dirty="0" err="1"/>
              <a:t>Arial</a:t>
            </a:r>
            <a:r>
              <a:rPr lang="fi-FI" dirty="0"/>
              <a:t> 32/36</a:t>
            </a:r>
            <a:endParaRPr lang="en-US" dirty="0"/>
          </a:p>
        </p:txBody>
      </p:sp>
      <p:sp>
        <p:nvSpPr>
          <p:cNvPr id="9" name="Sisällön paikkamerkki 2"/>
          <p:cNvSpPr>
            <a:spLocks noGrp="1"/>
          </p:cNvSpPr>
          <p:nvPr>
            <p:ph sz="quarter" idx="12"/>
          </p:nvPr>
        </p:nvSpPr>
        <p:spPr>
          <a:xfrm>
            <a:off x="4283675" y="2709949"/>
            <a:ext cx="4473147" cy="3559046"/>
          </a:xfrm>
          <a:prstGeom prst="rect">
            <a:avLst/>
          </a:prstGeom>
        </p:spPr>
        <p:txBody>
          <a:bodyPr>
            <a:normAutofit/>
          </a:bodyPr>
          <a:lstStyle>
            <a:lvl1pPr>
              <a:defRPr sz="1600" b="0" i="0">
                <a:latin typeface="Arial"/>
                <a:ea typeface="TitilliumText22L Light" charset="0"/>
                <a:cs typeface="Arial"/>
              </a:defRPr>
            </a:lvl1pPr>
            <a:lvl2pPr>
              <a:defRPr sz="1600" b="0" i="0">
                <a:latin typeface="Arial"/>
                <a:ea typeface="TitilliumText22L Light" charset="0"/>
                <a:cs typeface="Arial"/>
              </a:defRPr>
            </a:lvl2pPr>
            <a:lvl3pPr>
              <a:defRPr sz="1600" b="0" i="0">
                <a:latin typeface="Arial"/>
                <a:ea typeface="TitilliumText22L Light" charset="0"/>
                <a:cs typeface="Arial"/>
              </a:defRPr>
            </a:lvl3pPr>
            <a:lvl4pPr>
              <a:defRPr sz="1600" b="0" i="0">
                <a:latin typeface="Arial"/>
                <a:ea typeface="TitilliumText22L Light" charset="0"/>
                <a:cs typeface="Arial"/>
              </a:defRPr>
            </a:lvl4pPr>
            <a:lvl5pPr>
              <a:defRPr sz="1600" b="0" i="0">
                <a:latin typeface="Arial"/>
                <a:ea typeface="TitilliumText22L Light" charset="0"/>
                <a:cs typeface="Arial"/>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fi-FI" dirty="0"/>
          </a:p>
        </p:txBody>
      </p:sp>
      <p:sp>
        <p:nvSpPr>
          <p:cNvPr id="10" name="Kuvan paikkamerkki 2"/>
          <p:cNvSpPr>
            <a:spLocks noGrp="1"/>
          </p:cNvSpPr>
          <p:nvPr>
            <p:ph type="pic" sz="quarter" idx="11" hasCustomPrompt="1"/>
          </p:nvPr>
        </p:nvSpPr>
        <p:spPr>
          <a:xfrm>
            <a:off x="247135" y="943236"/>
            <a:ext cx="3781167" cy="5325760"/>
          </a:xfrm>
          <a:prstGeom prst="rect">
            <a:avLst/>
          </a:prstGeom>
          <a:solidFill>
            <a:schemeClr val="bg1"/>
          </a:solidFill>
        </p:spPr>
        <p:txBody>
          <a:bodyPr anchor="t"/>
          <a:lstStyle>
            <a:lvl1pPr marL="0" indent="0" algn="ctr">
              <a:buNone/>
              <a:defRPr sz="1800" baseline="0">
                <a:latin typeface="Arial"/>
                <a:ea typeface="TitilliumText22L" charset="0"/>
                <a:cs typeface="Arial"/>
              </a:defRPr>
            </a:lvl1pPr>
          </a:lstStyle>
          <a:p>
            <a:r>
              <a:rPr lang="fi-FI" dirty="0"/>
              <a:t>Paikka kuvalle</a:t>
            </a:r>
          </a:p>
        </p:txBody>
      </p:sp>
    </p:spTree>
    <p:extLst>
      <p:ext uri="{BB962C8B-B14F-4D97-AF65-F5344CB8AC3E}">
        <p14:creationId xmlns:p14="http://schemas.microsoft.com/office/powerpoint/2010/main" val="777177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uva + sisältö - ykkösvalinta">
    <p:spTree>
      <p:nvGrpSpPr>
        <p:cNvPr id="1" name=""/>
        <p:cNvGrpSpPr/>
        <p:nvPr/>
      </p:nvGrpSpPr>
      <p:grpSpPr>
        <a:xfrm>
          <a:off x="0" y="0"/>
          <a:ext cx="0" cy="0"/>
          <a:chOff x="0" y="0"/>
          <a:chExt cx="0" cy="0"/>
        </a:xfrm>
      </p:grpSpPr>
      <p:pic>
        <p:nvPicPr>
          <p:cNvPr id="3" name="Kuva 2">
            <a:extLst>
              <a:ext uri="{FF2B5EF4-FFF2-40B4-BE49-F238E27FC236}">
                <a16:creationId xmlns:a16="http://schemas.microsoft.com/office/drawing/2014/main" id="{483DE276-B9F3-49A3-A012-F8B91BA51C04}"/>
              </a:ext>
            </a:extLst>
          </p:cNvPr>
          <p:cNvPicPr>
            <a:picLocks noChangeAspect="1"/>
          </p:cNvPicPr>
          <p:nvPr userDrawn="1"/>
        </p:nvPicPr>
        <p:blipFill>
          <a:blip r:embed="rId2"/>
          <a:stretch>
            <a:fillRect/>
          </a:stretch>
        </p:blipFill>
        <p:spPr>
          <a:xfrm>
            <a:off x="0" y="0"/>
            <a:ext cx="9144000" cy="6857999"/>
          </a:xfrm>
          <a:prstGeom prst="rect">
            <a:avLst/>
          </a:prstGeom>
        </p:spPr>
      </p:pic>
      <p:sp>
        <p:nvSpPr>
          <p:cNvPr id="5" name="Sisällön paikkamerkki 2">
            <a:extLst>
              <a:ext uri="{FF2B5EF4-FFF2-40B4-BE49-F238E27FC236}">
                <a16:creationId xmlns:a16="http://schemas.microsoft.com/office/drawing/2014/main" id="{DC2E2FDC-F3B3-41CF-AB6A-48494A762CAE}"/>
              </a:ext>
            </a:extLst>
          </p:cNvPr>
          <p:cNvSpPr>
            <a:spLocks noGrp="1"/>
          </p:cNvSpPr>
          <p:nvPr>
            <p:ph sz="quarter" idx="12"/>
          </p:nvPr>
        </p:nvSpPr>
        <p:spPr>
          <a:xfrm>
            <a:off x="4275437" y="951548"/>
            <a:ext cx="4473147" cy="3570575"/>
          </a:xfrm>
          <a:prstGeom prst="rect">
            <a:avLst/>
          </a:prstGeom>
        </p:spPr>
        <p:txBody>
          <a:bodyPr>
            <a:normAutofit/>
          </a:bodyPr>
          <a:lstStyle>
            <a:lvl1pPr>
              <a:defRPr sz="1600" b="0" i="0">
                <a:latin typeface="Arial"/>
                <a:ea typeface="TitilliumText22L Light" charset="0"/>
                <a:cs typeface="Arial"/>
              </a:defRPr>
            </a:lvl1pPr>
            <a:lvl2pPr>
              <a:defRPr sz="1600" b="0" i="0">
                <a:latin typeface="Arial"/>
                <a:ea typeface="TitilliumText22L Light" charset="0"/>
                <a:cs typeface="Arial"/>
              </a:defRPr>
            </a:lvl2pPr>
            <a:lvl3pPr>
              <a:defRPr sz="1600" b="0" i="0">
                <a:latin typeface="Arial"/>
                <a:ea typeface="TitilliumText22L Light" charset="0"/>
                <a:cs typeface="Arial"/>
              </a:defRPr>
            </a:lvl3pPr>
            <a:lvl4pPr>
              <a:defRPr sz="1600" b="0" i="0">
                <a:latin typeface="Arial"/>
                <a:ea typeface="TitilliumText22L Light" charset="0"/>
                <a:cs typeface="Arial"/>
              </a:defRPr>
            </a:lvl4pPr>
            <a:lvl5pPr>
              <a:defRPr sz="1600" b="0" i="0">
                <a:latin typeface="Arial"/>
                <a:ea typeface="TitilliumText22L Light" charset="0"/>
                <a:cs typeface="Arial"/>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fi-FI" dirty="0"/>
          </a:p>
        </p:txBody>
      </p:sp>
      <p:sp>
        <p:nvSpPr>
          <p:cNvPr id="6" name="Kuvan paikkamerkki 2">
            <a:extLst>
              <a:ext uri="{FF2B5EF4-FFF2-40B4-BE49-F238E27FC236}">
                <a16:creationId xmlns:a16="http://schemas.microsoft.com/office/drawing/2014/main" id="{E8D99E9B-A051-45B4-883C-FC52D255B8C1}"/>
              </a:ext>
            </a:extLst>
          </p:cNvPr>
          <p:cNvSpPr>
            <a:spLocks noGrp="1"/>
          </p:cNvSpPr>
          <p:nvPr>
            <p:ph type="pic" sz="quarter" idx="11" hasCustomPrompt="1"/>
          </p:nvPr>
        </p:nvSpPr>
        <p:spPr>
          <a:xfrm>
            <a:off x="247135" y="943236"/>
            <a:ext cx="3781167" cy="5325760"/>
          </a:xfrm>
          <a:prstGeom prst="rect">
            <a:avLst/>
          </a:prstGeom>
          <a:solidFill>
            <a:schemeClr val="bg1"/>
          </a:solidFill>
        </p:spPr>
        <p:txBody>
          <a:bodyPr anchor="t"/>
          <a:lstStyle>
            <a:lvl1pPr marL="0" indent="0" algn="ctr">
              <a:buNone/>
              <a:defRPr sz="1800" baseline="0">
                <a:latin typeface="Arial"/>
                <a:ea typeface="TitilliumText22L" charset="0"/>
                <a:cs typeface="Arial"/>
              </a:defRPr>
            </a:lvl1pPr>
          </a:lstStyle>
          <a:p>
            <a:r>
              <a:rPr lang="fi-FI" dirty="0"/>
              <a:t>Paikka kuvalle</a:t>
            </a:r>
          </a:p>
        </p:txBody>
      </p:sp>
      <p:sp>
        <p:nvSpPr>
          <p:cNvPr id="7" name="TextBox 10">
            <a:extLst>
              <a:ext uri="{FF2B5EF4-FFF2-40B4-BE49-F238E27FC236}">
                <a16:creationId xmlns:a16="http://schemas.microsoft.com/office/drawing/2014/main" id="{81555D7A-CF63-4EF4-9AB9-418A106F04E9}"/>
              </a:ext>
            </a:extLst>
          </p:cNvPr>
          <p:cNvSpPr txBox="1"/>
          <p:nvPr userDrawn="1"/>
        </p:nvSpPr>
        <p:spPr>
          <a:xfrm>
            <a:off x="7270101" y="6475102"/>
            <a:ext cx="1585487"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latin typeface="TitilliumText22L Light"/>
                <a:cs typeface="TitilliumText22L Light"/>
              </a:rPr>
              <a:t>KEUDA</a:t>
            </a:r>
            <a:r>
              <a:rPr lang="en-US" sz="800" baseline="0" dirty="0"/>
              <a:t> </a:t>
            </a:r>
            <a:r>
              <a:rPr lang="fi-FI" sz="800" b="0" i="0" u="none" strike="noStrike" kern="1200" baseline="10000" dirty="0">
                <a:solidFill>
                  <a:schemeClr val="accent1"/>
                </a:solidFill>
                <a:latin typeface="+mn-lt"/>
                <a:ea typeface="+mn-ea"/>
                <a:cs typeface="+mn-cs"/>
              </a:rPr>
              <a:t>•</a:t>
            </a:r>
            <a:r>
              <a:rPr lang="fi-FI" sz="800" b="0" i="0" u="none" strike="noStrike" kern="1200" baseline="0" dirty="0">
                <a:solidFill>
                  <a:schemeClr val="accent3"/>
                </a:solidFill>
                <a:latin typeface="+mn-lt"/>
                <a:ea typeface="+mn-ea"/>
                <a:cs typeface="+mn-cs"/>
              </a:rPr>
              <a:t> </a:t>
            </a:r>
            <a:fld id="{682124FE-E830-FA47-9347-515BBA8263AC}" type="slidenum">
              <a:rPr lang="fi-FI" sz="800" b="0" i="0" u="none" strike="noStrike" kern="1200" baseline="0" smtClean="0">
                <a:solidFill>
                  <a:schemeClr val="tx1"/>
                </a:solidFill>
                <a:latin typeface="TitilliumText22L Light"/>
                <a:ea typeface="+mn-ea"/>
                <a:cs typeface="TitilliumText22L Light"/>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latin typeface="TitilliumText22L Light"/>
              <a:cs typeface="TitilliumText22L Light"/>
            </a:endParaRPr>
          </a:p>
        </p:txBody>
      </p:sp>
    </p:spTree>
    <p:extLst>
      <p:ext uri="{BB962C8B-B14F-4D97-AF65-F5344CB8AC3E}">
        <p14:creationId xmlns:p14="http://schemas.microsoft.com/office/powerpoint/2010/main" val="4054878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Yhteystiedot - ykkösvalinta">
    <p:spTree>
      <p:nvGrpSpPr>
        <p:cNvPr id="1" name=""/>
        <p:cNvGrpSpPr/>
        <p:nvPr/>
      </p:nvGrpSpPr>
      <p:grpSpPr>
        <a:xfrm>
          <a:off x="0" y="0"/>
          <a:ext cx="0" cy="0"/>
          <a:chOff x="0" y="0"/>
          <a:chExt cx="0" cy="0"/>
        </a:xfrm>
      </p:grpSpPr>
      <p:pic>
        <p:nvPicPr>
          <p:cNvPr id="3" name="Kuva 2">
            <a:extLst>
              <a:ext uri="{FF2B5EF4-FFF2-40B4-BE49-F238E27FC236}">
                <a16:creationId xmlns:a16="http://schemas.microsoft.com/office/drawing/2014/main" id="{483DE276-B9F3-49A3-A012-F8B91BA51C04}"/>
              </a:ext>
            </a:extLst>
          </p:cNvPr>
          <p:cNvPicPr>
            <a:picLocks noChangeAspect="1"/>
          </p:cNvPicPr>
          <p:nvPr userDrawn="1"/>
        </p:nvPicPr>
        <p:blipFill>
          <a:blip r:embed="rId2"/>
          <a:stretch>
            <a:fillRect/>
          </a:stretch>
        </p:blipFill>
        <p:spPr>
          <a:xfrm>
            <a:off x="0" y="0"/>
            <a:ext cx="9144000" cy="6857999"/>
          </a:xfrm>
          <a:prstGeom prst="rect">
            <a:avLst/>
          </a:prstGeom>
        </p:spPr>
      </p:pic>
      <p:sp>
        <p:nvSpPr>
          <p:cNvPr id="8" name="Tekstiruutu 7">
            <a:extLst>
              <a:ext uri="{FF2B5EF4-FFF2-40B4-BE49-F238E27FC236}">
                <a16:creationId xmlns:a16="http://schemas.microsoft.com/office/drawing/2014/main" id="{BF8A0455-F601-4BA2-A012-9207EB26FC2C}"/>
              </a:ext>
            </a:extLst>
          </p:cNvPr>
          <p:cNvSpPr txBox="1"/>
          <p:nvPr userDrawn="1"/>
        </p:nvSpPr>
        <p:spPr>
          <a:xfrm>
            <a:off x="640080" y="1151452"/>
            <a:ext cx="5777346" cy="4555093"/>
          </a:xfrm>
          <a:prstGeom prst="rect">
            <a:avLst/>
          </a:prstGeom>
          <a:noFill/>
        </p:spPr>
        <p:txBody>
          <a:bodyPr wrap="square" rtlCol="0">
            <a:spAutoFit/>
          </a:bodyPr>
          <a:lstStyle/>
          <a:p>
            <a:pPr rtl="0"/>
            <a:r>
              <a:rPr lang="fi-FI" sz="2400" b="1" i="0" u="none" strike="noStrike" kern="1200" baseline="30000" dirty="0">
                <a:solidFill>
                  <a:schemeClr val="tx1"/>
                </a:solidFill>
                <a:latin typeface="Arial" panose="020B0604020202020204" pitchFamily="34" charset="0"/>
                <a:ea typeface="+mn-ea"/>
                <a:cs typeface="Arial" panose="020B0604020202020204" pitchFamily="34" charset="0"/>
              </a:rPr>
              <a:t>Kysyttävää hakemisesta?</a:t>
            </a:r>
            <a:endParaRPr lang="fi-FI" sz="2400" b="0"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r>
              <a:rPr lang="fi-FI" sz="1600" b="1" i="0" u="none" strike="noStrike" kern="1200" baseline="30000" dirty="0">
                <a:solidFill>
                  <a:schemeClr val="tx1"/>
                </a:solidFill>
                <a:latin typeface="Arial" panose="020B0604020202020204" pitchFamily="34" charset="0"/>
                <a:ea typeface="+mn-ea"/>
                <a:cs typeface="Arial" panose="020B0604020202020204" pitchFamily="34" charset="0"/>
              </a:rPr>
              <a:t>Ota yhteyttä Hakupalveluihin</a:t>
            </a:r>
            <a:r>
              <a:rPr lang="fi-FI" sz="1600" b="0" i="0" u="none" strike="noStrike" kern="1200" baseline="30000" dirty="0">
                <a:solidFill>
                  <a:schemeClr val="tx1"/>
                </a:solidFill>
                <a:latin typeface="Arial" panose="020B0604020202020204" pitchFamily="34" charset="0"/>
                <a:ea typeface="+mn-ea"/>
                <a:cs typeface="Arial" panose="020B0604020202020204" pitchFamily="34" charset="0"/>
              </a:rPr>
              <a:t> </a:t>
            </a:r>
          </a:p>
          <a:p>
            <a:pPr rtl="0"/>
            <a:r>
              <a:rPr lang="fi-FI" sz="1600" b="0" i="0" u="none" strike="noStrike" kern="1200" baseline="30000" dirty="0">
                <a:solidFill>
                  <a:schemeClr val="tx1"/>
                </a:solidFill>
                <a:latin typeface="Arial" panose="020B0604020202020204" pitchFamily="34" charset="0"/>
                <a:ea typeface="+mn-ea"/>
                <a:cs typeface="Arial" panose="020B0604020202020204" pitchFamily="34" charset="0"/>
              </a:rPr>
              <a:t>040 174 5579, </a:t>
            </a:r>
            <a:br>
              <a:rPr lang="fi-FI" sz="1600" b="0" i="0" u="none" strike="noStrike" kern="1200" baseline="30000" dirty="0">
                <a:solidFill>
                  <a:schemeClr val="tx1"/>
                </a:solidFill>
                <a:latin typeface="Arial" panose="020B0604020202020204" pitchFamily="34" charset="0"/>
                <a:ea typeface="+mn-ea"/>
                <a:cs typeface="Arial" panose="020B0604020202020204" pitchFamily="34" charset="0"/>
              </a:rPr>
            </a:br>
            <a:r>
              <a:rPr lang="fi-FI" sz="1600" b="0" i="0" u="none" strike="noStrike" kern="1200" baseline="30000" dirty="0">
                <a:solidFill>
                  <a:schemeClr val="tx1"/>
                </a:solidFill>
                <a:latin typeface="Arial" panose="020B0604020202020204" pitchFamily="34" charset="0"/>
                <a:ea typeface="+mn-ea"/>
                <a:cs typeface="Arial" panose="020B0604020202020204" pitchFamily="34" charset="0"/>
              </a:rPr>
              <a:t>hakupalvelut@keuda.fi</a:t>
            </a:r>
          </a:p>
          <a:p>
            <a:pPr rtl="0"/>
            <a:r>
              <a:rPr lang="fi-FI" sz="1600" b="0" i="0" u="none" strike="noStrike" kern="1200" baseline="30000" dirty="0">
                <a:solidFill>
                  <a:schemeClr val="tx1"/>
                </a:solidFill>
                <a:latin typeface="Arial" panose="020B0604020202020204" pitchFamily="34" charset="0"/>
                <a:ea typeface="+mn-ea"/>
                <a:cs typeface="Arial" panose="020B0604020202020204" pitchFamily="34" charset="0"/>
              </a:rPr>
              <a:t>Palvelemme myös chatissä keuda.fi.</a:t>
            </a:r>
          </a:p>
          <a:p>
            <a:pPr rtl="0"/>
            <a:endParaRPr lang="fi-FI" sz="1800" b="1"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r>
              <a:rPr lang="fi-FI" sz="2400" b="1" i="0" u="none" strike="noStrike" kern="1200" baseline="30000" dirty="0">
                <a:solidFill>
                  <a:schemeClr val="tx1"/>
                </a:solidFill>
                <a:latin typeface="Arial" panose="020B0604020202020204" pitchFamily="34" charset="0"/>
                <a:ea typeface="+mn-ea"/>
                <a:cs typeface="Arial" panose="020B0604020202020204" pitchFamily="34" charset="0"/>
              </a:rPr>
              <a:t>Kiinnostaako oppisopimuskoulutus?</a:t>
            </a:r>
            <a:endParaRPr lang="fi-FI" sz="2400" b="0"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r>
              <a:rPr lang="fi-FI" sz="1600" b="1" i="0" u="none" strike="noStrike" kern="1200" baseline="30000" dirty="0">
                <a:solidFill>
                  <a:schemeClr val="tx1"/>
                </a:solidFill>
                <a:latin typeface="Arial" panose="020B0604020202020204" pitchFamily="34" charset="0"/>
                <a:ea typeface="+mn-ea"/>
                <a:cs typeface="Arial" panose="020B0604020202020204" pitchFamily="34" charset="0"/>
              </a:rPr>
              <a:t>Ota yhteyttä Työelämäpalveluihin</a:t>
            </a:r>
            <a:r>
              <a:rPr lang="fi-FI" sz="1600" b="0" i="0" u="none" strike="noStrike" kern="1200" baseline="30000" dirty="0">
                <a:solidFill>
                  <a:schemeClr val="tx1"/>
                </a:solidFill>
                <a:latin typeface="Arial" panose="020B0604020202020204" pitchFamily="34" charset="0"/>
                <a:ea typeface="+mn-ea"/>
                <a:cs typeface="Arial" panose="020B0604020202020204" pitchFamily="34" charset="0"/>
              </a:rPr>
              <a:t> </a:t>
            </a:r>
          </a:p>
          <a:p>
            <a:pPr rtl="0"/>
            <a:r>
              <a:rPr lang="fi-FI" sz="1600" b="0" i="0" u="none" strike="noStrike" kern="1200" baseline="30000" dirty="0">
                <a:solidFill>
                  <a:schemeClr val="tx1"/>
                </a:solidFill>
                <a:latin typeface="Arial" panose="020B0604020202020204" pitchFamily="34" charset="0"/>
                <a:ea typeface="+mn-ea"/>
                <a:cs typeface="Arial" panose="020B0604020202020204" pitchFamily="34" charset="0"/>
              </a:rPr>
              <a:t>040 174 5627, </a:t>
            </a:r>
            <a:br>
              <a:rPr lang="fi-FI" sz="1600" b="0" i="0" u="none" strike="noStrike" kern="1200" baseline="30000" dirty="0">
                <a:solidFill>
                  <a:schemeClr val="tx1"/>
                </a:solidFill>
                <a:latin typeface="Arial" panose="020B0604020202020204" pitchFamily="34" charset="0"/>
                <a:ea typeface="+mn-ea"/>
                <a:cs typeface="Arial" panose="020B0604020202020204" pitchFamily="34" charset="0"/>
              </a:rPr>
            </a:br>
            <a:r>
              <a:rPr lang="fi-FI" sz="1600" b="0" i="0" u="none" strike="noStrike" kern="1200" baseline="30000" dirty="0">
                <a:solidFill>
                  <a:schemeClr val="tx1"/>
                </a:solidFill>
                <a:latin typeface="Arial" panose="020B0604020202020204" pitchFamily="34" charset="0"/>
                <a:ea typeface="+mn-ea"/>
                <a:cs typeface="Arial" panose="020B0604020202020204" pitchFamily="34" charset="0"/>
              </a:rPr>
              <a:t>tyoelamapalvelut@keuda.fi</a:t>
            </a:r>
          </a:p>
          <a:p>
            <a:pPr rtl="0"/>
            <a:endParaRPr lang="fi-FI" sz="1800" b="0"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r>
              <a:rPr lang="fi-FI" sz="2400" b="1" i="0" u="none" strike="noStrike" kern="1200" baseline="30000" dirty="0" err="1">
                <a:solidFill>
                  <a:schemeClr val="tx1"/>
                </a:solidFill>
                <a:latin typeface="Arial" panose="020B0604020202020204" pitchFamily="34" charset="0"/>
                <a:ea typeface="+mn-ea"/>
                <a:cs typeface="Arial" panose="020B0604020202020204" pitchFamily="34" charset="0"/>
              </a:rPr>
              <a:t>Keudan</a:t>
            </a:r>
            <a:r>
              <a:rPr lang="fi-FI" sz="2400" b="1" i="0" u="none" strike="noStrike" kern="1200" baseline="30000" dirty="0">
                <a:solidFill>
                  <a:schemeClr val="tx1"/>
                </a:solidFill>
                <a:latin typeface="Arial" panose="020B0604020202020204" pitchFamily="34" charset="0"/>
                <a:ea typeface="+mn-ea"/>
                <a:cs typeface="Arial" panose="020B0604020202020204" pitchFamily="34" charset="0"/>
              </a:rPr>
              <a:t> koulutusten yleisinfot</a:t>
            </a:r>
            <a:endParaRPr lang="fi-FI" sz="2400" b="0"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Parittomien viikkojen keskiviikkona klo 14 – 16 </a:t>
            </a:r>
            <a:b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br>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osoitteessa Keskikatu 3A, Kerava.</a:t>
            </a:r>
            <a:endParaRPr lang="fi-FI" sz="1800" b="1"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endParaRPr lang="fi-FI" sz="1800" b="1"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r>
              <a:rPr lang="fi-FI" sz="2400" b="1" i="0" u="none" strike="noStrike" kern="1200" baseline="30000" dirty="0" err="1">
                <a:solidFill>
                  <a:schemeClr val="tx1"/>
                </a:solidFill>
                <a:latin typeface="Arial" panose="020B0604020202020204" pitchFamily="34" charset="0"/>
                <a:ea typeface="+mn-ea"/>
                <a:cs typeface="Arial" panose="020B0604020202020204" pitchFamily="34" charset="0"/>
              </a:rPr>
              <a:t>Keudaan</a:t>
            </a:r>
            <a:r>
              <a:rPr lang="fi-FI" sz="2400" b="1" i="0" u="none" strike="noStrike" kern="1200" baseline="30000" dirty="0">
                <a:solidFill>
                  <a:schemeClr val="tx1"/>
                </a:solidFill>
                <a:latin typeface="Arial" panose="020B0604020202020204" pitchFamily="34" charset="0"/>
                <a:ea typeface="+mn-ea"/>
                <a:cs typeface="Arial" panose="020B0604020202020204" pitchFamily="34" charset="0"/>
              </a:rPr>
              <a:t> tutustumaan? </a:t>
            </a: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Katso päivittyvä lista avoimista ovista, infoista ja </a:t>
            </a:r>
            <a:b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br>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muista tapahtumista osoitteessa </a:t>
            </a:r>
            <a:r>
              <a:rPr lang="fi-FI" sz="1800" b="1" i="0" u="none" strike="noStrike" kern="1200" baseline="30000" dirty="0">
                <a:solidFill>
                  <a:schemeClr val="tx1"/>
                </a:solidFill>
                <a:latin typeface="Arial" panose="020B0604020202020204" pitchFamily="34" charset="0"/>
                <a:ea typeface="+mn-ea"/>
                <a:cs typeface="Arial" panose="020B0604020202020204" pitchFamily="34" charset="0"/>
              </a:rPr>
              <a:t>keuda.fi/infot</a:t>
            </a:r>
          </a:p>
          <a:p>
            <a:pPr rtl="0"/>
            <a:endParaRPr lang="fi-FI" sz="1800" b="1"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endParaRPr lang="fi-FI" sz="1800" b="1"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#ykkösvalinta  </a:t>
            </a: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www.keuda.fi</a:t>
            </a:r>
          </a:p>
          <a:p>
            <a:endParaRPr lang="fi-FI" dirty="0">
              <a:latin typeface="Arial" panose="020B0604020202020204" pitchFamily="34" charset="0"/>
              <a:cs typeface="Arial" panose="020B0604020202020204" pitchFamily="34" charset="0"/>
            </a:endParaRPr>
          </a:p>
        </p:txBody>
      </p:sp>
      <p:sp>
        <p:nvSpPr>
          <p:cNvPr id="4" name="TextBox 10">
            <a:extLst>
              <a:ext uri="{FF2B5EF4-FFF2-40B4-BE49-F238E27FC236}">
                <a16:creationId xmlns:a16="http://schemas.microsoft.com/office/drawing/2014/main" id="{886727D7-5BF9-4FEE-AD3B-148F54785AC3}"/>
              </a:ext>
            </a:extLst>
          </p:cNvPr>
          <p:cNvSpPr txBox="1"/>
          <p:nvPr userDrawn="1"/>
        </p:nvSpPr>
        <p:spPr>
          <a:xfrm>
            <a:off x="7270101" y="6475102"/>
            <a:ext cx="1585487"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latin typeface="TitilliumText22L Light"/>
                <a:cs typeface="TitilliumText22L Light"/>
              </a:rPr>
              <a:t>KEUDA</a:t>
            </a:r>
            <a:r>
              <a:rPr lang="en-US" sz="800" baseline="0" dirty="0"/>
              <a:t> </a:t>
            </a:r>
            <a:r>
              <a:rPr lang="fi-FI" sz="800" b="0" i="0" u="none" strike="noStrike" kern="1200" baseline="10000" dirty="0">
                <a:solidFill>
                  <a:schemeClr val="accent1"/>
                </a:solidFill>
                <a:latin typeface="+mn-lt"/>
                <a:ea typeface="+mn-ea"/>
                <a:cs typeface="+mn-cs"/>
              </a:rPr>
              <a:t>•</a:t>
            </a:r>
            <a:r>
              <a:rPr lang="fi-FI" sz="800" b="0" i="0" u="none" strike="noStrike" kern="1200" baseline="0" dirty="0">
                <a:solidFill>
                  <a:schemeClr val="accent3"/>
                </a:solidFill>
                <a:latin typeface="+mn-lt"/>
                <a:ea typeface="+mn-ea"/>
                <a:cs typeface="+mn-cs"/>
              </a:rPr>
              <a:t> </a:t>
            </a:r>
            <a:fld id="{682124FE-E830-FA47-9347-515BBA8263AC}" type="slidenum">
              <a:rPr lang="fi-FI" sz="800" b="0" i="0" u="none" strike="noStrike" kern="1200" baseline="0" smtClean="0">
                <a:solidFill>
                  <a:schemeClr val="tx1"/>
                </a:solidFill>
                <a:latin typeface="TitilliumText22L Light"/>
                <a:ea typeface="+mn-ea"/>
                <a:cs typeface="TitilliumText22L Light"/>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latin typeface="TitilliumText22L Light"/>
              <a:cs typeface="TitilliumText22L Light"/>
            </a:endParaRPr>
          </a:p>
        </p:txBody>
      </p:sp>
    </p:spTree>
    <p:extLst>
      <p:ext uri="{BB962C8B-B14F-4D97-AF65-F5344CB8AC3E}">
        <p14:creationId xmlns:p14="http://schemas.microsoft.com/office/powerpoint/2010/main" val="3890448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Karttadia">
    <p:spTree>
      <p:nvGrpSpPr>
        <p:cNvPr id="1" name=""/>
        <p:cNvGrpSpPr/>
        <p:nvPr/>
      </p:nvGrpSpPr>
      <p:grpSpPr>
        <a:xfrm>
          <a:off x="0" y="0"/>
          <a:ext cx="0" cy="0"/>
          <a:chOff x="0" y="0"/>
          <a:chExt cx="0" cy="0"/>
        </a:xfrm>
      </p:grpSpPr>
      <p:pic>
        <p:nvPicPr>
          <p:cNvPr id="3" name="Kuva 2">
            <a:extLst>
              <a:ext uri="{FF2B5EF4-FFF2-40B4-BE49-F238E27FC236}">
                <a16:creationId xmlns:a16="http://schemas.microsoft.com/office/drawing/2014/main" id="{8AB97C95-E635-4200-B163-54DAC764B739}"/>
              </a:ext>
            </a:extLst>
          </p:cNvPr>
          <p:cNvPicPr>
            <a:picLocks noChangeAspect="1"/>
          </p:cNvPicPr>
          <p:nvPr userDrawn="1"/>
        </p:nvPicPr>
        <p:blipFill>
          <a:blip r:embed="rId2"/>
          <a:stretch>
            <a:fillRect/>
          </a:stretch>
        </p:blipFill>
        <p:spPr>
          <a:xfrm>
            <a:off x="0" y="0"/>
            <a:ext cx="9144000" cy="6857999"/>
          </a:xfrm>
          <a:prstGeom prst="rect">
            <a:avLst/>
          </a:prstGeom>
        </p:spPr>
      </p:pic>
      <p:pic>
        <p:nvPicPr>
          <p:cNvPr id="4" name="Kuva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200663" y="996490"/>
            <a:ext cx="4072478" cy="5609394"/>
          </a:xfrm>
          <a:prstGeom prst="rect">
            <a:avLst/>
          </a:prstGeom>
        </p:spPr>
      </p:pic>
      <p:sp>
        <p:nvSpPr>
          <p:cNvPr id="6" name="Tekstiruutu 5">
            <a:extLst>
              <a:ext uri="{FF2B5EF4-FFF2-40B4-BE49-F238E27FC236}">
                <a16:creationId xmlns:a16="http://schemas.microsoft.com/office/drawing/2014/main" id="{000F45F4-BC06-4C0F-93B5-E159DC2EDFDB}"/>
              </a:ext>
            </a:extLst>
          </p:cNvPr>
          <p:cNvSpPr txBox="1"/>
          <p:nvPr userDrawn="1"/>
        </p:nvSpPr>
        <p:spPr>
          <a:xfrm>
            <a:off x="590205" y="1485231"/>
            <a:ext cx="5777346" cy="3221395"/>
          </a:xfrm>
          <a:prstGeom prst="rect">
            <a:avLst/>
          </a:prstGeom>
          <a:noFill/>
        </p:spPr>
        <p:txBody>
          <a:bodyPr wrap="square" rtlCol="0">
            <a:spAutoFit/>
          </a:bodyPr>
          <a:lstStyle/>
          <a:p>
            <a:pPr rtl="0"/>
            <a:r>
              <a:rPr lang="fi-FI" sz="3200" b="1" i="0" u="none" strike="noStrike" kern="1200" baseline="30000" dirty="0">
                <a:solidFill>
                  <a:schemeClr val="tx1"/>
                </a:solidFill>
                <a:latin typeface="Arial" panose="020B0604020202020204" pitchFamily="34" charset="0"/>
                <a:ea typeface="+mn-ea"/>
                <a:cs typeface="Arial" panose="020B0604020202020204" pitchFamily="34" charset="0"/>
              </a:rPr>
              <a:t>KEUDA</a:t>
            </a:r>
            <a:endParaRPr lang="fi-FI" sz="3200" b="0"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Toteutamme opiskelijoille ja työelämälle yksilöllisiä, </a:t>
            </a:r>
            <a:b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br>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vetovoimaisia  koulutus- ja kehittämispalveluja.</a:t>
            </a:r>
          </a:p>
          <a:p>
            <a:pPr rtl="0"/>
            <a:endParaRPr lang="fi-FI" sz="1800" b="1"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r>
              <a:rPr lang="fi-FI" sz="2400" b="1" i="0" u="none" strike="noStrike" kern="1200" baseline="30000" dirty="0">
                <a:solidFill>
                  <a:schemeClr val="tx1"/>
                </a:solidFill>
                <a:latin typeface="Arial" panose="020B0604020202020204" pitchFamily="34" charset="0"/>
                <a:ea typeface="+mn-ea"/>
                <a:cs typeface="Arial" panose="020B0604020202020204" pitchFamily="34" charset="0"/>
              </a:rPr>
              <a:t>Opetus- ja koulutuspalvelut</a:t>
            </a:r>
          </a:p>
          <a:p>
            <a:pPr rtl="0"/>
            <a:r>
              <a:rPr lang="fi-FI" sz="2400" b="1" i="0" u="none" strike="noStrike" kern="1200" baseline="30000" dirty="0">
                <a:solidFill>
                  <a:schemeClr val="tx1"/>
                </a:solidFill>
                <a:latin typeface="Arial" panose="020B0604020202020204" pitchFamily="34" charset="0"/>
                <a:ea typeface="+mn-ea"/>
                <a:cs typeface="Arial" panose="020B0604020202020204" pitchFamily="34" charset="0"/>
              </a:rPr>
              <a:t>Työelämäpalvelut</a:t>
            </a:r>
            <a:endParaRPr lang="fi-FI" sz="2400" b="0"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endParaRPr lang="fi-FI" sz="1800" b="0" i="0" u="none" strike="noStrike" kern="1200" baseline="30000" dirty="0">
              <a:solidFill>
                <a:schemeClr val="tx1"/>
              </a:solidFill>
              <a:latin typeface="Arial" panose="020B0604020202020204" pitchFamily="34" charset="0"/>
              <a:ea typeface="+mn-ea"/>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fi-FI" sz="1800" b="1" i="0" u="none" strike="noStrike" kern="1200" baseline="30000" dirty="0">
                <a:solidFill>
                  <a:schemeClr val="tx1"/>
                </a:solidFill>
                <a:latin typeface="Arial" panose="020B0604020202020204" pitchFamily="34" charset="0"/>
                <a:ea typeface="+mn-ea"/>
                <a:cs typeface="Arial" panose="020B0604020202020204" pitchFamily="34" charset="0"/>
              </a:rPr>
              <a:t>Koulutustarjontamme kattaa kaikki koulutusalat:</a:t>
            </a: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Auto- ja logistiikkapalvelut</a:t>
            </a: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Hyvinvointipalvelut</a:t>
            </a: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Liike-elämän palvelut</a:t>
            </a: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Luonnonvara- ja ympäristöpalvelut</a:t>
            </a: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Palvelualat</a:t>
            </a: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Teknologia- ja rakentamispalvelut</a:t>
            </a:r>
          </a:p>
          <a:p>
            <a:endParaRPr lang="fi-FI" dirty="0">
              <a:latin typeface="Arial" panose="020B0604020202020204" pitchFamily="34" charset="0"/>
              <a:cs typeface="Arial" panose="020B0604020202020204" pitchFamily="34" charset="0"/>
            </a:endParaRPr>
          </a:p>
        </p:txBody>
      </p:sp>
      <p:sp>
        <p:nvSpPr>
          <p:cNvPr id="7" name="TextBox 10">
            <a:extLst>
              <a:ext uri="{FF2B5EF4-FFF2-40B4-BE49-F238E27FC236}">
                <a16:creationId xmlns:a16="http://schemas.microsoft.com/office/drawing/2014/main" id="{A7953638-5DFE-4A4A-91AA-B825B3CD5B5A}"/>
              </a:ext>
            </a:extLst>
          </p:cNvPr>
          <p:cNvSpPr txBox="1"/>
          <p:nvPr userDrawn="1"/>
        </p:nvSpPr>
        <p:spPr>
          <a:xfrm>
            <a:off x="7270101" y="6475102"/>
            <a:ext cx="1585487"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latin typeface="TitilliumText22L Light"/>
                <a:cs typeface="TitilliumText22L Light"/>
              </a:rPr>
              <a:t>KEUDA</a:t>
            </a:r>
            <a:r>
              <a:rPr lang="en-US" sz="800" baseline="0" dirty="0"/>
              <a:t> </a:t>
            </a:r>
            <a:r>
              <a:rPr lang="fi-FI" sz="800" b="0" i="0" u="none" strike="noStrike" kern="1200" baseline="10000" dirty="0">
                <a:solidFill>
                  <a:schemeClr val="accent1"/>
                </a:solidFill>
                <a:latin typeface="+mn-lt"/>
                <a:ea typeface="+mn-ea"/>
                <a:cs typeface="+mn-cs"/>
              </a:rPr>
              <a:t>•</a:t>
            </a:r>
            <a:r>
              <a:rPr lang="fi-FI" sz="800" b="0" i="0" u="none" strike="noStrike" kern="1200" baseline="0" dirty="0">
                <a:solidFill>
                  <a:schemeClr val="accent3"/>
                </a:solidFill>
                <a:latin typeface="+mn-lt"/>
                <a:ea typeface="+mn-ea"/>
                <a:cs typeface="+mn-cs"/>
              </a:rPr>
              <a:t> </a:t>
            </a:r>
            <a:fld id="{682124FE-E830-FA47-9347-515BBA8263AC}" type="slidenum">
              <a:rPr lang="fi-FI" sz="800" b="0" i="0" u="none" strike="noStrike" kern="1200" baseline="0" smtClean="0">
                <a:solidFill>
                  <a:schemeClr val="tx1"/>
                </a:solidFill>
                <a:latin typeface="TitilliumText22L Light"/>
                <a:ea typeface="+mn-ea"/>
                <a:cs typeface="TitilliumText22L Light"/>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latin typeface="TitilliumText22L Light"/>
              <a:cs typeface="TitilliumText22L Light"/>
            </a:endParaRPr>
          </a:p>
        </p:txBody>
      </p:sp>
    </p:spTree>
    <p:extLst>
      <p:ext uri="{BB962C8B-B14F-4D97-AF65-F5344CB8AC3E}">
        <p14:creationId xmlns:p14="http://schemas.microsoft.com/office/powerpoint/2010/main" val="1561437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ukautettu asettelu">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1323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pic>
        <p:nvPicPr>
          <p:cNvPr id="6" name="Kuva 5">
            <a:extLst>
              <a:ext uri="{FF2B5EF4-FFF2-40B4-BE49-F238E27FC236}">
                <a16:creationId xmlns:a16="http://schemas.microsoft.com/office/drawing/2014/main" id="{9E241046-3378-4DA4-96C2-F167FE837D50}"/>
              </a:ext>
            </a:extLst>
          </p:cNvPr>
          <p:cNvPicPr>
            <a:picLocks noChangeAspect="1"/>
          </p:cNvPicPr>
          <p:nvPr userDrawn="1"/>
        </p:nvPicPr>
        <p:blipFill>
          <a:blip r:embed="rId13"/>
          <a:stretch>
            <a:fillRect/>
          </a:stretch>
        </p:blipFill>
        <p:spPr>
          <a:xfrm>
            <a:off x="0" y="1"/>
            <a:ext cx="9144000" cy="6857999"/>
          </a:xfrm>
          <a:prstGeom prst="rect">
            <a:avLst/>
          </a:prstGeom>
        </p:spPr>
      </p:pic>
      <p:sp>
        <p:nvSpPr>
          <p:cNvPr id="11" name="TextBox 10"/>
          <p:cNvSpPr txBox="1"/>
          <p:nvPr/>
        </p:nvSpPr>
        <p:spPr>
          <a:xfrm>
            <a:off x="7270101" y="6475102"/>
            <a:ext cx="1585487"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latin typeface="TitilliumText22L Light"/>
                <a:cs typeface="TitilliumText22L Light"/>
              </a:rPr>
              <a:t>KEUDA</a:t>
            </a:r>
            <a:r>
              <a:rPr lang="en-US" sz="800" baseline="0" dirty="0"/>
              <a:t> </a:t>
            </a:r>
            <a:r>
              <a:rPr lang="fi-FI" sz="800" b="0" i="0" u="none" strike="noStrike" kern="1200" baseline="10000" dirty="0">
                <a:solidFill>
                  <a:schemeClr val="accent1"/>
                </a:solidFill>
                <a:latin typeface="+mn-lt"/>
                <a:ea typeface="+mn-ea"/>
                <a:cs typeface="+mn-cs"/>
              </a:rPr>
              <a:t>•</a:t>
            </a:r>
            <a:r>
              <a:rPr lang="fi-FI" sz="800" b="0" i="0" u="none" strike="noStrike" kern="1200" baseline="0" dirty="0">
                <a:solidFill>
                  <a:schemeClr val="accent3"/>
                </a:solidFill>
                <a:latin typeface="+mn-lt"/>
                <a:ea typeface="+mn-ea"/>
                <a:cs typeface="+mn-cs"/>
              </a:rPr>
              <a:t> </a:t>
            </a:r>
            <a:fld id="{682124FE-E830-FA47-9347-515BBA8263AC}" type="slidenum">
              <a:rPr lang="fi-FI" sz="800" b="0" i="0" u="none" strike="noStrike" kern="1200" baseline="0" smtClean="0">
                <a:solidFill>
                  <a:schemeClr val="tx1"/>
                </a:solidFill>
                <a:latin typeface="TitilliumText22L Light"/>
                <a:ea typeface="+mn-ea"/>
                <a:cs typeface="TitilliumText22L Light"/>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latin typeface="TitilliumText22L Light"/>
              <a:cs typeface="TitilliumText22L Light"/>
            </a:endParaRPr>
          </a:p>
        </p:txBody>
      </p:sp>
    </p:spTree>
    <p:extLst>
      <p:ext uri="{BB962C8B-B14F-4D97-AF65-F5344CB8AC3E}">
        <p14:creationId xmlns:p14="http://schemas.microsoft.com/office/powerpoint/2010/main" val="4195480154"/>
      </p:ext>
    </p:extLst>
  </p:cSld>
  <p:clrMap bg1="lt1" tx1="dk1" bg2="lt2" tx2="dk2" accent1="accent1" accent2="accent2" accent3="accent3" accent4="accent4" accent5="accent5" accent6="accent6" hlink="hlink" folHlink="folHlink"/>
  <p:sldLayoutIdLst>
    <p:sldLayoutId id="2147483672" r:id="rId1"/>
    <p:sldLayoutId id="2147483723" r:id="rId2"/>
    <p:sldLayoutId id="2147483720" r:id="rId3"/>
    <p:sldLayoutId id="2147483707" r:id="rId4"/>
    <p:sldLayoutId id="2147483726" r:id="rId5"/>
    <p:sldLayoutId id="2147483721" r:id="rId6"/>
    <p:sldLayoutId id="2147483718" r:id="rId7"/>
    <p:sldLayoutId id="2147483724" r:id="rId8"/>
    <p:sldLayoutId id="2147483725" r:id="rId9"/>
    <p:sldLayoutId id="2147483722" r:id="rId10"/>
    <p:sldLayoutId id="2147483727" r:id="rId11"/>
  </p:sldLayoutIdLst>
  <p:txStyles>
    <p:titleStyle>
      <a:lvl1pPr algn="l" defTabSz="457200" rtl="0" eaLnBrk="1" latinLnBrk="0" hangingPunct="1">
        <a:lnSpc>
          <a:spcPts val="3200"/>
        </a:lnSpc>
        <a:spcBef>
          <a:spcPct val="0"/>
        </a:spcBef>
        <a:buNone/>
        <a:defRPr sz="2800" b="0" i="0" kern="1200">
          <a:solidFill>
            <a:schemeClr val="tx1"/>
          </a:solidFill>
          <a:latin typeface="Arial"/>
          <a:ea typeface="TitilliumText22L Light" charset="0"/>
          <a:cs typeface="Arial"/>
        </a:defRPr>
      </a:lvl1pPr>
    </p:titleStyle>
    <p:bodyStyle>
      <a:lvl1pPr marL="342900" indent="-34290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1pPr>
      <a:lvl2pPr marL="742950" indent="-28575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2pPr>
      <a:lvl3pPr marL="1143000" indent="-22860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3pPr>
      <a:lvl4pPr marL="1600200" indent="-22860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4pPr>
      <a:lvl5pPr marL="2057400" indent="-22860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msdn.microsoft.com/en-us/library/5ast78ax.aspx" TargetMode="Externa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hyperlink" Target="https://en.wikipedia.org/wiki/List_of_Unicode_characters" TargetMode="Externa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hyperlink" Target="http://money.cnn.com/magazines/fortune/fortune_archive/2000/02/07/272831/index.htm" TargetMode="Externa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4.xml"/><Relationship Id="rId4" Type="http://schemas.openxmlformats.org/officeDocument/2006/relationships/image" Target="../media/image67.png"/></Relationships>
</file>

<file path=ppt/slides/_rels/slide7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4.xml"/><Relationship Id="rId4" Type="http://schemas.openxmlformats.org/officeDocument/2006/relationships/image" Target="../media/image7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B34E0B73-94DB-F541-BFC4-85828F71011A}"/>
              </a:ext>
            </a:extLst>
          </p:cNvPr>
          <p:cNvSpPr>
            <a:spLocks noGrp="1"/>
          </p:cNvSpPr>
          <p:nvPr>
            <p:ph type="title"/>
          </p:nvPr>
        </p:nvSpPr>
        <p:spPr/>
        <p:txBody>
          <a:bodyPr/>
          <a:lstStyle/>
          <a:p>
            <a:r>
              <a:rPr lang="fi-FI" dirty="0"/>
              <a:t>C#-ohjelmointi</a:t>
            </a:r>
          </a:p>
        </p:txBody>
      </p:sp>
    </p:spTree>
    <p:extLst>
      <p:ext uri="{BB962C8B-B14F-4D97-AF65-F5344CB8AC3E}">
        <p14:creationId xmlns:p14="http://schemas.microsoft.com/office/powerpoint/2010/main" val="2321073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tsikko 2">
            <a:extLst>
              <a:ext uri="{FF2B5EF4-FFF2-40B4-BE49-F238E27FC236}">
                <a16:creationId xmlns:a16="http://schemas.microsoft.com/office/drawing/2014/main" id="{EF1E882F-285C-EA0A-4F4D-2FBF3D84A293}"/>
              </a:ext>
            </a:extLst>
          </p:cNvPr>
          <p:cNvSpPr>
            <a:spLocks noGrp="1"/>
          </p:cNvSpPr>
          <p:nvPr>
            <p:ph type="title"/>
          </p:nvPr>
        </p:nvSpPr>
        <p:spPr>
          <a:xfrm>
            <a:off x="692527" y="129863"/>
            <a:ext cx="5761282" cy="1440392"/>
          </a:xfrm>
        </p:spPr>
        <p:txBody>
          <a:bodyPr/>
          <a:lstStyle/>
          <a:p>
            <a:r>
              <a:rPr lang="sv-SE" dirty="0"/>
              <a:t>Visual Studion </a:t>
            </a:r>
            <a:r>
              <a:rPr lang="sv-SE" dirty="0" err="1"/>
              <a:t>aloitus</a:t>
            </a:r>
            <a:endParaRPr lang="fi-FI" dirty="0"/>
          </a:p>
        </p:txBody>
      </p:sp>
      <p:sp>
        <p:nvSpPr>
          <p:cNvPr id="4" name="Sisällön paikkamerkki 3">
            <a:extLst>
              <a:ext uri="{FF2B5EF4-FFF2-40B4-BE49-F238E27FC236}">
                <a16:creationId xmlns:a16="http://schemas.microsoft.com/office/drawing/2014/main" id="{60B03A42-033A-956C-1D5C-617AF1DE7011}"/>
              </a:ext>
            </a:extLst>
          </p:cNvPr>
          <p:cNvSpPr>
            <a:spLocks noGrp="1"/>
          </p:cNvSpPr>
          <p:nvPr>
            <p:ph sz="quarter" idx="12"/>
          </p:nvPr>
        </p:nvSpPr>
        <p:spPr>
          <a:xfrm>
            <a:off x="692527" y="1570255"/>
            <a:ext cx="5248647" cy="5287745"/>
          </a:xfrm>
        </p:spPr>
        <p:txBody>
          <a:bodyPr>
            <a:normAutofit/>
          </a:bodyPr>
          <a:lstStyle/>
          <a:p>
            <a:r>
              <a:rPr lang="sv-SE" dirty="0" err="1"/>
              <a:t>Kirjaudu</a:t>
            </a:r>
            <a:r>
              <a:rPr lang="sv-SE" dirty="0"/>
              <a:t> </a:t>
            </a:r>
            <a:r>
              <a:rPr lang="sv-SE" dirty="0" err="1"/>
              <a:t>sisään</a:t>
            </a:r>
            <a:r>
              <a:rPr lang="sv-SE" dirty="0"/>
              <a:t> </a:t>
            </a:r>
            <a:r>
              <a:rPr lang="sv-SE" dirty="0" err="1"/>
              <a:t>koulun</a:t>
            </a:r>
            <a:r>
              <a:rPr lang="sv-SE" dirty="0"/>
              <a:t> </a:t>
            </a:r>
            <a:r>
              <a:rPr lang="sv-SE" dirty="0" err="1"/>
              <a:t>tunnuksella</a:t>
            </a:r>
            <a:endParaRPr lang="sv-SE" dirty="0"/>
          </a:p>
          <a:p>
            <a:endParaRPr lang="sv-SE" dirty="0"/>
          </a:p>
          <a:p>
            <a:endParaRPr lang="sv-SE" dirty="0"/>
          </a:p>
          <a:p>
            <a:endParaRPr lang="sv-SE" dirty="0"/>
          </a:p>
          <a:p>
            <a:endParaRPr lang="sv-SE" dirty="0"/>
          </a:p>
          <a:p>
            <a:r>
              <a:rPr lang="sv-SE" dirty="0" err="1"/>
              <a:t>Valitse</a:t>
            </a:r>
            <a:r>
              <a:rPr lang="sv-SE" dirty="0"/>
              <a:t> Visual C# ja </a:t>
            </a:r>
            <a:r>
              <a:rPr lang="sv-SE" dirty="0" err="1"/>
              <a:t>väriteema</a:t>
            </a:r>
            <a:endParaRPr lang="sv-SE" dirty="0"/>
          </a:p>
          <a:p>
            <a:endParaRPr lang="sv-SE" dirty="0"/>
          </a:p>
          <a:p>
            <a:endParaRPr lang="sv-SE" dirty="0"/>
          </a:p>
          <a:p>
            <a:endParaRPr lang="sv-SE" dirty="0"/>
          </a:p>
          <a:p>
            <a:endParaRPr lang="sv-SE" dirty="0"/>
          </a:p>
          <a:p>
            <a:endParaRPr lang="sv-SE" dirty="0"/>
          </a:p>
          <a:p>
            <a:endParaRPr lang="sv-SE" dirty="0"/>
          </a:p>
          <a:p>
            <a:r>
              <a:rPr lang="sv-SE" dirty="0" err="1"/>
              <a:t>Aloita</a:t>
            </a:r>
            <a:r>
              <a:rPr lang="sv-SE" dirty="0"/>
              <a:t> Visual Studion </a:t>
            </a:r>
            <a:r>
              <a:rPr lang="sv-SE" dirty="0" err="1"/>
              <a:t>käyttö</a:t>
            </a:r>
            <a:endParaRPr lang="sv-SE" dirty="0"/>
          </a:p>
          <a:p>
            <a:endParaRPr lang="sv-SE" dirty="0"/>
          </a:p>
          <a:p>
            <a:pPr marL="0" indent="0">
              <a:buNone/>
            </a:pPr>
            <a:endParaRPr lang="sv-SE" dirty="0"/>
          </a:p>
        </p:txBody>
      </p:sp>
      <p:pic>
        <p:nvPicPr>
          <p:cNvPr id="6" name="Kuva 5">
            <a:extLst>
              <a:ext uri="{FF2B5EF4-FFF2-40B4-BE49-F238E27FC236}">
                <a16:creationId xmlns:a16="http://schemas.microsoft.com/office/drawing/2014/main" id="{D1564C0E-CF0D-6990-7608-C8EBADE212BD}"/>
              </a:ext>
            </a:extLst>
          </p:cNvPr>
          <p:cNvPicPr>
            <a:picLocks noChangeAspect="1"/>
          </p:cNvPicPr>
          <p:nvPr/>
        </p:nvPicPr>
        <p:blipFill>
          <a:blip r:embed="rId2"/>
          <a:stretch>
            <a:fillRect/>
          </a:stretch>
        </p:blipFill>
        <p:spPr>
          <a:xfrm>
            <a:off x="4888453" y="1570255"/>
            <a:ext cx="3130711" cy="1524078"/>
          </a:xfrm>
          <a:prstGeom prst="rect">
            <a:avLst/>
          </a:prstGeom>
        </p:spPr>
      </p:pic>
      <p:pic>
        <p:nvPicPr>
          <p:cNvPr id="8" name="Kuva 7">
            <a:extLst>
              <a:ext uri="{FF2B5EF4-FFF2-40B4-BE49-F238E27FC236}">
                <a16:creationId xmlns:a16="http://schemas.microsoft.com/office/drawing/2014/main" id="{5C272B2E-A3B9-4DAE-0CCD-DA7715F06ED6}"/>
              </a:ext>
            </a:extLst>
          </p:cNvPr>
          <p:cNvPicPr>
            <a:picLocks noChangeAspect="1"/>
          </p:cNvPicPr>
          <p:nvPr/>
        </p:nvPicPr>
        <p:blipFill>
          <a:blip r:embed="rId3"/>
          <a:stretch>
            <a:fillRect/>
          </a:stretch>
        </p:blipFill>
        <p:spPr>
          <a:xfrm>
            <a:off x="4888453" y="3094333"/>
            <a:ext cx="2362321" cy="2463927"/>
          </a:xfrm>
          <a:prstGeom prst="rect">
            <a:avLst/>
          </a:prstGeom>
        </p:spPr>
      </p:pic>
      <p:sp>
        <p:nvSpPr>
          <p:cNvPr id="9" name="Ellipsi 8">
            <a:extLst>
              <a:ext uri="{FF2B5EF4-FFF2-40B4-BE49-F238E27FC236}">
                <a16:creationId xmlns:a16="http://schemas.microsoft.com/office/drawing/2014/main" id="{3029C6F7-421D-CEE2-2169-ED07AC51C16C}"/>
              </a:ext>
            </a:extLst>
          </p:cNvPr>
          <p:cNvSpPr/>
          <p:nvPr/>
        </p:nvSpPr>
        <p:spPr>
          <a:xfrm>
            <a:off x="4678017" y="3352800"/>
            <a:ext cx="1263157" cy="410868"/>
          </a:xfrm>
          <a:prstGeom prst="ellipse">
            <a:avLst/>
          </a:prstGeom>
          <a:noFill/>
          <a:ln>
            <a:solidFill>
              <a:srgbClr val="FF0000"/>
            </a:solid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fi-FI"/>
          </a:p>
        </p:txBody>
      </p:sp>
      <p:pic>
        <p:nvPicPr>
          <p:cNvPr id="11" name="Kuva 10">
            <a:extLst>
              <a:ext uri="{FF2B5EF4-FFF2-40B4-BE49-F238E27FC236}">
                <a16:creationId xmlns:a16="http://schemas.microsoft.com/office/drawing/2014/main" id="{1B5AE000-FBA3-91FB-08E3-99B710E9A234}"/>
              </a:ext>
            </a:extLst>
          </p:cNvPr>
          <p:cNvPicPr>
            <a:picLocks noChangeAspect="1"/>
          </p:cNvPicPr>
          <p:nvPr/>
        </p:nvPicPr>
        <p:blipFill>
          <a:blip r:embed="rId4"/>
          <a:stretch>
            <a:fillRect/>
          </a:stretch>
        </p:blipFill>
        <p:spPr>
          <a:xfrm>
            <a:off x="4999584" y="5558260"/>
            <a:ext cx="1454225" cy="349268"/>
          </a:xfrm>
          <a:prstGeom prst="rect">
            <a:avLst/>
          </a:prstGeom>
        </p:spPr>
      </p:pic>
    </p:spTree>
    <p:extLst>
      <p:ext uri="{BB962C8B-B14F-4D97-AF65-F5344CB8AC3E}">
        <p14:creationId xmlns:p14="http://schemas.microsoft.com/office/powerpoint/2010/main" val="1354379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817FFFB-F75B-EE63-D44A-B659B770108C}"/>
              </a:ext>
            </a:extLst>
          </p:cNvPr>
          <p:cNvSpPr>
            <a:spLocks noGrp="1"/>
          </p:cNvSpPr>
          <p:nvPr>
            <p:ph type="title"/>
          </p:nvPr>
        </p:nvSpPr>
        <p:spPr>
          <a:xfrm>
            <a:off x="791918" y="143560"/>
            <a:ext cx="5761282" cy="611814"/>
          </a:xfrm>
        </p:spPr>
        <p:txBody>
          <a:bodyPr/>
          <a:lstStyle/>
          <a:p>
            <a:r>
              <a:rPr lang="sv-SE" dirty="0" err="1"/>
              <a:t>Github</a:t>
            </a:r>
            <a:r>
              <a:rPr lang="sv-SE" dirty="0"/>
              <a:t> / Visual Studio</a:t>
            </a:r>
            <a:endParaRPr lang="fi-FI" dirty="0"/>
          </a:p>
        </p:txBody>
      </p:sp>
      <p:sp>
        <p:nvSpPr>
          <p:cNvPr id="3" name="Sisällön paikkamerkki 2">
            <a:extLst>
              <a:ext uri="{FF2B5EF4-FFF2-40B4-BE49-F238E27FC236}">
                <a16:creationId xmlns:a16="http://schemas.microsoft.com/office/drawing/2014/main" id="{9F8C002F-4C38-31C2-2363-22370D4802B3}"/>
              </a:ext>
            </a:extLst>
          </p:cNvPr>
          <p:cNvSpPr>
            <a:spLocks noGrp="1"/>
          </p:cNvSpPr>
          <p:nvPr>
            <p:ph sz="quarter" idx="12"/>
          </p:nvPr>
        </p:nvSpPr>
        <p:spPr>
          <a:xfrm>
            <a:off x="791918" y="755374"/>
            <a:ext cx="7696099" cy="5705061"/>
          </a:xfrm>
        </p:spPr>
        <p:txBody>
          <a:bodyPr/>
          <a:lstStyle/>
          <a:p>
            <a:r>
              <a:rPr lang="sv-SE" dirty="0"/>
              <a:t>Mene </a:t>
            </a:r>
            <a:r>
              <a:rPr lang="sv-SE" dirty="0" err="1"/>
              <a:t>Githubiin</a:t>
            </a:r>
            <a:r>
              <a:rPr lang="sv-SE" dirty="0"/>
              <a:t> ja </a:t>
            </a:r>
            <a:r>
              <a:rPr lang="sv-SE" dirty="0" err="1"/>
              <a:t>luo</a:t>
            </a:r>
            <a:r>
              <a:rPr lang="sv-SE" dirty="0"/>
              <a:t> sinne </a:t>
            </a:r>
            <a:r>
              <a:rPr lang="sv-SE" dirty="0" err="1"/>
              <a:t>uusi</a:t>
            </a:r>
            <a:r>
              <a:rPr lang="sv-SE" dirty="0"/>
              <a:t> </a:t>
            </a:r>
            <a:r>
              <a:rPr lang="sv-SE" dirty="0" err="1"/>
              <a:t>repositio</a:t>
            </a:r>
            <a:r>
              <a:rPr lang="sv-SE" dirty="0"/>
              <a:t> </a:t>
            </a:r>
            <a:r>
              <a:rPr lang="sv-SE" dirty="0" err="1"/>
              <a:t>nimeltään</a:t>
            </a:r>
            <a:r>
              <a:rPr lang="sv-SE" dirty="0"/>
              <a:t> </a:t>
            </a:r>
            <a:r>
              <a:rPr lang="sv-SE" dirty="0" err="1"/>
              <a:t>Ohjelmistokehittaja</a:t>
            </a:r>
            <a:r>
              <a:rPr lang="sv-SE" dirty="0"/>
              <a:t> </a:t>
            </a:r>
          </a:p>
          <a:p>
            <a:endParaRPr lang="fi-FI" dirty="0"/>
          </a:p>
        </p:txBody>
      </p:sp>
      <p:pic>
        <p:nvPicPr>
          <p:cNvPr id="5" name="Kuva 4">
            <a:extLst>
              <a:ext uri="{FF2B5EF4-FFF2-40B4-BE49-F238E27FC236}">
                <a16:creationId xmlns:a16="http://schemas.microsoft.com/office/drawing/2014/main" id="{0B799476-BDF1-2B5F-8292-CFDC810126AC}"/>
              </a:ext>
            </a:extLst>
          </p:cNvPr>
          <p:cNvPicPr>
            <a:picLocks noChangeAspect="1"/>
          </p:cNvPicPr>
          <p:nvPr/>
        </p:nvPicPr>
        <p:blipFill>
          <a:blip r:embed="rId2"/>
          <a:stretch>
            <a:fillRect/>
          </a:stretch>
        </p:blipFill>
        <p:spPr>
          <a:xfrm>
            <a:off x="1219957" y="1094124"/>
            <a:ext cx="2781443" cy="273064"/>
          </a:xfrm>
          <a:prstGeom prst="rect">
            <a:avLst/>
          </a:prstGeom>
        </p:spPr>
      </p:pic>
      <p:pic>
        <p:nvPicPr>
          <p:cNvPr id="7" name="Kuva 6">
            <a:extLst>
              <a:ext uri="{FF2B5EF4-FFF2-40B4-BE49-F238E27FC236}">
                <a16:creationId xmlns:a16="http://schemas.microsoft.com/office/drawing/2014/main" id="{C999B228-B2F9-E706-DD5B-51371DD990D7}"/>
              </a:ext>
            </a:extLst>
          </p:cNvPr>
          <p:cNvPicPr>
            <a:picLocks noChangeAspect="1"/>
          </p:cNvPicPr>
          <p:nvPr/>
        </p:nvPicPr>
        <p:blipFill>
          <a:blip r:embed="rId3"/>
          <a:stretch>
            <a:fillRect/>
          </a:stretch>
        </p:blipFill>
        <p:spPr>
          <a:xfrm>
            <a:off x="1180997" y="1464122"/>
            <a:ext cx="5391325" cy="4899379"/>
          </a:xfrm>
          <a:prstGeom prst="rect">
            <a:avLst/>
          </a:prstGeom>
        </p:spPr>
      </p:pic>
    </p:spTree>
    <p:extLst>
      <p:ext uri="{BB962C8B-B14F-4D97-AF65-F5344CB8AC3E}">
        <p14:creationId xmlns:p14="http://schemas.microsoft.com/office/powerpoint/2010/main" val="1314216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79FDD6E5-ADEE-9167-E8DF-132B7BA2ECD8}"/>
              </a:ext>
            </a:extLst>
          </p:cNvPr>
          <p:cNvSpPr>
            <a:spLocks noGrp="1"/>
          </p:cNvSpPr>
          <p:nvPr>
            <p:ph type="title"/>
          </p:nvPr>
        </p:nvSpPr>
        <p:spPr>
          <a:xfrm>
            <a:off x="791918" y="129863"/>
            <a:ext cx="5761282" cy="1440392"/>
          </a:xfrm>
        </p:spPr>
        <p:txBody>
          <a:bodyPr/>
          <a:lstStyle/>
          <a:p>
            <a:r>
              <a:rPr lang="sv-SE" dirty="0" err="1"/>
              <a:t>Github</a:t>
            </a:r>
            <a:r>
              <a:rPr lang="sv-SE" dirty="0"/>
              <a:t> / Visual Studio</a:t>
            </a:r>
            <a:endParaRPr lang="fi-FI" dirty="0"/>
          </a:p>
        </p:txBody>
      </p:sp>
      <p:sp>
        <p:nvSpPr>
          <p:cNvPr id="3" name="Sisällön paikkamerkki 2">
            <a:extLst>
              <a:ext uri="{FF2B5EF4-FFF2-40B4-BE49-F238E27FC236}">
                <a16:creationId xmlns:a16="http://schemas.microsoft.com/office/drawing/2014/main" id="{8BC24695-C28C-5997-A1CF-C6F637FC46F9}"/>
              </a:ext>
            </a:extLst>
          </p:cNvPr>
          <p:cNvSpPr>
            <a:spLocks noGrp="1"/>
          </p:cNvSpPr>
          <p:nvPr>
            <p:ph sz="quarter" idx="12"/>
          </p:nvPr>
        </p:nvSpPr>
        <p:spPr>
          <a:xfrm>
            <a:off x="791918" y="1570256"/>
            <a:ext cx="8352082" cy="4843796"/>
          </a:xfrm>
        </p:spPr>
        <p:txBody>
          <a:bodyPr/>
          <a:lstStyle/>
          <a:p>
            <a:r>
              <a:rPr lang="sv-SE" dirty="0" err="1"/>
              <a:t>Kopioi</a:t>
            </a:r>
            <a:r>
              <a:rPr lang="sv-SE" dirty="0"/>
              <a:t> </a:t>
            </a:r>
            <a:r>
              <a:rPr lang="sv-SE" dirty="0" err="1"/>
              <a:t>repositorisi</a:t>
            </a:r>
            <a:r>
              <a:rPr lang="sv-SE" dirty="0"/>
              <a:t> </a:t>
            </a:r>
            <a:r>
              <a:rPr lang="sv-SE" dirty="0" err="1"/>
              <a:t>osoite</a:t>
            </a:r>
            <a:endParaRPr lang="sv-SE" dirty="0"/>
          </a:p>
          <a:p>
            <a:endParaRPr lang="sv-SE" dirty="0"/>
          </a:p>
          <a:p>
            <a:endParaRPr lang="sv-SE" dirty="0"/>
          </a:p>
          <a:p>
            <a:endParaRPr lang="sv-SE" dirty="0"/>
          </a:p>
          <a:p>
            <a:endParaRPr lang="sv-SE" dirty="0"/>
          </a:p>
          <a:p>
            <a:endParaRPr lang="sv-SE" dirty="0"/>
          </a:p>
          <a:p>
            <a:endParaRPr lang="sv-SE" dirty="0"/>
          </a:p>
          <a:p>
            <a:endParaRPr lang="sv-SE" dirty="0"/>
          </a:p>
          <a:p>
            <a:r>
              <a:rPr lang="sv-SE" dirty="0" err="1"/>
              <a:t>Palaa</a:t>
            </a:r>
            <a:r>
              <a:rPr lang="sv-SE" dirty="0"/>
              <a:t> Visual </a:t>
            </a:r>
            <a:r>
              <a:rPr lang="sv-SE" dirty="0" err="1"/>
              <a:t>Studioon</a:t>
            </a:r>
            <a:r>
              <a:rPr lang="sv-SE" dirty="0"/>
              <a:t> ja </a:t>
            </a:r>
            <a:r>
              <a:rPr lang="sv-SE" dirty="0" err="1"/>
              <a:t>valitse</a:t>
            </a:r>
            <a:endParaRPr lang="sv-SE" dirty="0"/>
          </a:p>
          <a:p>
            <a:endParaRPr lang="sv-SE" dirty="0"/>
          </a:p>
          <a:p>
            <a:r>
              <a:rPr lang="sv-SE" dirty="0" err="1"/>
              <a:t>Liitä</a:t>
            </a:r>
            <a:r>
              <a:rPr lang="sv-SE" dirty="0"/>
              <a:t> </a:t>
            </a:r>
            <a:r>
              <a:rPr lang="sv-SE" dirty="0" err="1"/>
              <a:t>repositorisi</a:t>
            </a:r>
            <a:r>
              <a:rPr lang="sv-SE" dirty="0"/>
              <a:t> </a:t>
            </a:r>
            <a:r>
              <a:rPr lang="sv-SE" dirty="0" err="1"/>
              <a:t>osoite</a:t>
            </a:r>
            <a:r>
              <a:rPr lang="sv-SE" dirty="0"/>
              <a:t> </a:t>
            </a:r>
            <a:r>
              <a:rPr lang="sv-SE" dirty="0" err="1"/>
              <a:t>yläriville</a:t>
            </a:r>
            <a:br>
              <a:rPr lang="sv-SE" dirty="0"/>
            </a:br>
            <a:r>
              <a:rPr lang="sv-SE" dirty="0"/>
              <a:t>ja </a:t>
            </a:r>
            <a:r>
              <a:rPr lang="sv-SE" dirty="0" err="1"/>
              <a:t>tarkista</a:t>
            </a:r>
            <a:r>
              <a:rPr lang="sv-SE" dirty="0"/>
              <a:t>, </a:t>
            </a:r>
            <a:r>
              <a:rPr lang="sv-SE" dirty="0" err="1"/>
              <a:t>että</a:t>
            </a:r>
            <a:r>
              <a:rPr lang="sv-SE" dirty="0"/>
              <a:t> </a:t>
            </a:r>
            <a:r>
              <a:rPr lang="sv-SE" dirty="0" err="1"/>
              <a:t>alarivillä</a:t>
            </a:r>
            <a:r>
              <a:rPr lang="sv-SE" dirty="0"/>
              <a:t> on repo-</a:t>
            </a:r>
            <a:br>
              <a:rPr lang="sv-SE" dirty="0"/>
            </a:br>
            <a:r>
              <a:rPr lang="sv-SE" dirty="0" err="1"/>
              <a:t>kansiosi</a:t>
            </a:r>
            <a:endParaRPr lang="fi-FI" dirty="0"/>
          </a:p>
        </p:txBody>
      </p:sp>
      <p:pic>
        <p:nvPicPr>
          <p:cNvPr id="5" name="Kuva 4">
            <a:extLst>
              <a:ext uri="{FF2B5EF4-FFF2-40B4-BE49-F238E27FC236}">
                <a16:creationId xmlns:a16="http://schemas.microsoft.com/office/drawing/2014/main" id="{81D1404A-E217-7B2F-E5E2-9491E049A318}"/>
              </a:ext>
            </a:extLst>
          </p:cNvPr>
          <p:cNvPicPr>
            <a:picLocks noChangeAspect="1"/>
          </p:cNvPicPr>
          <p:nvPr/>
        </p:nvPicPr>
        <p:blipFill>
          <a:blip r:embed="rId2"/>
          <a:stretch>
            <a:fillRect/>
          </a:stretch>
        </p:blipFill>
        <p:spPr>
          <a:xfrm>
            <a:off x="1242293" y="1934648"/>
            <a:ext cx="3810196" cy="2057506"/>
          </a:xfrm>
          <a:prstGeom prst="rect">
            <a:avLst/>
          </a:prstGeom>
        </p:spPr>
      </p:pic>
      <p:pic>
        <p:nvPicPr>
          <p:cNvPr id="7" name="Kuva 6">
            <a:extLst>
              <a:ext uri="{FF2B5EF4-FFF2-40B4-BE49-F238E27FC236}">
                <a16:creationId xmlns:a16="http://schemas.microsoft.com/office/drawing/2014/main" id="{C9728D71-43E6-EEF6-971E-165A2E10B44B}"/>
              </a:ext>
            </a:extLst>
          </p:cNvPr>
          <p:cNvPicPr>
            <a:picLocks noChangeAspect="1"/>
          </p:cNvPicPr>
          <p:nvPr/>
        </p:nvPicPr>
        <p:blipFill>
          <a:blip r:embed="rId3"/>
          <a:stretch>
            <a:fillRect/>
          </a:stretch>
        </p:blipFill>
        <p:spPr>
          <a:xfrm>
            <a:off x="4495701" y="4010453"/>
            <a:ext cx="2959252" cy="692186"/>
          </a:xfrm>
          <a:prstGeom prst="rect">
            <a:avLst/>
          </a:prstGeom>
        </p:spPr>
      </p:pic>
      <p:pic>
        <p:nvPicPr>
          <p:cNvPr id="9" name="Kuva 8">
            <a:extLst>
              <a:ext uri="{FF2B5EF4-FFF2-40B4-BE49-F238E27FC236}">
                <a16:creationId xmlns:a16="http://schemas.microsoft.com/office/drawing/2014/main" id="{0C7181B4-DC90-E31D-A0B4-0D8DB0D33CD3}"/>
              </a:ext>
            </a:extLst>
          </p:cNvPr>
          <p:cNvPicPr>
            <a:picLocks noChangeAspect="1"/>
          </p:cNvPicPr>
          <p:nvPr/>
        </p:nvPicPr>
        <p:blipFill>
          <a:blip r:embed="rId4"/>
          <a:stretch>
            <a:fillRect/>
          </a:stretch>
        </p:blipFill>
        <p:spPr>
          <a:xfrm>
            <a:off x="4495701" y="4865175"/>
            <a:ext cx="3283119" cy="1143059"/>
          </a:xfrm>
          <a:prstGeom prst="rect">
            <a:avLst/>
          </a:prstGeom>
        </p:spPr>
      </p:pic>
      <p:sp>
        <p:nvSpPr>
          <p:cNvPr id="10" name="Ellipsi 9">
            <a:extLst>
              <a:ext uri="{FF2B5EF4-FFF2-40B4-BE49-F238E27FC236}">
                <a16:creationId xmlns:a16="http://schemas.microsoft.com/office/drawing/2014/main" id="{EE53A106-C0D4-D941-EAD3-71A46DFA6463}"/>
              </a:ext>
            </a:extLst>
          </p:cNvPr>
          <p:cNvSpPr/>
          <p:nvPr/>
        </p:nvSpPr>
        <p:spPr>
          <a:xfrm>
            <a:off x="5784574" y="5724939"/>
            <a:ext cx="921026" cy="445831"/>
          </a:xfrm>
          <a:prstGeom prst="ellipse">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i-FI"/>
          </a:p>
        </p:txBody>
      </p:sp>
    </p:spTree>
    <p:extLst>
      <p:ext uri="{BB962C8B-B14F-4D97-AF65-F5344CB8AC3E}">
        <p14:creationId xmlns:p14="http://schemas.microsoft.com/office/powerpoint/2010/main" val="2524742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Kuva 22">
            <a:extLst>
              <a:ext uri="{FF2B5EF4-FFF2-40B4-BE49-F238E27FC236}">
                <a16:creationId xmlns:a16="http://schemas.microsoft.com/office/drawing/2014/main" id="{BAD5B9A0-8B99-5EFB-B8B5-5AEA0DF9FA33}"/>
              </a:ext>
            </a:extLst>
          </p:cNvPr>
          <p:cNvPicPr>
            <a:picLocks noChangeAspect="1"/>
          </p:cNvPicPr>
          <p:nvPr/>
        </p:nvPicPr>
        <p:blipFill>
          <a:blip r:embed="rId2"/>
          <a:stretch>
            <a:fillRect/>
          </a:stretch>
        </p:blipFill>
        <p:spPr>
          <a:xfrm>
            <a:off x="6582308" y="937788"/>
            <a:ext cx="1320868" cy="882695"/>
          </a:xfrm>
          <a:prstGeom prst="rect">
            <a:avLst/>
          </a:prstGeom>
        </p:spPr>
      </p:pic>
      <p:pic>
        <p:nvPicPr>
          <p:cNvPr id="19" name="Kuva 18">
            <a:extLst>
              <a:ext uri="{FF2B5EF4-FFF2-40B4-BE49-F238E27FC236}">
                <a16:creationId xmlns:a16="http://schemas.microsoft.com/office/drawing/2014/main" id="{A4A0AC6D-BB7B-EB50-0C29-5B35DDD873BE}"/>
              </a:ext>
            </a:extLst>
          </p:cNvPr>
          <p:cNvPicPr>
            <a:picLocks noChangeAspect="1"/>
          </p:cNvPicPr>
          <p:nvPr/>
        </p:nvPicPr>
        <p:blipFill>
          <a:blip r:embed="rId3"/>
          <a:stretch>
            <a:fillRect/>
          </a:stretch>
        </p:blipFill>
        <p:spPr>
          <a:xfrm>
            <a:off x="1179443" y="2220235"/>
            <a:ext cx="5005540" cy="1783470"/>
          </a:xfrm>
          <a:prstGeom prst="rect">
            <a:avLst/>
          </a:prstGeom>
        </p:spPr>
      </p:pic>
      <p:sp>
        <p:nvSpPr>
          <p:cNvPr id="3" name="Sisällön paikkamerkki 2">
            <a:extLst>
              <a:ext uri="{FF2B5EF4-FFF2-40B4-BE49-F238E27FC236}">
                <a16:creationId xmlns:a16="http://schemas.microsoft.com/office/drawing/2014/main" id="{BD9DBDCF-B76D-C94C-B2FB-2143DD2E4465}"/>
              </a:ext>
            </a:extLst>
          </p:cNvPr>
          <p:cNvSpPr>
            <a:spLocks noGrp="1"/>
          </p:cNvSpPr>
          <p:nvPr>
            <p:ph sz="quarter" idx="12"/>
          </p:nvPr>
        </p:nvSpPr>
        <p:spPr>
          <a:xfrm>
            <a:off x="791918" y="885111"/>
            <a:ext cx="8063670" cy="6072280"/>
          </a:xfrm>
        </p:spPr>
        <p:txBody>
          <a:bodyPr>
            <a:normAutofit/>
          </a:bodyPr>
          <a:lstStyle/>
          <a:p>
            <a:r>
              <a:rPr lang="fi-FI" dirty="0"/>
              <a:t>Luo uusi projekti</a:t>
            </a:r>
          </a:p>
          <a:p>
            <a:r>
              <a:rPr lang="fi-FI" dirty="0"/>
              <a:t>Valitse Console Application</a:t>
            </a:r>
            <a:br>
              <a:rPr lang="fi-FI" dirty="0"/>
            </a:br>
            <a:r>
              <a:rPr lang="fi-FI" dirty="0"/>
              <a:t>huomaa tuo C#, älä ota Visual Basicia</a:t>
            </a:r>
          </a:p>
          <a:p>
            <a:r>
              <a:rPr lang="fi-FI" dirty="0"/>
              <a:t>Anna ohjelmallesi nimi ja tallenna se REPO-kansioosi!!!!</a:t>
            </a:r>
          </a:p>
          <a:p>
            <a:endParaRPr lang="fi-FI" dirty="0"/>
          </a:p>
          <a:p>
            <a:endParaRPr lang="fi-FI" dirty="0"/>
          </a:p>
          <a:p>
            <a:endParaRPr lang="fi-FI" dirty="0"/>
          </a:p>
          <a:p>
            <a:endParaRPr lang="fi-FI" dirty="0"/>
          </a:p>
          <a:p>
            <a:endParaRPr lang="fi-FI" dirty="0"/>
          </a:p>
          <a:p>
            <a:endParaRPr lang="fi-FI" dirty="0"/>
          </a:p>
          <a:p>
            <a:r>
              <a:rPr lang="fi-FI" dirty="0"/>
              <a:t>Älä missään nimessä laita rastia tähän, sillä myöhemmin</a:t>
            </a:r>
            <a:br>
              <a:rPr lang="fi-FI" dirty="0"/>
            </a:br>
            <a:r>
              <a:rPr lang="fi-FI" dirty="0"/>
              <a:t>siitä aiheutuu sinulle ongelmia:</a:t>
            </a:r>
          </a:p>
          <a:p>
            <a:endParaRPr lang="fi-FI" dirty="0"/>
          </a:p>
          <a:p>
            <a:endParaRPr lang="fi-FI" dirty="0"/>
          </a:p>
          <a:p>
            <a:r>
              <a:rPr lang="fi-FI" dirty="0"/>
              <a:t>Valitse 6.0 Net-versio (Long </a:t>
            </a:r>
            <a:r>
              <a:rPr lang="fi-FI" dirty="0" err="1"/>
              <a:t>Term</a:t>
            </a:r>
            <a:r>
              <a:rPr lang="fi-FI" dirty="0"/>
              <a:t> </a:t>
            </a:r>
            <a:r>
              <a:rPr lang="fi-FI" dirty="0" err="1"/>
              <a:t>support</a:t>
            </a:r>
            <a:r>
              <a:rPr lang="fi-FI" dirty="0"/>
              <a:t>), koska </a:t>
            </a:r>
            <a:br>
              <a:rPr lang="fi-FI" dirty="0"/>
            </a:br>
            <a:r>
              <a:rPr lang="fi-FI" dirty="0"/>
              <a:t>koululla on se, muuten tulee ongelmia ja laita rasti</a:t>
            </a:r>
            <a:br>
              <a:rPr lang="fi-FI" dirty="0"/>
            </a:br>
            <a:r>
              <a:rPr lang="fi-FI" dirty="0"/>
              <a:t>kohtaan ”</a:t>
            </a:r>
            <a:r>
              <a:rPr lang="fi-FI" dirty="0" err="1"/>
              <a:t>Do</a:t>
            </a:r>
            <a:r>
              <a:rPr lang="fi-FI" dirty="0"/>
              <a:t> </a:t>
            </a:r>
            <a:r>
              <a:rPr lang="fi-FI" dirty="0" err="1"/>
              <a:t>not</a:t>
            </a:r>
            <a:r>
              <a:rPr lang="fi-FI" dirty="0"/>
              <a:t> </a:t>
            </a:r>
            <a:r>
              <a:rPr lang="fi-FI" dirty="0" err="1"/>
              <a:t>use</a:t>
            </a:r>
            <a:r>
              <a:rPr lang="fi-FI" dirty="0"/>
              <a:t> top-</a:t>
            </a:r>
            <a:r>
              <a:rPr lang="fi-FI" dirty="0" err="1"/>
              <a:t>level</a:t>
            </a:r>
            <a:r>
              <a:rPr lang="fi-FI" dirty="0"/>
              <a:t> </a:t>
            </a:r>
            <a:r>
              <a:rPr lang="fi-FI" dirty="0" err="1"/>
              <a:t>statements</a:t>
            </a:r>
            <a:r>
              <a:rPr lang="fi-FI" dirty="0"/>
              <a:t>”</a:t>
            </a:r>
          </a:p>
          <a:p>
            <a:endParaRPr lang="fi-FI" dirty="0"/>
          </a:p>
        </p:txBody>
      </p:sp>
      <p:sp>
        <p:nvSpPr>
          <p:cNvPr id="2" name="Otsikko 1">
            <a:extLst>
              <a:ext uri="{FF2B5EF4-FFF2-40B4-BE49-F238E27FC236}">
                <a16:creationId xmlns:a16="http://schemas.microsoft.com/office/drawing/2014/main" id="{42640362-3D5D-CB46-99E5-485C12E64318}"/>
              </a:ext>
            </a:extLst>
          </p:cNvPr>
          <p:cNvSpPr>
            <a:spLocks noGrp="1"/>
          </p:cNvSpPr>
          <p:nvPr>
            <p:ph type="title"/>
          </p:nvPr>
        </p:nvSpPr>
        <p:spPr>
          <a:xfrm>
            <a:off x="791918" y="129863"/>
            <a:ext cx="8063670" cy="615572"/>
          </a:xfrm>
        </p:spPr>
        <p:txBody>
          <a:bodyPr/>
          <a:lstStyle/>
          <a:p>
            <a:r>
              <a:rPr lang="fi-FI" dirty="0"/>
              <a:t>Ensimmäinen C# ohjelmamme</a:t>
            </a:r>
          </a:p>
        </p:txBody>
      </p:sp>
      <p:cxnSp>
        <p:nvCxnSpPr>
          <p:cNvPr id="6" name="Suora nuoliyhdysviiva 5">
            <a:extLst>
              <a:ext uri="{FF2B5EF4-FFF2-40B4-BE49-F238E27FC236}">
                <a16:creationId xmlns:a16="http://schemas.microsoft.com/office/drawing/2014/main" id="{10B998CA-64B4-F848-B706-776F7B50FC01}"/>
              </a:ext>
            </a:extLst>
          </p:cNvPr>
          <p:cNvCxnSpPr>
            <a:cxnSpLocks/>
          </p:cNvCxnSpPr>
          <p:nvPr/>
        </p:nvCxnSpPr>
        <p:spPr>
          <a:xfrm>
            <a:off x="3703983" y="1379136"/>
            <a:ext cx="3246782" cy="287997"/>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8" name="Ellipsi 7">
            <a:extLst>
              <a:ext uri="{FF2B5EF4-FFF2-40B4-BE49-F238E27FC236}">
                <a16:creationId xmlns:a16="http://schemas.microsoft.com/office/drawing/2014/main" id="{CC1BE92C-2073-724A-A243-EFF138A46490}"/>
              </a:ext>
            </a:extLst>
          </p:cNvPr>
          <p:cNvSpPr/>
          <p:nvPr/>
        </p:nvSpPr>
        <p:spPr>
          <a:xfrm>
            <a:off x="4346713" y="3633849"/>
            <a:ext cx="2001078" cy="447260"/>
          </a:xfrm>
          <a:prstGeom prst="ellipse">
            <a:avLst/>
          </a:prstGeom>
          <a:noFill/>
          <a:ln w="57150">
            <a:solidFill>
              <a:srgbClr val="FF0000"/>
            </a:solid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fi-FI"/>
          </a:p>
        </p:txBody>
      </p:sp>
      <p:cxnSp>
        <p:nvCxnSpPr>
          <p:cNvPr id="10" name="Suora nuoliyhdysviiva 9">
            <a:extLst>
              <a:ext uri="{FF2B5EF4-FFF2-40B4-BE49-F238E27FC236}">
                <a16:creationId xmlns:a16="http://schemas.microsoft.com/office/drawing/2014/main" id="{1B59953B-B5B0-DB45-80E3-3A108F46BB16}"/>
              </a:ext>
            </a:extLst>
          </p:cNvPr>
          <p:cNvCxnSpPr>
            <a:cxnSpLocks/>
            <a:endCxn id="8" idx="0"/>
          </p:cNvCxnSpPr>
          <p:nvPr/>
        </p:nvCxnSpPr>
        <p:spPr>
          <a:xfrm>
            <a:off x="4823753" y="2067341"/>
            <a:ext cx="523499" cy="1566508"/>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11" name="Kuva 10">
            <a:extLst>
              <a:ext uri="{FF2B5EF4-FFF2-40B4-BE49-F238E27FC236}">
                <a16:creationId xmlns:a16="http://schemas.microsoft.com/office/drawing/2014/main" id="{5086DADB-2730-9A4D-B460-861F732A8D1B}"/>
              </a:ext>
            </a:extLst>
          </p:cNvPr>
          <p:cNvPicPr>
            <a:picLocks noChangeAspect="1"/>
          </p:cNvPicPr>
          <p:nvPr/>
        </p:nvPicPr>
        <p:blipFill>
          <a:blip r:embed="rId4"/>
          <a:stretch>
            <a:fillRect/>
          </a:stretch>
        </p:blipFill>
        <p:spPr>
          <a:xfrm>
            <a:off x="1091924" y="4771767"/>
            <a:ext cx="3822700" cy="419100"/>
          </a:xfrm>
          <a:prstGeom prst="rect">
            <a:avLst/>
          </a:prstGeom>
        </p:spPr>
      </p:pic>
      <p:sp>
        <p:nvSpPr>
          <p:cNvPr id="12" name="Ellipsi 11">
            <a:extLst>
              <a:ext uri="{FF2B5EF4-FFF2-40B4-BE49-F238E27FC236}">
                <a16:creationId xmlns:a16="http://schemas.microsoft.com/office/drawing/2014/main" id="{DC176245-376A-1643-820B-21F34A655F00}"/>
              </a:ext>
            </a:extLst>
          </p:cNvPr>
          <p:cNvSpPr/>
          <p:nvPr/>
        </p:nvSpPr>
        <p:spPr>
          <a:xfrm>
            <a:off x="1091924" y="4760104"/>
            <a:ext cx="546652" cy="447260"/>
          </a:xfrm>
          <a:prstGeom prst="ellipse">
            <a:avLst/>
          </a:prstGeom>
          <a:noFill/>
          <a:ln w="57150">
            <a:solidFill>
              <a:srgbClr val="0010D8"/>
            </a:solid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fi-FI" dirty="0"/>
          </a:p>
        </p:txBody>
      </p:sp>
      <p:pic>
        <p:nvPicPr>
          <p:cNvPr id="13" name="Kuva 12">
            <a:extLst>
              <a:ext uri="{FF2B5EF4-FFF2-40B4-BE49-F238E27FC236}">
                <a16:creationId xmlns:a16="http://schemas.microsoft.com/office/drawing/2014/main" id="{41EA5D54-87E9-81EF-127F-DB8A01FAE961}"/>
              </a:ext>
            </a:extLst>
          </p:cNvPr>
          <p:cNvPicPr>
            <a:picLocks noChangeAspect="1"/>
          </p:cNvPicPr>
          <p:nvPr/>
        </p:nvPicPr>
        <p:blipFill>
          <a:blip r:embed="rId5"/>
          <a:stretch>
            <a:fillRect/>
          </a:stretch>
        </p:blipFill>
        <p:spPr>
          <a:xfrm>
            <a:off x="2812506" y="827356"/>
            <a:ext cx="3587934" cy="387370"/>
          </a:xfrm>
          <a:prstGeom prst="rect">
            <a:avLst/>
          </a:prstGeom>
        </p:spPr>
      </p:pic>
      <p:pic>
        <p:nvPicPr>
          <p:cNvPr id="5" name="Kuva 4">
            <a:extLst>
              <a:ext uri="{FF2B5EF4-FFF2-40B4-BE49-F238E27FC236}">
                <a16:creationId xmlns:a16="http://schemas.microsoft.com/office/drawing/2014/main" id="{A8BE58F0-858E-FB2B-61D3-B51B764A83B6}"/>
              </a:ext>
            </a:extLst>
          </p:cNvPr>
          <p:cNvPicPr>
            <a:picLocks noChangeAspect="1"/>
          </p:cNvPicPr>
          <p:nvPr/>
        </p:nvPicPr>
        <p:blipFill>
          <a:blip r:embed="rId6"/>
          <a:stretch>
            <a:fillRect/>
          </a:stretch>
        </p:blipFill>
        <p:spPr>
          <a:xfrm>
            <a:off x="5946996" y="5324940"/>
            <a:ext cx="2140060" cy="558829"/>
          </a:xfrm>
          <a:prstGeom prst="rect">
            <a:avLst/>
          </a:prstGeom>
        </p:spPr>
      </p:pic>
    </p:spTree>
    <p:extLst>
      <p:ext uri="{BB962C8B-B14F-4D97-AF65-F5344CB8AC3E}">
        <p14:creationId xmlns:p14="http://schemas.microsoft.com/office/powerpoint/2010/main" val="2659675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8753E4F5-4715-CC4D-8BB1-ABBC4DD56527}"/>
              </a:ext>
            </a:extLst>
          </p:cNvPr>
          <p:cNvSpPr>
            <a:spLocks noGrp="1"/>
          </p:cNvSpPr>
          <p:nvPr>
            <p:ph type="title"/>
          </p:nvPr>
        </p:nvSpPr>
        <p:spPr>
          <a:xfrm>
            <a:off x="791918" y="129863"/>
            <a:ext cx="8063670" cy="615572"/>
          </a:xfrm>
        </p:spPr>
        <p:txBody>
          <a:bodyPr/>
          <a:lstStyle/>
          <a:p>
            <a:r>
              <a:rPr lang="fi-FI" dirty="0"/>
              <a:t>Ensimmäinen C# ohjelmamme</a:t>
            </a:r>
          </a:p>
        </p:txBody>
      </p:sp>
      <p:sp>
        <p:nvSpPr>
          <p:cNvPr id="6" name="Sisällön paikkamerkki 5">
            <a:extLst>
              <a:ext uri="{FF2B5EF4-FFF2-40B4-BE49-F238E27FC236}">
                <a16:creationId xmlns:a16="http://schemas.microsoft.com/office/drawing/2014/main" id="{A4989858-8CFC-3046-B23D-AEAC78685EF1}"/>
              </a:ext>
            </a:extLst>
          </p:cNvPr>
          <p:cNvSpPr>
            <a:spLocks noGrp="1"/>
          </p:cNvSpPr>
          <p:nvPr>
            <p:ph sz="quarter" idx="12"/>
          </p:nvPr>
        </p:nvSpPr>
        <p:spPr>
          <a:xfrm>
            <a:off x="791918" y="745435"/>
            <a:ext cx="8063670" cy="5982702"/>
          </a:xfrm>
        </p:spPr>
        <p:txBody>
          <a:bodyPr/>
          <a:lstStyle/>
          <a:p>
            <a:r>
              <a:rPr lang="fi-FI" dirty="0"/>
              <a:t>Käydäänpä läpi rivi riviltä, mitä tuossa</a:t>
            </a:r>
            <a:br>
              <a:rPr lang="fi-FI" dirty="0"/>
            </a:br>
            <a:r>
              <a:rPr lang="fi-FI" dirty="0"/>
              <a:t>vieressä oikein on ja sen jälkeen </a:t>
            </a:r>
            <a:r>
              <a:rPr lang="fi-FI" dirty="0" err="1"/>
              <a:t>kat</a:t>
            </a:r>
            <a:r>
              <a:rPr lang="fi-FI" dirty="0"/>
              <a:t>-</a:t>
            </a:r>
            <a:br>
              <a:rPr lang="fi-FI" dirty="0"/>
            </a:br>
            <a:r>
              <a:rPr lang="fi-FI" dirty="0"/>
              <a:t>sotaan, mitä tapahtuu, kun ajetaan</a:t>
            </a:r>
            <a:br>
              <a:rPr lang="fi-FI" dirty="0"/>
            </a:br>
            <a:r>
              <a:rPr lang="fi-FI" dirty="0"/>
              <a:t>tuo ohjelma</a:t>
            </a:r>
          </a:p>
          <a:p>
            <a:r>
              <a:rPr lang="fi-FI" dirty="0"/>
              <a:t>Ensimmäisellä rivillä kerrotaan, että</a:t>
            </a:r>
            <a:br>
              <a:rPr lang="fi-FI" dirty="0"/>
            </a:br>
            <a:r>
              <a:rPr lang="fi-FI" dirty="0"/>
              <a:t>otamme käyttöön kirjaston nimeltä</a:t>
            </a:r>
            <a:br>
              <a:rPr lang="fi-FI" dirty="0"/>
            </a:br>
            <a:r>
              <a:rPr lang="fi-FI" dirty="0"/>
              <a:t>System. Ilman tuota kirjastoa, emme</a:t>
            </a:r>
            <a:br>
              <a:rPr lang="fi-FI" dirty="0"/>
            </a:br>
            <a:r>
              <a:rPr lang="fi-FI" dirty="0"/>
              <a:t>voisi käyttää Console-oliota ja sen</a:t>
            </a:r>
            <a:br>
              <a:rPr lang="fi-FI" dirty="0"/>
            </a:br>
            <a:r>
              <a:rPr lang="fi-FI" dirty="0"/>
              <a:t>funktiota </a:t>
            </a:r>
            <a:r>
              <a:rPr lang="fi-FI" dirty="0" err="1"/>
              <a:t>WriteLine</a:t>
            </a:r>
            <a:r>
              <a:rPr lang="fi-FI" dirty="0"/>
              <a:t>, joka on vain yksi</a:t>
            </a:r>
            <a:br>
              <a:rPr lang="fi-FI" dirty="0"/>
            </a:br>
            <a:r>
              <a:rPr lang="fi-FI" dirty="0"/>
              <a:t>tuon kirjaston monista toiminnoista</a:t>
            </a:r>
          </a:p>
          <a:p>
            <a:r>
              <a:rPr lang="fi-FI" dirty="0"/>
              <a:t>Kolmannella rivillä kerromme, että meillä on käytössä nimiavaruus nimeltä </a:t>
            </a:r>
            <a:r>
              <a:rPr lang="fi-FI" dirty="0" err="1"/>
              <a:t>EkaProjektini</a:t>
            </a:r>
            <a:r>
              <a:rPr lang="fi-FI" dirty="0"/>
              <a:t>. Tämä on tärkeä sen takia, että tämän nimiavaruuden sisällä voimme kutsua muita luokkia ja niiden olioita vapaasti ilman, että meidän täytyy käyttää tuota </a:t>
            </a:r>
            <a:r>
              <a:rPr lang="fi-FI" dirty="0" err="1"/>
              <a:t>using</a:t>
            </a:r>
            <a:r>
              <a:rPr lang="fi-FI" dirty="0"/>
              <a:t>-komentoa</a:t>
            </a:r>
          </a:p>
          <a:p>
            <a:r>
              <a:rPr lang="fi-FI" dirty="0"/>
              <a:t>Viidennellä riville määrittelemme luokan Program. Yksinkertaisuudessaan</a:t>
            </a:r>
            <a:br>
              <a:rPr lang="fi-FI" dirty="0"/>
            </a:br>
            <a:r>
              <a:rPr lang="fi-FI" dirty="0"/>
              <a:t>määrittely sisältää komennon </a:t>
            </a:r>
            <a:r>
              <a:rPr lang="fi-FI" dirty="0" err="1"/>
              <a:t>class</a:t>
            </a:r>
            <a:r>
              <a:rPr lang="fi-FI" dirty="0"/>
              <a:t> ja luokan nimen, joka voi olla mikä</a:t>
            </a:r>
            <a:br>
              <a:rPr lang="fi-FI" dirty="0"/>
            </a:br>
            <a:r>
              <a:rPr lang="fi-FI" dirty="0"/>
              <a:t>tahansa, mutta huomaa, että se alkaa ISOLLA kirjaimella</a:t>
            </a:r>
          </a:p>
          <a:p>
            <a:r>
              <a:rPr lang="fi-FI" dirty="0"/>
              <a:t>Seitsemännellä rivillä määrittelemme metodin Main(), joka on ohjelman</a:t>
            </a:r>
            <a:br>
              <a:rPr lang="fi-FI" dirty="0"/>
            </a:br>
            <a:r>
              <a:rPr lang="fi-FI" dirty="0"/>
              <a:t>aloituskohta. Jokainen C#-ohjelma alkaa Main()-metodin</a:t>
            </a:r>
            <a:br>
              <a:rPr lang="fi-FI" dirty="0"/>
            </a:br>
            <a:r>
              <a:rPr lang="fi-FI" dirty="0"/>
              <a:t>sisältä. </a:t>
            </a:r>
          </a:p>
        </p:txBody>
      </p:sp>
      <p:pic>
        <p:nvPicPr>
          <p:cNvPr id="8" name="Kuva 7">
            <a:extLst>
              <a:ext uri="{FF2B5EF4-FFF2-40B4-BE49-F238E27FC236}">
                <a16:creationId xmlns:a16="http://schemas.microsoft.com/office/drawing/2014/main" id="{1E4307E1-19BF-4340-B3E5-CD4FC1F66BAA}"/>
              </a:ext>
            </a:extLst>
          </p:cNvPr>
          <p:cNvPicPr>
            <a:picLocks noChangeAspect="1"/>
          </p:cNvPicPr>
          <p:nvPr/>
        </p:nvPicPr>
        <p:blipFill>
          <a:blip r:embed="rId2"/>
          <a:stretch>
            <a:fillRect/>
          </a:stretch>
        </p:blipFill>
        <p:spPr>
          <a:xfrm>
            <a:off x="4707935" y="745435"/>
            <a:ext cx="4267099" cy="2411449"/>
          </a:xfrm>
          <a:prstGeom prst="rect">
            <a:avLst/>
          </a:prstGeom>
        </p:spPr>
      </p:pic>
    </p:spTree>
    <p:extLst>
      <p:ext uri="{BB962C8B-B14F-4D97-AF65-F5344CB8AC3E}">
        <p14:creationId xmlns:p14="http://schemas.microsoft.com/office/powerpoint/2010/main" val="2669139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A8C50931-A031-6F4B-AA9F-65416B8ABFE2}"/>
              </a:ext>
            </a:extLst>
          </p:cNvPr>
          <p:cNvSpPr>
            <a:spLocks noGrp="1"/>
          </p:cNvSpPr>
          <p:nvPr>
            <p:ph type="title"/>
          </p:nvPr>
        </p:nvSpPr>
        <p:spPr>
          <a:xfrm>
            <a:off x="791918" y="129863"/>
            <a:ext cx="8063670" cy="585754"/>
          </a:xfrm>
        </p:spPr>
        <p:txBody>
          <a:bodyPr/>
          <a:lstStyle/>
          <a:p>
            <a:r>
              <a:rPr lang="fi-FI" dirty="0"/>
              <a:t>Ensimmäinen C#-ohjelmamme</a:t>
            </a:r>
          </a:p>
        </p:txBody>
      </p:sp>
      <p:sp>
        <p:nvSpPr>
          <p:cNvPr id="3" name="Sisällön paikkamerkki 2">
            <a:extLst>
              <a:ext uri="{FF2B5EF4-FFF2-40B4-BE49-F238E27FC236}">
                <a16:creationId xmlns:a16="http://schemas.microsoft.com/office/drawing/2014/main" id="{AE87FE4D-632A-DB42-A7C3-28C7EA18F0C8}"/>
              </a:ext>
            </a:extLst>
          </p:cNvPr>
          <p:cNvSpPr>
            <a:spLocks noGrp="1"/>
          </p:cNvSpPr>
          <p:nvPr>
            <p:ph sz="quarter" idx="12"/>
          </p:nvPr>
        </p:nvSpPr>
        <p:spPr>
          <a:xfrm>
            <a:off x="791918" y="715618"/>
            <a:ext cx="8063670" cy="6012520"/>
          </a:xfrm>
        </p:spPr>
        <p:txBody>
          <a:bodyPr/>
          <a:lstStyle/>
          <a:p>
            <a:r>
              <a:rPr lang="fi-FI" dirty="0"/>
              <a:t>Main-metodi pitää myös aina määritellä, kuten kuvassa näkyy, eli sen pitää olla staattinen ja se ei saa palauttaa mitään (</a:t>
            </a:r>
            <a:r>
              <a:rPr lang="fi-FI" dirty="0" err="1"/>
              <a:t>void</a:t>
            </a:r>
            <a:r>
              <a:rPr lang="fi-FI" dirty="0"/>
              <a:t>) ja sen nimi pitää olla Main ja sillä pitää olla ainoastaan yksi parametri (</a:t>
            </a:r>
            <a:r>
              <a:rPr lang="fi-FI" dirty="0" err="1"/>
              <a:t>args</a:t>
            </a:r>
            <a:r>
              <a:rPr lang="fi-FI" dirty="0"/>
              <a:t> – voi olla myös muun niminen), joka on tyyppiä merkkijonotaulukko (</a:t>
            </a:r>
            <a:r>
              <a:rPr lang="fi-FI" dirty="0" err="1"/>
              <a:t>string</a:t>
            </a:r>
            <a:r>
              <a:rPr lang="fi-FI" dirty="0"/>
              <a:t>[]). Tuota parametria ei yleensä käytetä, eli se on valinnainen, joten saman voi kirjoittaa myös ilman sitä:</a:t>
            </a:r>
          </a:p>
          <a:p>
            <a:r>
              <a:rPr lang="fi-FI" dirty="0"/>
              <a:t>Main-metodin sisältö on aina aaltosulkujen sisällä, mutta mitä siellä on, riippuu aina ohjelmasta. Meidän ohjelmassa siellä on:</a:t>
            </a:r>
          </a:p>
          <a:p>
            <a:endParaRPr lang="fi-FI" dirty="0"/>
          </a:p>
          <a:p>
            <a:r>
              <a:rPr lang="fi-FI" dirty="0"/>
              <a:t>Joka vapaasti suomennettuna tarkoittaa, kirjoita konsoliin rivi ja sen jälkeen on, mitä pitää kirjoittaa konsoliin </a:t>
            </a:r>
          </a:p>
          <a:p>
            <a:r>
              <a:rPr lang="fi-FI" dirty="0"/>
              <a:t>Aikaisemmassa kurssissamme, opimme JavaScriptiä ja tällöin selain tulkitsi koodin sitä mukaan, kun sitä tuli palvelimelta.</a:t>
            </a:r>
          </a:p>
          <a:p>
            <a:r>
              <a:rPr lang="fi-FI" dirty="0"/>
              <a:t>Korkeamman tason kielissä näin ei kuitenkaan toimita, vaan ohjelma ensin käännetään konekielelle ja vasta sitten ajetaan.</a:t>
            </a:r>
          </a:p>
          <a:p>
            <a:r>
              <a:rPr lang="fi-FI" dirty="0"/>
              <a:t>Kääntämisvaiheessa ohjelma tarkastaa, onko koodissa virheitä ja </a:t>
            </a:r>
            <a:br>
              <a:rPr lang="fi-FI" dirty="0"/>
            </a:br>
            <a:r>
              <a:rPr lang="fi-FI" dirty="0"/>
              <a:t>ilmoittaa virheistä ja kieltäytyy ajamasta koodia, jos virheitä löytyy.</a:t>
            </a:r>
          </a:p>
          <a:p>
            <a:r>
              <a:rPr lang="fi-FI" dirty="0"/>
              <a:t>Meidän tapauksessa virheitä ei ole, joten </a:t>
            </a:r>
          </a:p>
        </p:txBody>
      </p:sp>
      <p:pic>
        <p:nvPicPr>
          <p:cNvPr id="4" name="Kuva 3">
            <a:extLst>
              <a:ext uri="{FF2B5EF4-FFF2-40B4-BE49-F238E27FC236}">
                <a16:creationId xmlns:a16="http://schemas.microsoft.com/office/drawing/2014/main" id="{A646EC5E-8BBE-3B44-A3AB-C7070A8A2FD8}"/>
              </a:ext>
            </a:extLst>
          </p:cNvPr>
          <p:cNvPicPr>
            <a:picLocks noChangeAspect="1"/>
          </p:cNvPicPr>
          <p:nvPr/>
        </p:nvPicPr>
        <p:blipFill>
          <a:blip r:embed="rId2"/>
          <a:stretch>
            <a:fillRect/>
          </a:stretch>
        </p:blipFill>
        <p:spPr>
          <a:xfrm>
            <a:off x="6205782" y="1800363"/>
            <a:ext cx="2146300" cy="215900"/>
          </a:xfrm>
          <a:prstGeom prst="rect">
            <a:avLst/>
          </a:prstGeom>
        </p:spPr>
      </p:pic>
      <p:pic>
        <p:nvPicPr>
          <p:cNvPr id="5" name="Kuva 4">
            <a:extLst>
              <a:ext uri="{FF2B5EF4-FFF2-40B4-BE49-F238E27FC236}">
                <a16:creationId xmlns:a16="http://schemas.microsoft.com/office/drawing/2014/main" id="{AAC836C7-D878-B344-8111-395165F8B83D}"/>
              </a:ext>
            </a:extLst>
          </p:cNvPr>
          <p:cNvPicPr>
            <a:picLocks noChangeAspect="1"/>
          </p:cNvPicPr>
          <p:nvPr/>
        </p:nvPicPr>
        <p:blipFill>
          <a:blip r:embed="rId3"/>
          <a:stretch>
            <a:fillRect/>
          </a:stretch>
        </p:blipFill>
        <p:spPr>
          <a:xfrm>
            <a:off x="1225550" y="2685774"/>
            <a:ext cx="3949700" cy="254000"/>
          </a:xfrm>
          <a:prstGeom prst="rect">
            <a:avLst/>
          </a:prstGeom>
        </p:spPr>
      </p:pic>
      <p:pic>
        <p:nvPicPr>
          <p:cNvPr id="6" name="Kuva 5">
            <a:extLst>
              <a:ext uri="{FF2B5EF4-FFF2-40B4-BE49-F238E27FC236}">
                <a16:creationId xmlns:a16="http://schemas.microsoft.com/office/drawing/2014/main" id="{1251C150-07F0-8C4B-A446-7A036C24929D}"/>
              </a:ext>
            </a:extLst>
          </p:cNvPr>
          <p:cNvPicPr>
            <a:picLocks noChangeAspect="1"/>
          </p:cNvPicPr>
          <p:nvPr/>
        </p:nvPicPr>
        <p:blipFill>
          <a:blip r:embed="rId4"/>
          <a:stretch>
            <a:fillRect/>
          </a:stretch>
        </p:blipFill>
        <p:spPr>
          <a:xfrm>
            <a:off x="4985026" y="5384800"/>
            <a:ext cx="1320800" cy="203200"/>
          </a:xfrm>
          <a:prstGeom prst="rect">
            <a:avLst/>
          </a:prstGeom>
        </p:spPr>
      </p:pic>
      <p:pic>
        <p:nvPicPr>
          <p:cNvPr id="7" name="Kuva 6">
            <a:extLst>
              <a:ext uri="{FF2B5EF4-FFF2-40B4-BE49-F238E27FC236}">
                <a16:creationId xmlns:a16="http://schemas.microsoft.com/office/drawing/2014/main" id="{181CCD7E-E8F2-0D43-BEFC-FDA03D5967D2}"/>
              </a:ext>
            </a:extLst>
          </p:cNvPr>
          <p:cNvPicPr>
            <a:picLocks noChangeAspect="1"/>
          </p:cNvPicPr>
          <p:nvPr/>
        </p:nvPicPr>
        <p:blipFill>
          <a:blip r:embed="rId5"/>
          <a:stretch>
            <a:fillRect/>
          </a:stretch>
        </p:blipFill>
        <p:spPr>
          <a:xfrm>
            <a:off x="1146313" y="5605619"/>
            <a:ext cx="7010400" cy="368300"/>
          </a:xfrm>
          <a:prstGeom prst="rect">
            <a:avLst/>
          </a:prstGeom>
        </p:spPr>
      </p:pic>
      <p:pic>
        <p:nvPicPr>
          <p:cNvPr id="8" name="Kuva 7">
            <a:extLst>
              <a:ext uri="{FF2B5EF4-FFF2-40B4-BE49-F238E27FC236}">
                <a16:creationId xmlns:a16="http://schemas.microsoft.com/office/drawing/2014/main" id="{F0C785E5-2C3E-F745-91DC-30C8BA673A83}"/>
              </a:ext>
            </a:extLst>
          </p:cNvPr>
          <p:cNvPicPr>
            <a:picLocks noChangeAspect="1"/>
          </p:cNvPicPr>
          <p:nvPr/>
        </p:nvPicPr>
        <p:blipFill>
          <a:blip r:embed="rId6"/>
          <a:stretch>
            <a:fillRect/>
          </a:stretch>
        </p:blipFill>
        <p:spPr>
          <a:xfrm>
            <a:off x="1225550" y="6084328"/>
            <a:ext cx="3073400" cy="533400"/>
          </a:xfrm>
          <a:prstGeom prst="rect">
            <a:avLst/>
          </a:prstGeom>
        </p:spPr>
      </p:pic>
    </p:spTree>
    <p:extLst>
      <p:ext uri="{BB962C8B-B14F-4D97-AF65-F5344CB8AC3E}">
        <p14:creationId xmlns:p14="http://schemas.microsoft.com/office/powerpoint/2010/main" val="4710136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54F7EA87-81F6-8742-A139-0E96C2DA6FAF}"/>
              </a:ext>
            </a:extLst>
          </p:cNvPr>
          <p:cNvSpPr>
            <a:spLocks noGrp="1"/>
          </p:cNvSpPr>
          <p:nvPr>
            <p:ph type="title"/>
          </p:nvPr>
        </p:nvSpPr>
        <p:spPr>
          <a:xfrm>
            <a:off x="791918" y="129863"/>
            <a:ext cx="8063670" cy="595694"/>
          </a:xfrm>
        </p:spPr>
        <p:txBody>
          <a:bodyPr/>
          <a:lstStyle/>
          <a:p>
            <a:r>
              <a:rPr lang="fi-FI" dirty="0"/>
              <a:t>Muotoilusta</a:t>
            </a:r>
          </a:p>
        </p:txBody>
      </p:sp>
      <p:sp>
        <p:nvSpPr>
          <p:cNvPr id="3" name="Sisällön paikkamerkki 2">
            <a:extLst>
              <a:ext uri="{FF2B5EF4-FFF2-40B4-BE49-F238E27FC236}">
                <a16:creationId xmlns:a16="http://schemas.microsoft.com/office/drawing/2014/main" id="{2B046D7F-3515-3C43-8FF2-09AE69ECDD3A}"/>
              </a:ext>
            </a:extLst>
          </p:cNvPr>
          <p:cNvSpPr>
            <a:spLocks noGrp="1"/>
          </p:cNvSpPr>
          <p:nvPr>
            <p:ph sz="quarter" idx="12"/>
          </p:nvPr>
        </p:nvSpPr>
        <p:spPr>
          <a:xfrm>
            <a:off x="791918" y="725558"/>
            <a:ext cx="8063670" cy="6002580"/>
          </a:xfrm>
        </p:spPr>
        <p:txBody>
          <a:bodyPr/>
          <a:lstStyle/>
          <a:p>
            <a:r>
              <a:rPr lang="fi-FI" dirty="0"/>
              <a:t>Ohjelmointikielet ovat ERITTÄIN tarkkoja siitä, miten asiat kirjoitetaan, jonka varmasti olet jo huomannut JavaScript-kurssin aikana, eli pienikin virhe aiheuttaa sen, että ohjelma ei toimi</a:t>
            </a:r>
          </a:p>
          <a:p>
            <a:r>
              <a:rPr lang="fi-FI" dirty="0"/>
              <a:t>Yksi tärkeimmistä säännöistä on se, että ISOT ja pienet kirjaimet ovat eri asia, eli esimerkiksi Esimerkki ja </a:t>
            </a:r>
            <a:r>
              <a:rPr lang="fi-FI" dirty="0" err="1"/>
              <a:t>EsiMerkki</a:t>
            </a:r>
            <a:r>
              <a:rPr lang="fi-FI" dirty="0"/>
              <a:t> eivät ole sama asia, koska toisessa M-kirjain on isolla</a:t>
            </a:r>
          </a:p>
          <a:p>
            <a:r>
              <a:rPr lang="fi-FI" dirty="0"/>
              <a:t>Kuitenkin välilyönnit ja tabulaattorit ohjelma </a:t>
            </a:r>
            <a:br>
              <a:rPr lang="fi-FI" dirty="0"/>
            </a:br>
            <a:r>
              <a:rPr lang="fi-FI" dirty="0"/>
              <a:t>automaattisesti ohittaa, eli vaikka onkin järkevää sisentää </a:t>
            </a:r>
            <a:br>
              <a:rPr lang="fi-FI" dirty="0"/>
            </a:br>
            <a:r>
              <a:rPr lang="fi-FI" dirty="0"/>
              <a:t>koodi, jotta sitä on helpompi lukea, tuon dian 3 koodin</a:t>
            </a:r>
            <a:br>
              <a:rPr lang="fi-FI" dirty="0"/>
            </a:br>
            <a:r>
              <a:rPr lang="fi-FI" dirty="0"/>
              <a:t>voi kirjoittaa myös näin, eikä ohjelman suoritus muutu</a:t>
            </a:r>
          </a:p>
          <a:p>
            <a:endParaRPr lang="fi-FI" dirty="0"/>
          </a:p>
          <a:p>
            <a:endParaRPr lang="fi-FI" dirty="0"/>
          </a:p>
          <a:p>
            <a:endParaRPr lang="fi-FI" dirty="0"/>
          </a:p>
          <a:p>
            <a:r>
              <a:rPr lang="fi-FI" dirty="0"/>
              <a:t>Pitäydy kuitenkin siinä, että sisennät aina kaiken</a:t>
            </a:r>
          </a:p>
          <a:p>
            <a:r>
              <a:rPr lang="fi-FI" dirty="0"/>
              <a:t>Luokkien ja Metodien nimet kirjoitetaan aina Isolla alkukirjaimella</a:t>
            </a:r>
          </a:p>
          <a:p>
            <a:r>
              <a:rPr lang="fi-FI" dirty="0"/>
              <a:t>Muuttujien nimet kirjoitetaan aina pienellä alkukirjaimella</a:t>
            </a:r>
          </a:p>
        </p:txBody>
      </p:sp>
      <p:pic>
        <p:nvPicPr>
          <p:cNvPr id="4" name="Kuva 3">
            <a:extLst>
              <a:ext uri="{FF2B5EF4-FFF2-40B4-BE49-F238E27FC236}">
                <a16:creationId xmlns:a16="http://schemas.microsoft.com/office/drawing/2014/main" id="{2B23BB9F-B610-D84C-880F-3E8D779F6803}"/>
              </a:ext>
            </a:extLst>
          </p:cNvPr>
          <p:cNvPicPr>
            <a:picLocks noChangeAspect="1"/>
          </p:cNvPicPr>
          <p:nvPr/>
        </p:nvPicPr>
        <p:blipFill>
          <a:blip r:embed="rId2"/>
          <a:stretch>
            <a:fillRect/>
          </a:stretch>
        </p:blipFill>
        <p:spPr>
          <a:xfrm>
            <a:off x="6432126" y="2256183"/>
            <a:ext cx="2602367" cy="1470665"/>
          </a:xfrm>
          <a:prstGeom prst="rect">
            <a:avLst/>
          </a:prstGeom>
        </p:spPr>
      </p:pic>
      <p:pic>
        <p:nvPicPr>
          <p:cNvPr id="5" name="Kuva 4">
            <a:extLst>
              <a:ext uri="{FF2B5EF4-FFF2-40B4-BE49-F238E27FC236}">
                <a16:creationId xmlns:a16="http://schemas.microsoft.com/office/drawing/2014/main" id="{AA683A91-5D0B-2F49-9790-E85104B982A2}"/>
              </a:ext>
            </a:extLst>
          </p:cNvPr>
          <p:cNvPicPr>
            <a:picLocks noChangeAspect="1"/>
          </p:cNvPicPr>
          <p:nvPr/>
        </p:nvPicPr>
        <p:blipFill>
          <a:blip r:embed="rId3"/>
          <a:stretch>
            <a:fillRect/>
          </a:stretch>
        </p:blipFill>
        <p:spPr>
          <a:xfrm>
            <a:off x="1117600" y="3808344"/>
            <a:ext cx="6908800" cy="533400"/>
          </a:xfrm>
          <a:prstGeom prst="rect">
            <a:avLst/>
          </a:prstGeom>
        </p:spPr>
      </p:pic>
    </p:spTree>
    <p:extLst>
      <p:ext uri="{BB962C8B-B14F-4D97-AF65-F5344CB8AC3E}">
        <p14:creationId xmlns:p14="http://schemas.microsoft.com/office/powerpoint/2010/main" val="3100956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C3121950-77EF-264A-94EF-8DEDEF3EDF4E}"/>
              </a:ext>
            </a:extLst>
          </p:cNvPr>
          <p:cNvSpPr>
            <a:spLocks noGrp="1"/>
          </p:cNvSpPr>
          <p:nvPr>
            <p:ph type="title"/>
          </p:nvPr>
        </p:nvSpPr>
        <p:spPr>
          <a:xfrm>
            <a:off x="791918" y="129863"/>
            <a:ext cx="8063670" cy="585754"/>
          </a:xfrm>
        </p:spPr>
        <p:txBody>
          <a:bodyPr/>
          <a:lstStyle/>
          <a:p>
            <a:r>
              <a:rPr lang="fi-FI" dirty="0"/>
              <a:t>C# - avainsanat</a:t>
            </a:r>
          </a:p>
        </p:txBody>
      </p:sp>
      <p:sp>
        <p:nvSpPr>
          <p:cNvPr id="3" name="Sisällön paikkamerkki 2">
            <a:extLst>
              <a:ext uri="{FF2B5EF4-FFF2-40B4-BE49-F238E27FC236}">
                <a16:creationId xmlns:a16="http://schemas.microsoft.com/office/drawing/2014/main" id="{0855ADC6-601E-A149-9DAD-82188FA41BE8}"/>
              </a:ext>
            </a:extLst>
          </p:cNvPr>
          <p:cNvSpPr>
            <a:spLocks noGrp="1"/>
          </p:cNvSpPr>
          <p:nvPr>
            <p:ph sz="quarter" idx="12"/>
          </p:nvPr>
        </p:nvSpPr>
        <p:spPr>
          <a:xfrm>
            <a:off x="791918" y="854766"/>
            <a:ext cx="8063670" cy="5873372"/>
          </a:xfrm>
        </p:spPr>
        <p:txBody>
          <a:bodyPr/>
          <a:lstStyle/>
          <a:p>
            <a:r>
              <a:rPr lang="fi-FI" dirty="0"/>
              <a:t>C#:</a:t>
            </a:r>
            <a:r>
              <a:rPr lang="fi-FI" dirty="0" err="1"/>
              <a:t>ssa</a:t>
            </a:r>
            <a:r>
              <a:rPr lang="fi-FI" dirty="0"/>
              <a:t> on tiettyjä avainsanoja, joita ei voi käyttää muuttujien, luokkien eikä metodien niminä:</a:t>
            </a:r>
          </a:p>
          <a:p>
            <a:endParaRPr lang="fi-FI" dirty="0"/>
          </a:p>
        </p:txBody>
      </p:sp>
      <p:graphicFrame>
        <p:nvGraphicFramePr>
          <p:cNvPr id="4" name="Taulukko 4">
            <a:extLst>
              <a:ext uri="{FF2B5EF4-FFF2-40B4-BE49-F238E27FC236}">
                <a16:creationId xmlns:a16="http://schemas.microsoft.com/office/drawing/2014/main" id="{37DE5DB1-05F6-5640-A66D-FFF59CA9F8A0}"/>
              </a:ext>
            </a:extLst>
          </p:cNvPr>
          <p:cNvGraphicFramePr>
            <a:graphicFrameLocks noGrp="1"/>
          </p:cNvGraphicFramePr>
          <p:nvPr>
            <p:extLst>
              <p:ext uri="{D42A27DB-BD31-4B8C-83A1-F6EECF244321}">
                <p14:modId xmlns:p14="http://schemas.microsoft.com/office/powerpoint/2010/main" val="1139837365"/>
              </p:ext>
            </p:extLst>
          </p:nvPr>
        </p:nvGraphicFramePr>
        <p:xfrm>
          <a:off x="0" y="1619637"/>
          <a:ext cx="9144000" cy="482092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619987752"/>
                    </a:ext>
                  </a:extLst>
                </a:gridCol>
                <a:gridCol w="1524000">
                  <a:extLst>
                    <a:ext uri="{9D8B030D-6E8A-4147-A177-3AD203B41FA5}">
                      <a16:colId xmlns:a16="http://schemas.microsoft.com/office/drawing/2014/main" val="293008166"/>
                    </a:ext>
                  </a:extLst>
                </a:gridCol>
                <a:gridCol w="1524000">
                  <a:extLst>
                    <a:ext uri="{9D8B030D-6E8A-4147-A177-3AD203B41FA5}">
                      <a16:colId xmlns:a16="http://schemas.microsoft.com/office/drawing/2014/main" val="1512255154"/>
                    </a:ext>
                  </a:extLst>
                </a:gridCol>
                <a:gridCol w="1524000">
                  <a:extLst>
                    <a:ext uri="{9D8B030D-6E8A-4147-A177-3AD203B41FA5}">
                      <a16:colId xmlns:a16="http://schemas.microsoft.com/office/drawing/2014/main" val="1348210861"/>
                    </a:ext>
                  </a:extLst>
                </a:gridCol>
                <a:gridCol w="1524000">
                  <a:extLst>
                    <a:ext uri="{9D8B030D-6E8A-4147-A177-3AD203B41FA5}">
                      <a16:colId xmlns:a16="http://schemas.microsoft.com/office/drawing/2014/main" val="2159310371"/>
                    </a:ext>
                  </a:extLst>
                </a:gridCol>
                <a:gridCol w="1524000">
                  <a:extLst>
                    <a:ext uri="{9D8B030D-6E8A-4147-A177-3AD203B41FA5}">
                      <a16:colId xmlns:a16="http://schemas.microsoft.com/office/drawing/2014/main" val="1939930619"/>
                    </a:ext>
                  </a:extLst>
                </a:gridCol>
              </a:tblGrid>
              <a:tr h="370840">
                <a:tc>
                  <a:txBody>
                    <a:bodyPr/>
                    <a:lstStyle/>
                    <a:p>
                      <a:pPr marL="0" algn="l" defTabSz="457200" rtl="0" eaLnBrk="1" latinLnBrk="0" hangingPunct="1"/>
                      <a:r>
                        <a:rPr lang="fi-FI" sz="1800" b="1" kern="1200" dirty="0" err="1">
                          <a:solidFill>
                            <a:schemeClr val="dk1"/>
                          </a:solidFill>
                          <a:effectLst/>
                          <a:latin typeface="Helvetica" pitchFamily="2" charset="0"/>
                          <a:ea typeface="+mn-ea"/>
                          <a:cs typeface="+mn-cs"/>
                        </a:rPr>
                        <a:t>abstract</a:t>
                      </a:r>
                      <a:r>
                        <a:rPr lang="fi-FI" sz="1800" b="1" kern="1200" dirty="0">
                          <a:solidFill>
                            <a:schemeClr val="dk1"/>
                          </a:solidFill>
                          <a:effectLst/>
                          <a:latin typeface="Helvetica" pitchFamily="2" charset="0"/>
                          <a:ea typeface="+mn-ea"/>
                          <a:cs typeface="+mn-cs"/>
                        </a:rPr>
                        <a:t> </a:t>
                      </a:r>
                    </a:p>
                  </a:txBody>
                  <a:tcPr marL="47625" marR="47625" marT="0" marB="0">
                    <a:solidFill>
                      <a:schemeClr val="accent1">
                        <a:lumMod val="20000"/>
                        <a:lumOff val="80000"/>
                      </a:schemeClr>
                    </a:solidFill>
                  </a:tcPr>
                </a:tc>
                <a:tc>
                  <a:txBody>
                    <a:bodyPr/>
                    <a:lstStyle/>
                    <a:p>
                      <a:pPr marL="0" algn="l" defTabSz="457200" rtl="0" eaLnBrk="1" latinLnBrk="0" hangingPunct="1"/>
                      <a:r>
                        <a:rPr lang="fi-FI" sz="1800" b="1" kern="1200" dirty="0">
                          <a:solidFill>
                            <a:schemeClr val="dk1"/>
                          </a:solidFill>
                          <a:effectLst/>
                          <a:latin typeface="Helvetica" pitchFamily="2" charset="0"/>
                          <a:ea typeface="+mn-ea"/>
                          <a:cs typeface="+mn-cs"/>
                        </a:rPr>
                        <a:t>as </a:t>
                      </a:r>
                    </a:p>
                  </a:txBody>
                  <a:tcPr marL="47625" marR="47625" marT="0" marB="0">
                    <a:solidFill>
                      <a:schemeClr val="accent1">
                        <a:lumMod val="20000"/>
                        <a:lumOff val="80000"/>
                      </a:schemeClr>
                    </a:solidFill>
                  </a:tcPr>
                </a:tc>
                <a:tc>
                  <a:txBody>
                    <a:bodyPr/>
                    <a:lstStyle/>
                    <a:p>
                      <a:pPr marL="0" algn="l" defTabSz="457200" rtl="0" eaLnBrk="1" latinLnBrk="0" hangingPunct="1"/>
                      <a:r>
                        <a:rPr lang="fi-FI" sz="1800" b="1" kern="1200" dirty="0" err="1">
                          <a:solidFill>
                            <a:schemeClr val="dk1"/>
                          </a:solidFill>
                          <a:effectLst/>
                          <a:latin typeface="Helvetica" pitchFamily="2" charset="0"/>
                          <a:ea typeface="+mn-ea"/>
                          <a:cs typeface="+mn-cs"/>
                        </a:rPr>
                        <a:t>base</a:t>
                      </a:r>
                      <a:r>
                        <a:rPr lang="fi-FI" sz="1800" b="1" kern="1200" dirty="0">
                          <a:solidFill>
                            <a:schemeClr val="dk1"/>
                          </a:solidFill>
                          <a:effectLst/>
                          <a:latin typeface="Helvetica" pitchFamily="2" charset="0"/>
                          <a:ea typeface="+mn-ea"/>
                          <a:cs typeface="+mn-cs"/>
                        </a:rPr>
                        <a:t> </a:t>
                      </a:r>
                    </a:p>
                  </a:txBody>
                  <a:tcPr marL="47625" marR="47625" marT="0" marB="0">
                    <a:solidFill>
                      <a:schemeClr val="accent1">
                        <a:lumMod val="20000"/>
                        <a:lumOff val="80000"/>
                      </a:schemeClr>
                    </a:solidFill>
                  </a:tcPr>
                </a:tc>
                <a:tc>
                  <a:txBody>
                    <a:bodyPr/>
                    <a:lstStyle/>
                    <a:p>
                      <a:pPr marL="0" algn="l" defTabSz="457200" rtl="0" eaLnBrk="1" latinLnBrk="0" hangingPunct="1"/>
                      <a:r>
                        <a:rPr lang="fi-FI" sz="1800" b="1" kern="1200" dirty="0" err="1">
                          <a:solidFill>
                            <a:schemeClr val="dk1"/>
                          </a:solidFill>
                          <a:effectLst/>
                          <a:latin typeface="Helvetica" pitchFamily="2" charset="0"/>
                          <a:ea typeface="+mn-ea"/>
                          <a:cs typeface="+mn-cs"/>
                        </a:rPr>
                        <a:t>bool</a:t>
                      </a:r>
                      <a:r>
                        <a:rPr lang="fi-FI" sz="1800" b="1" kern="1200" dirty="0">
                          <a:solidFill>
                            <a:schemeClr val="dk1"/>
                          </a:solidFill>
                          <a:effectLst/>
                          <a:latin typeface="Helvetica" pitchFamily="2" charset="0"/>
                          <a:ea typeface="+mn-ea"/>
                          <a:cs typeface="+mn-cs"/>
                        </a:rPr>
                        <a:t> </a:t>
                      </a:r>
                    </a:p>
                  </a:txBody>
                  <a:tcPr marL="47625" marR="47625" marT="0" marB="0">
                    <a:solidFill>
                      <a:schemeClr val="accent1">
                        <a:lumMod val="20000"/>
                        <a:lumOff val="80000"/>
                      </a:schemeClr>
                    </a:solidFill>
                  </a:tcPr>
                </a:tc>
                <a:tc>
                  <a:txBody>
                    <a:bodyPr/>
                    <a:lstStyle/>
                    <a:p>
                      <a:pPr marL="0" algn="l" defTabSz="457200" rtl="0" eaLnBrk="1" latinLnBrk="0" hangingPunct="1"/>
                      <a:r>
                        <a:rPr lang="fi-FI" sz="1800" b="1" kern="1200" dirty="0" err="1">
                          <a:solidFill>
                            <a:schemeClr val="dk1"/>
                          </a:solidFill>
                          <a:effectLst/>
                          <a:latin typeface="Helvetica" pitchFamily="2" charset="0"/>
                          <a:ea typeface="+mn-ea"/>
                          <a:cs typeface="+mn-cs"/>
                        </a:rPr>
                        <a:t>break</a:t>
                      </a:r>
                      <a:r>
                        <a:rPr lang="fi-FI" sz="1800" b="1" kern="1200" dirty="0">
                          <a:solidFill>
                            <a:schemeClr val="dk1"/>
                          </a:solidFill>
                          <a:effectLst/>
                          <a:latin typeface="Helvetica" pitchFamily="2" charset="0"/>
                          <a:ea typeface="+mn-ea"/>
                          <a:cs typeface="+mn-cs"/>
                        </a:rPr>
                        <a:t> </a:t>
                      </a:r>
                    </a:p>
                  </a:txBody>
                  <a:tcPr marL="47625" marR="47625" marT="0" marB="0">
                    <a:solidFill>
                      <a:schemeClr val="accent1">
                        <a:lumMod val="20000"/>
                        <a:lumOff val="80000"/>
                      </a:schemeClr>
                    </a:solidFill>
                  </a:tcPr>
                </a:tc>
                <a:tc>
                  <a:txBody>
                    <a:bodyPr/>
                    <a:lstStyle/>
                    <a:p>
                      <a:pPr marL="0" algn="l" defTabSz="457200" rtl="0" eaLnBrk="1" latinLnBrk="0" hangingPunct="1"/>
                      <a:r>
                        <a:rPr lang="fi-FI" sz="1800" b="1" kern="1200" dirty="0" err="1">
                          <a:solidFill>
                            <a:schemeClr val="dk1"/>
                          </a:solidFill>
                          <a:effectLst/>
                          <a:latin typeface="Helvetica" pitchFamily="2" charset="0"/>
                          <a:ea typeface="+mn-ea"/>
                          <a:cs typeface="+mn-cs"/>
                        </a:rPr>
                        <a:t>byte</a:t>
                      </a:r>
                      <a:r>
                        <a:rPr lang="fi-FI" sz="1800" b="1" kern="1200" dirty="0">
                          <a:solidFill>
                            <a:schemeClr val="dk1"/>
                          </a:solidFill>
                          <a:effectLst/>
                          <a:latin typeface="Helvetica" pitchFamily="2" charset="0"/>
                          <a:ea typeface="+mn-ea"/>
                          <a:cs typeface="+mn-cs"/>
                        </a:rPr>
                        <a:t> </a:t>
                      </a:r>
                    </a:p>
                  </a:txBody>
                  <a:tcPr marL="47625" marR="47625" marT="0" marB="0">
                    <a:solidFill>
                      <a:schemeClr val="accent1">
                        <a:lumMod val="20000"/>
                        <a:lumOff val="80000"/>
                      </a:schemeClr>
                    </a:solidFill>
                  </a:tcPr>
                </a:tc>
                <a:extLst>
                  <a:ext uri="{0D108BD9-81ED-4DB2-BD59-A6C34878D82A}">
                    <a16:rowId xmlns:a16="http://schemas.microsoft.com/office/drawing/2014/main" val="1056101161"/>
                  </a:ext>
                </a:extLst>
              </a:tr>
              <a:tr h="370840">
                <a:tc>
                  <a:txBody>
                    <a:bodyPr/>
                    <a:lstStyle/>
                    <a:p>
                      <a:r>
                        <a:rPr lang="fi-FI" b="1">
                          <a:effectLst/>
                          <a:latin typeface="Helvetica" pitchFamily="2" charset="0"/>
                        </a:rPr>
                        <a:t>case </a:t>
                      </a:r>
                      <a:endParaRPr lang="fi-FI">
                        <a:effectLst/>
                        <a:latin typeface="Helvetica" pitchFamily="2" charset="0"/>
                      </a:endParaRPr>
                    </a:p>
                  </a:txBody>
                  <a:tcPr marL="47625" marR="47625" marT="0" marB="0"/>
                </a:tc>
                <a:tc>
                  <a:txBody>
                    <a:bodyPr/>
                    <a:lstStyle/>
                    <a:p>
                      <a:r>
                        <a:rPr lang="fi-FI" b="1">
                          <a:effectLst/>
                          <a:latin typeface="Helvetica" pitchFamily="2" charset="0"/>
                        </a:rPr>
                        <a:t>catch </a:t>
                      </a:r>
                      <a:endParaRPr lang="fi-FI">
                        <a:effectLst/>
                        <a:latin typeface="Helvetica" pitchFamily="2" charset="0"/>
                      </a:endParaRPr>
                    </a:p>
                  </a:txBody>
                  <a:tcPr marL="47625" marR="47625" marT="0" marB="0"/>
                </a:tc>
                <a:tc>
                  <a:txBody>
                    <a:bodyPr/>
                    <a:lstStyle/>
                    <a:p>
                      <a:r>
                        <a:rPr lang="fi-FI" b="1">
                          <a:effectLst/>
                          <a:latin typeface="Helvetica" pitchFamily="2" charset="0"/>
                        </a:rPr>
                        <a:t>char </a:t>
                      </a:r>
                      <a:endParaRPr lang="fi-FI">
                        <a:effectLst/>
                        <a:latin typeface="Helvetica" pitchFamily="2" charset="0"/>
                      </a:endParaRPr>
                    </a:p>
                  </a:txBody>
                  <a:tcPr marL="47625" marR="47625" marT="0" marB="0"/>
                </a:tc>
                <a:tc>
                  <a:txBody>
                    <a:bodyPr/>
                    <a:lstStyle/>
                    <a:p>
                      <a:r>
                        <a:rPr lang="fi-FI" b="1">
                          <a:effectLst/>
                          <a:latin typeface="Helvetica" pitchFamily="2" charset="0"/>
                        </a:rPr>
                        <a:t>checked </a:t>
                      </a:r>
                      <a:endParaRPr lang="fi-FI">
                        <a:effectLst/>
                        <a:latin typeface="Helvetica" pitchFamily="2" charset="0"/>
                      </a:endParaRPr>
                    </a:p>
                  </a:txBody>
                  <a:tcPr marL="47625" marR="47625" marT="0" marB="0"/>
                </a:tc>
                <a:tc>
                  <a:txBody>
                    <a:bodyPr/>
                    <a:lstStyle/>
                    <a:p>
                      <a:r>
                        <a:rPr lang="fi-FI" b="1">
                          <a:effectLst/>
                          <a:latin typeface="Helvetica" pitchFamily="2" charset="0"/>
                        </a:rPr>
                        <a:t>class </a:t>
                      </a:r>
                      <a:endParaRPr lang="fi-FI">
                        <a:effectLst/>
                        <a:latin typeface="Helvetica" pitchFamily="2" charset="0"/>
                      </a:endParaRPr>
                    </a:p>
                  </a:txBody>
                  <a:tcPr marL="47625" marR="47625" marT="0" marB="0"/>
                </a:tc>
                <a:tc>
                  <a:txBody>
                    <a:bodyPr/>
                    <a:lstStyle/>
                    <a:p>
                      <a:r>
                        <a:rPr lang="fi-FI" b="1" dirty="0" err="1">
                          <a:effectLst/>
                          <a:latin typeface="Helvetica" pitchFamily="2" charset="0"/>
                        </a:rPr>
                        <a:t>const</a:t>
                      </a:r>
                      <a:r>
                        <a:rPr lang="fi-FI" b="1" dirty="0">
                          <a:effectLst/>
                          <a:latin typeface="Helvetica" pitchFamily="2" charset="0"/>
                        </a:rPr>
                        <a:t> </a:t>
                      </a:r>
                      <a:endParaRPr lang="fi-FI" dirty="0">
                        <a:effectLst/>
                        <a:latin typeface="Helvetica" pitchFamily="2" charset="0"/>
                      </a:endParaRPr>
                    </a:p>
                  </a:txBody>
                  <a:tcPr marL="47625" marR="47625" marT="0" marB="0"/>
                </a:tc>
                <a:extLst>
                  <a:ext uri="{0D108BD9-81ED-4DB2-BD59-A6C34878D82A}">
                    <a16:rowId xmlns:a16="http://schemas.microsoft.com/office/drawing/2014/main" val="1997285516"/>
                  </a:ext>
                </a:extLst>
              </a:tr>
              <a:tr h="370840">
                <a:tc>
                  <a:txBody>
                    <a:bodyPr/>
                    <a:lstStyle/>
                    <a:p>
                      <a:r>
                        <a:rPr lang="fi-FI" b="1" dirty="0" err="1">
                          <a:effectLst/>
                          <a:latin typeface="Helvetica" pitchFamily="2" charset="0"/>
                        </a:rPr>
                        <a:t>continue</a:t>
                      </a:r>
                      <a:r>
                        <a:rPr lang="fi-FI" b="1" dirty="0">
                          <a:effectLst/>
                          <a:latin typeface="Helvetica" pitchFamily="2" charset="0"/>
                        </a:rPr>
                        <a:t> </a:t>
                      </a:r>
                      <a:endParaRPr lang="fi-FI" dirty="0">
                        <a:effectLst/>
                        <a:latin typeface="Helvetica" pitchFamily="2" charset="0"/>
                      </a:endParaRPr>
                    </a:p>
                  </a:txBody>
                  <a:tcPr marL="47625" marR="47625" marT="0" marB="0"/>
                </a:tc>
                <a:tc>
                  <a:txBody>
                    <a:bodyPr/>
                    <a:lstStyle/>
                    <a:p>
                      <a:r>
                        <a:rPr lang="fi-FI" b="1" dirty="0" err="1">
                          <a:effectLst/>
                          <a:latin typeface="Helvetica" pitchFamily="2" charset="0"/>
                        </a:rPr>
                        <a:t>decimal</a:t>
                      </a:r>
                      <a:r>
                        <a:rPr lang="fi-FI" b="1" dirty="0">
                          <a:effectLst/>
                          <a:latin typeface="Helvetica" pitchFamily="2" charset="0"/>
                        </a:rPr>
                        <a:t> </a:t>
                      </a:r>
                      <a:endParaRPr lang="fi-FI" dirty="0">
                        <a:effectLst/>
                        <a:latin typeface="Helvetica" pitchFamily="2" charset="0"/>
                      </a:endParaRPr>
                    </a:p>
                  </a:txBody>
                  <a:tcPr marL="47625" marR="47625" marT="0" marB="0"/>
                </a:tc>
                <a:tc>
                  <a:txBody>
                    <a:bodyPr/>
                    <a:lstStyle/>
                    <a:p>
                      <a:r>
                        <a:rPr lang="fi-FI" b="1" dirty="0" err="1">
                          <a:effectLst/>
                          <a:latin typeface="Helvetica" pitchFamily="2" charset="0"/>
                        </a:rPr>
                        <a:t>default</a:t>
                      </a:r>
                      <a:r>
                        <a:rPr lang="fi-FI" b="1" dirty="0">
                          <a:effectLst/>
                          <a:latin typeface="Helvetica" pitchFamily="2" charset="0"/>
                        </a:rPr>
                        <a:t> </a:t>
                      </a:r>
                      <a:endParaRPr lang="fi-FI" dirty="0">
                        <a:effectLst/>
                        <a:latin typeface="Helvetica" pitchFamily="2" charset="0"/>
                      </a:endParaRPr>
                    </a:p>
                  </a:txBody>
                  <a:tcPr marL="47625" marR="47625" marT="0" marB="0"/>
                </a:tc>
                <a:tc>
                  <a:txBody>
                    <a:bodyPr/>
                    <a:lstStyle/>
                    <a:p>
                      <a:r>
                        <a:rPr lang="fi-FI" b="1" dirty="0" err="1">
                          <a:effectLst/>
                          <a:latin typeface="Helvetica" pitchFamily="2" charset="0"/>
                        </a:rPr>
                        <a:t>delegate</a:t>
                      </a:r>
                      <a:r>
                        <a:rPr lang="fi-FI" b="1" dirty="0">
                          <a:effectLst/>
                          <a:latin typeface="Helvetica" pitchFamily="2" charset="0"/>
                        </a:rPr>
                        <a:t> </a:t>
                      </a:r>
                      <a:endParaRPr lang="fi-FI" dirty="0">
                        <a:effectLst/>
                        <a:latin typeface="Helvetica" pitchFamily="2" charset="0"/>
                      </a:endParaRPr>
                    </a:p>
                  </a:txBody>
                  <a:tcPr marL="47625" marR="47625" marT="0" marB="0"/>
                </a:tc>
                <a:tc>
                  <a:txBody>
                    <a:bodyPr/>
                    <a:lstStyle/>
                    <a:p>
                      <a:r>
                        <a:rPr lang="fi-FI" b="1" dirty="0" err="1">
                          <a:effectLst/>
                          <a:latin typeface="Helvetica" pitchFamily="2" charset="0"/>
                        </a:rPr>
                        <a:t>do</a:t>
                      </a:r>
                      <a:r>
                        <a:rPr lang="fi-FI" b="1" dirty="0">
                          <a:effectLst/>
                          <a:latin typeface="Helvetica" pitchFamily="2" charset="0"/>
                        </a:rPr>
                        <a:t> </a:t>
                      </a:r>
                      <a:endParaRPr lang="fi-FI" dirty="0">
                        <a:effectLst/>
                        <a:latin typeface="Helvetica" pitchFamily="2" charset="0"/>
                      </a:endParaRPr>
                    </a:p>
                  </a:txBody>
                  <a:tcPr marL="47625" marR="47625" marT="0" marB="0"/>
                </a:tc>
                <a:tc>
                  <a:txBody>
                    <a:bodyPr/>
                    <a:lstStyle/>
                    <a:p>
                      <a:r>
                        <a:rPr lang="fi-FI" b="1" dirty="0" err="1">
                          <a:effectLst/>
                          <a:latin typeface="Helvetica" pitchFamily="2" charset="0"/>
                        </a:rPr>
                        <a:t>double</a:t>
                      </a:r>
                      <a:r>
                        <a:rPr lang="fi-FI" b="1" dirty="0">
                          <a:effectLst/>
                          <a:latin typeface="Helvetica" pitchFamily="2" charset="0"/>
                        </a:rPr>
                        <a:t> </a:t>
                      </a:r>
                      <a:endParaRPr lang="fi-FI" dirty="0">
                        <a:effectLst/>
                        <a:latin typeface="Helvetica" pitchFamily="2" charset="0"/>
                      </a:endParaRPr>
                    </a:p>
                  </a:txBody>
                  <a:tcPr marL="47625" marR="47625" marT="0" marB="0"/>
                </a:tc>
                <a:extLst>
                  <a:ext uri="{0D108BD9-81ED-4DB2-BD59-A6C34878D82A}">
                    <a16:rowId xmlns:a16="http://schemas.microsoft.com/office/drawing/2014/main" val="930845942"/>
                  </a:ext>
                </a:extLst>
              </a:tr>
              <a:tr h="370840">
                <a:tc>
                  <a:txBody>
                    <a:bodyPr/>
                    <a:lstStyle/>
                    <a:p>
                      <a:r>
                        <a:rPr lang="fi-FI" b="1">
                          <a:effectLst/>
                          <a:latin typeface="Helvetica" pitchFamily="2" charset="0"/>
                        </a:rPr>
                        <a:t>else </a:t>
                      </a:r>
                      <a:endParaRPr lang="fi-FI">
                        <a:effectLst/>
                        <a:latin typeface="Helvetica" pitchFamily="2" charset="0"/>
                      </a:endParaRPr>
                    </a:p>
                  </a:txBody>
                  <a:tcPr marL="47625" marR="47625" marT="0" marB="0"/>
                </a:tc>
                <a:tc>
                  <a:txBody>
                    <a:bodyPr/>
                    <a:lstStyle/>
                    <a:p>
                      <a:r>
                        <a:rPr lang="fi-FI" b="1">
                          <a:effectLst/>
                          <a:latin typeface="Helvetica" pitchFamily="2" charset="0"/>
                        </a:rPr>
                        <a:t>enum </a:t>
                      </a:r>
                      <a:endParaRPr lang="fi-FI">
                        <a:effectLst/>
                        <a:latin typeface="Helvetica" pitchFamily="2" charset="0"/>
                      </a:endParaRPr>
                    </a:p>
                  </a:txBody>
                  <a:tcPr marL="47625" marR="47625" marT="0" marB="0"/>
                </a:tc>
                <a:tc>
                  <a:txBody>
                    <a:bodyPr/>
                    <a:lstStyle/>
                    <a:p>
                      <a:r>
                        <a:rPr lang="fi-FI" b="1">
                          <a:effectLst/>
                          <a:latin typeface="Helvetica" pitchFamily="2" charset="0"/>
                        </a:rPr>
                        <a:t>event </a:t>
                      </a:r>
                      <a:endParaRPr lang="fi-FI">
                        <a:effectLst/>
                        <a:latin typeface="Helvetica" pitchFamily="2" charset="0"/>
                      </a:endParaRPr>
                    </a:p>
                  </a:txBody>
                  <a:tcPr marL="47625" marR="47625" marT="0" marB="0"/>
                </a:tc>
                <a:tc>
                  <a:txBody>
                    <a:bodyPr/>
                    <a:lstStyle/>
                    <a:p>
                      <a:r>
                        <a:rPr lang="fi-FI" b="1">
                          <a:effectLst/>
                          <a:latin typeface="Helvetica" pitchFamily="2" charset="0"/>
                        </a:rPr>
                        <a:t>explicit </a:t>
                      </a:r>
                      <a:endParaRPr lang="fi-FI">
                        <a:effectLst/>
                        <a:latin typeface="Helvetica" pitchFamily="2" charset="0"/>
                      </a:endParaRPr>
                    </a:p>
                  </a:txBody>
                  <a:tcPr marL="47625" marR="47625" marT="0" marB="0"/>
                </a:tc>
                <a:tc>
                  <a:txBody>
                    <a:bodyPr/>
                    <a:lstStyle/>
                    <a:p>
                      <a:r>
                        <a:rPr lang="fi-FI" b="1">
                          <a:effectLst/>
                          <a:latin typeface="Helvetica" pitchFamily="2" charset="0"/>
                        </a:rPr>
                        <a:t>extern </a:t>
                      </a:r>
                      <a:endParaRPr lang="fi-FI">
                        <a:effectLst/>
                        <a:latin typeface="Helvetica" pitchFamily="2" charset="0"/>
                      </a:endParaRPr>
                    </a:p>
                  </a:txBody>
                  <a:tcPr marL="47625" marR="47625" marT="0" marB="0"/>
                </a:tc>
                <a:tc>
                  <a:txBody>
                    <a:bodyPr/>
                    <a:lstStyle/>
                    <a:p>
                      <a:r>
                        <a:rPr lang="fi-FI" b="1" dirty="0" err="1">
                          <a:effectLst/>
                          <a:latin typeface="Helvetica" pitchFamily="2" charset="0"/>
                        </a:rPr>
                        <a:t>false</a:t>
                      </a:r>
                      <a:r>
                        <a:rPr lang="fi-FI" b="1" dirty="0">
                          <a:effectLst/>
                          <a:latin typeface="Helvetica" pitchFamily="2" charset="0"/>
                        </a:rPr>
                        <a:t> </a:t>
                      </a:r>
                      <a:endParaRPr lang="fi-FI" dirty="0">
                        <a:effectLst/>
                        <a:latin typeface="Helvetica" pitchFamily="2" charset="0"/>
                      </a:endParaRPr>
                    </a:p>
                  </a:txBody>
                  <a:tcPr marL="47625" marR="47625" marT="0" marB="0"/>
                </a:tc>
                <a:extLst>
                  <a:ext uri="{0D108BD9-81ED-4DB2-BD59-A6C34878D82A}">
                    <a16:rowId xmlns:a16="http://schemas.microsoft.com/office/drawing/2014/main" val="533361304"/>
                  </a:ext>
                </a:extLst>
              </a:tr>
              <a:tr h="370840">
                <a:tc>
                  <a:txBody>
                    <a:bodyPr/>
                    <a:lstStyle/>
                    <a:p>
                      <a:r>
                        <a:rPr lang="fi-FI" b="1" dirty="0" err="1">
                          <a:effectLst/>
                          <a:latin typeface="Helvetica" pitchFamily="2" charset="0"/>
                        </a:rPr>
                        <a:t>finally</a:t>
                      </a:r>
                      <a:r>
                        <a:rPr lang="fi-FI" b="1" dirty="0">
                          <a:effectLst/>
                          <a:latin typeface="Helvetica" pitchFamily="2" charset="0"/>
                        </a:rPr>
                        <a:t> </a:t>
                      </a:r>
                      <a:endParaRPr lang="fi-FI" dirty="0">
                        <a:effectLst/>
                        <a:latin typeface="Helvetica" pitchFamily="2" charset="0"/>
                      </a:endParaRPr>
                    </a:p>
                  </a:txBody>
                  <a:tcPr marL="47625" marR="47625" marT="0" marB="0"/>
                </a:tc>
                <a:tc>
                  <a:txBody>
                    <a:bodyPr/>
                    <a:lstStyle/>
                    <a:p>
                      <a:r>
                        <a:rPr lang="fi-FI" b="1">
                          <a:effectLst/>
                          <a:latin typeface="Helvetica" pitchFamily="2" charset="0"/>
                        </a:rPr>
                        <a:t>fixed </a:t>
                      </a:r>
                      <a:endParaRPr lang="fi-FI">
                        <a:effectLst/>
                        <a:latin typeface="Helvetica" pitchFamily="2" charset="0"/>
                      </a:endParaRPr>
                    </a:p>
                  </a:txBody>
                  <a:tcPr marL="47625" marR="47625" marT="0" marB="0"/>
                </a:tc>
                <a:tc>
                  <a:txBody>
                    <a:bodyPr/>
                    <a:lstStyle/>
                    <a:p>
                      <a:r>
                        <a:rPr lang="fi-FI" b="1">
                          <a:effectLst/>
                          <a:latin typeface="Helvetica" pitchFamily="2" charset="0"/>
                        </a:rPr>
                        <a:t>float </a:t>
                      </a:r>
                      <a:endParaRPr lang="fi-FI">
                        <a:effectLst/>
                        <a:latin typeface="Helvetica" pitchFamily="2" charset="0"/>
                      </a:endParaRPr>
                    </a:p>
                  </a:txBody>
                  <a:tcPr marL="47625" marR="47625" marT="0" marB="0"/>
                </a:tc>
                <a:tc>
                  <a:txBody>
                    <a:bodyPr/>
                    <a:lstStyle/>
                    <a:p>
                      <a:r>
                        <a:rPr lang="fi-FI" b="1">
                          <a:effectLst/>
                          <a:latin typeface="Helvetica" pitchFamily="2" charset="0"/>
                        </a:rPr>
                        <a:t>for </a:t>
                      </a:r>
                      <a:endParaRPr lang="fi-FI">
                        <a:effectLst/>
                        <a:latin typeface="Helvetica" pitchFamily="2" charset="0"/>
                      </a:endParaRPr>
                    </a:p>
                  </a:txBody>
                  <a:tcPr marL="47625" marR="47625" marT="0" marB="0"/>
                </a:tc>
                <a:tc>
                  <a:txBody>
                    <a:bodyPr/>
                    <a:lstStyle/>
                    <a:p>
                      <a:r>
                        <a:rPr lang="fi-FI" b="1">
                          <a:effectLst/>
                          <a:latin typeface="Helvetica" pitchFamily="2" charset="0"/>
                        </a:rPr>
                        <a:t>foreach </a:t>
                      </a:r>
                      <a:endParaRPr lang="fi-FI">
                        <a:effectLst/>
                        <a:latin typeface="Helvetica" pitchFamily="2" charset="0"/>
                      </a:endParaRPr>
                    </a:p>
                  </a:txBody>
                  <a:tcPr marL="47625" marR="47625" marT="0" marB="0"/>
                </a:tc>
                <a:tc>
                  <a:txBody>
                    <a:bodyPr/>
                    <a:lstStyle/>
                    <a:p>
                      <a:r>
                        <a:rPr lang="fi-FI" b="1">
                          <a:effectLst/>
                          <a:latin typeface="Helvetica" pitchFamily="2" charset="0"/>
                        </a:rPr>
                        <a:t>goto </a:t>
                      </a:r>
                      <a:endParaRPr lang="fi-FI">
                        <a:effectLst/>
                        <a:latin typeface="Helvetica" pitchFamily="2" charset="0"/>
                      </a:endParaRPr>
                    </a:p>
                  </a:txBody>
                  <a:tcPr marL="47625" marR="47625" marT="0" marB="0"/>
                </a:tc>
                <a:extLst>
                  <a:ext uri="{0D108BD9-81ED-4DB2-BD59-A6C34878D82A}">
                    <a16:rowId xmlns:a16="http://schemas.microsoft.com/office/drawing/2014/main" val="3674662567"/>
                  </a:ext>
                </a:extLst>
              </a:tr>
              <a:tr h="370840">
                <a:tc>
                  <a:txBody>
                    <a:bodyPr/>
                    <a:lstStyle/>
                    <a:p>
                      <a:r>
                        <a:rPr lang="fi-FI" b="1">
                          <a:effectLst/>
                          <a:latin typeface="Helvetica" pitchFamily="2" charset="0"/>
                        </a:rPr>
                        <a:t>if </a:t>
                      </a:r>
                      <a:endParaRPr lang="fi-FI">
                        <a:effectLst/>
                        <a:latin typeface="Helvetica" pitchFamily="2" charset="0"/>
                      </a:endParaRPr>
                    </a:p>
                  </a:txBody>
                  <a:tcPr marL="47625" marR="47625" marT="0" marB="0"/>
                </a:tc>
                <a:tc>
                  <a:txBody>
                    <a:bodyPr/>
                    <a:lstStyle/>
                    <a:p>
                      <a:r>
                        <a:rPr lang="fi-FI" b="1">
                          <a:effectLst/>
                          <a:latin typeface="Helvetica" pitchFamily="2" charset="0"/>
                        </a:rPr>
                        <a:t>implicit </a:t>
                      </a:r>
                      <a:endParaRPr lang="fi-FI">
                        <a:effectLst/>
                        <a:latin typeface="Helvetica" pitchFamily="2" charset="0"/>
                      </a:endParaRPr>
                    </a:p>
                  </a:txBody>
                  <a:tcPr marL="47625" marR="47625" marT="0" marB="0"/>
                </a:tc>
                <a:tc>
                  <a:txBody>
                    <a:bodyPr/>
                    <a:lstStyle/>
                    <a:p>
                      <a:r>
                        <a:rPr lang="fi-FI" b="1">
                          <a:effectLst/>
                          <a:latin typeface="Helvetica" pitchFamily="2" charset="0"/>
                        </a:rPr>
                        <a:t>in </a:t>
                      </a:r>
                      <a:endParaRPr lang="fi-FI">
                        <a:effectLst/>
                        <a:latin typeface="Helvetica" pitchFamily="2" charset="0"/>
                      </a:endParaRPr>
                    </a:p>
                  </a:txBody>
                  <a:tcPr marL="47625" marR="47625" marT="0" marB="0"/>
                </a:tc>
                <a:tc>
                  <a:txBody>
                    <a:bodyPr/>
                    <a:lstStyle/>
                    <a:p>
                      <a:r>
                        <a:rPr lang="fi-FI" b="1">
                          <a:effectLst/>
                          <a:latin typeface="Helvetica" pitchFamily="2" charset="0"/>
                        </a:rPr>
                        <a:t>int </a:t>
                      </a:r>
                      <a:endParaRPr lang="fi-FI">
                        <a:effectLst/>
                        <a:latin typeface="Helvetica" pitchFamily="2" charset="0"/>
                      </a:endParaRPr>
                    </a:p>
                  </a:txBody>
                  <a:tcPr marL="47625" marR="47625" marT="0" marB="0"/>
                </a:tc>
                <a:tc>
                  <a:txBody>
                    <a:bodyPr/>
                    <a:lstStyle/>
                    <a:p>
                      <a:r>
                        <a:rPr lang="fi-FI" b="1">
                          <a:effectLst/>
                          <a:latin typeface="Helvetica" pitchFamily="2" charset="0"/>
                        </a:rPr>
                        <a:t>interface </a:t>
                      </a:r>
                      <a:endParaRPr lang="fi-FI">
                        <a:effectLst/>
                        <a:latin typeface="Helvetica" pitchFamily="2" charset="0"/>
                      </a:endParaRPr>
                    </a:p>
                  </a:txBody>
                  <a:tcPr marL="47625" marR="47625" marT="0" marB="0"/>
                </a:tc>
                <a:tc>
                  <a:txBody>
                    <a:bodyPr/>
                    <a:lstStyle/>
                    <a:p>
                      <a:r>
                        <a:rPr lang="fi-FI" b="1" dirty="0" err="1">
                          <a:effectLst/>
                          <a:latin typeface="Helvetica" pitchFamily="2" charset="0"/>
                        </a:rPr>
                        <a:t>internal</a:t>
                      </a:r>
                      <a:r>
                        <a:rPr lang="fi-FI" b="1" dirty="0">
                          <a:effectLst/>
                          <a:latin typeface="Helvetica" pitchFamily="2" charset="0"/>
                        </a:rPr>
                        <a:t> </a:t>
                      </a:r>
                      <a:endParaRPr lang="fi-FI" dirty="0">
                        <a:effectLst/>
                        <a:latin typeface="Helvetica" pitchFamily="2" charset="0"/>
                      </a:endParaRPr>
                    </a:p>
                  </a:txBody>
                  <a:tcPr marL="47625" marR="47625" marT="0" marB="0"/>
                </a:tc>
                <a:extLst>
                  <a:ext uri="{0D108BD9-81ED-4DB2-BD59-A6C34878D82A}">
                    <a16:rowId xmlns:a16="http://schemas.microsoft.com/office/drawing/2014/main" val="901216158"/>
                  </a:ext>
                </a:extLst>
              </a:tr>
              <a:tr h="370840">
                <a:tc>
                  <a:txBody>
                    <a:bodyPr/>
                    <a:lstStyle/>
                    <a:p>
                      <a:r>
                        <a:rPr lang="fi-FI" b="1">
                          <a:effectLst/>
                          <a:latin typeface="Helvetica" pitchFamily="2" charset="0"/>
                        </a:rPr>
                        <a:t>is </a:t>
                      </a:r>
                      <a:endParaRPr lang="fi-FI">
                        <a:effectLst/>
                        <a:latin typeface="Helvetica" pitchFamily="2" charset="0"/>
                      </a:endParaRPr>
                    </a:p>
                  </a:txBody>
                  <a:tcPr marL="47625" marR="47625" marT="0" marB="0"/>
                </a:tc>
                <a:tc>
                  <a:txBody>
                    <a:bodyPr/>
                    <a:lstStyle/>
                    <a:p>
                      <a:r>
                        <a:rPr lang="fi-FI" b="1">
                          <a:effectLst/>
                          <a:latin typeface="Helvetica" pitchFamily="2" charset="0"/>
                        </a:rPr>
                        <a:t>lock </a:t>
                      </a:r>
                      <a:endParaRPr lang="fi-FI">
                        <a:effectLst/>
                        <a:latin typeface="Helvetica" pitchFamily="2" charset="0"/>
                      </a:endParaRPr>
                    </a:p>
                  </a:txBody>
                  <a:tcPr marL="47625" marR="47625" marT="0" marB="0"/>
                </a:tc>
                <a:tc>
                  <a:txBody>
                    <a:bodyPr/>
                    <a:lstStyle/>
                    <a:p>
                      <a:r>
                        <a:rPr lang="fi-FI" b="1">
                          <a:effectLst/>
                          <a:latin typeface="Helvetica" pitchFamily="2" charset="0"/>
                        </a:rPr>
                        <a:t>long </a:t>
                      </a:r>
                      <a:endParaRPr lang="fi-FI">
                        <a:effectLst/>
                        <a:latin typeface="Helvetica" pitchFamily="2" charset="0"/>
                      </a:endParaRPr>
                    </a:p>
                  </a:txBody>
                  <a:tcPr marL="47625" marR="47625" marT="0" marB="0"/>
                </a:tc>
                <a:tc>
                  <a:txBody>
                    <a:bodyPr/>
                    <a:lstStyle/>
                    <a:p>
                      <a:r>
                        <a:rPr lang="fi-FI" b="1">
                          <a:effectLst/>
                          <a:latin typeface="Helvetica" pitchFamily="2" charset="0"/>
                        </a:rPr>
                        <a:t>namespace </a:t>
                      </a:r>
                      <a:endParaRPr lang="fi-FI">
                        <a:effectLst/>
                        <a:latin typeface="Helvetica" pitchFamily="2" charset="0"/>
                      </a:endParaRPr>
                    </a:p>
                  </a:txBody>
                  <a:tcPr marL="47625" marR="47625" marT="0" marB="0"/>
                </a:tc>
                <a:tc>
                  <a:txBody>
                    <a:bodyPr/>
                    <a:lstStyle/>
                    <a:p>
                      <a:r>
                        <a:rPr lang="fi-FI" b="1">
                          <a:effectLst/>
                          <a:latin typeface="Helvetica" pitchFamily="2" charset="0"/>
                        </a:rPr>
                        <a:t>new </a:t>
                      </a:r>
                      <a:endParaRPr lang="fi-FI">
                        <a:effectLst/>
                        <a:latin typeface="Helvetica" pitchFamily="2" charset="0"/>
                      </a:endParaRPr>
                    </a:p>
                  </a:txBody>
                  <a:tcPr marL="47625" marR="47625" marT="0" marB="0"/>
                </a:tc>
                <a:tc>
                  <a:txBody>
                    <a:bodyPr/>
                    <a:lstStyle/>
                    <a:p>
                      <a:r>
                        <a:rPr lang="fi-FI" b="1" dirty="0" err="1">
                          <a:effectLst/>
                          <a:latin typeface="Helvetica" pitchFamily="2" charset="0"/>
                        </a:rPr>
                        <a:t>null</a:t>
                      </a:r>
                      <a:r>
                        <a:rPr lang="fi-FI" b="1" dirty="0">
                          <a:effectLst/>
                          <a:latin typeface="Helvetica" pitchFamily="2" charset="0"/>
                        </a:rPr>
                        <a:t> </a:t>
                      </a:r>
                      <a:endParaRPr lang="fi-FI" dirty="0">
                        <a:effectLst/>
                        <a:latin typeface="Helvetica" pitchFamily="2" charset="0"/>
                      </a:endParaRPr>
                    </a:p>
                  </a:txBody>
                  <a:tcPr marL="47625" marR="47625" marT="0" marB="0"/>
                </a:tc>
                <a:extLst>
                  <a:ext uri="{0D108BD9-81ED-4DB2-BD59-A6C34878D82A}">
                    <a16:rowId xmlns:a16="http://schemas.microsoft.com/office/drawing/2014/main" val="832300860"/>
                  </a:ext>
                </a:extLst>
              </a:tr>
              <a:tr h="370840">
                <a:tc>
                  <a:txBody>
                    <a:bodyPr/>
                    <a:lstStyle/>
                    <a:p>
                      <a:r>
                        <a:rPr lang="fi-FI" b="1" dirty="0" err="1">
                          <a:effectLst/>
                          <a:latin typeface="Helvetica" pitchFamily="2" charset="0"/>
                        </a:rPr>
                        <a:t>object</a:t>
                      </a:r>
                      <a:r>
                        <a:rPr lang="fi-FI" b="1" dirty="0">
                          <a:effectLst/>
                          <a:latin typeface="Helvetica" pitchFamily="2" charset="0"/>
                        </a:rPr>
                        <a:t> </a:t>
                      </a:r>
                      <a:endParaRPr lang="fi-FI" dirty="0">
                        <a:effectLst/>
                        <a:latin typeface="Helvetica" pitchFamily="2" charset="0"/>
                      </a:endParaRPr>
                    </a:p>
                  </a:txBody>
                  <a:tcPr marL="47625" marR="47625" marT="0" marB="0"/>
                </a:tc>
                <a:tc>
                  <a:txBody>
                    <a:bodyPr/>
                    <a:lstStyle/>
                    <a:p>
                      <a:r>
                        <a:rPr lang="fi-FI" b="1">
                          <a:effectLst/>
                          <a:latin typeface="Helvetica" pitchFamily="2" charset="0"/>
                        </a:rPr>
                        <a:t>operator </a:t>
                      </a:r>
                      <a:endParaRPr lang="fi-FI">
                        <a:effectLst/>
                        <a:latin typeface="Helvetica" pitchFamily="2" charset="0"/>
                      </a:endParaRPr>
                    </a:p>
                  </a:txBody>
                  <a:tcPr marL="47625" marR="47625" marT="0" marB="0"/>
                </a:tc>
                <a:tc>
                  <a:txBody>
                    <a:bodyPr/>
                    <a:lstStyle/>
                    <a:p>
                      <a:r>
                        <a:rPr lang="fi-FI" b="1">
                          <a:effectLst/>
                          <a:latin typeface="Helvetica" pitchFamily="2" charset="0"/>
                        </a:rPr>
                        <a:t>out </a:t>
                      </a:r>
                      <a:endParaRPr lang="fi-FI">
                        <a:effectLst/>
                        <a:latin typeface="Helvetica" pitchFamily="2" charset="0"/>
                      </a:endParaRPr>
                    </a:p>
                  </a:txBody>
                  <a:tcPr marL="47625" marR="47625" marT="0" marB="0"/>
                </a:tc>
                <a:tc>
                  <a:txBody>
                    <a:bodyPr/>
                    <a:lstStyle/>
                    <a:p>
                      <a:r>
                        <a:rPr lang="fi-FI" b="1">
                          <a:effectLst/>
                          <a:latin typeface="Helvetica" pitchFamily="2" charset="0"/>
                        </a:rPr>
                        <a:t>override </a:t>
                      </a:r>
                      <a:endParaRPr lang="fi-FI">
                        <a:effectLst/>
                        <a:latin typeface="Helvetica" pitchFamily="2" charset="0"/>
                      </a:endParaRPr>
                    </a:p>
                  </a:txBody>
                  <a:tcPr marL="47625" marR="47625" marT="0" marB="0"/>
                </a:tc>
                <a:tc>
                  <a:txBody>
                    <a:bodyPr/>
                    <a:lstStyle/>
                    <a:p>
                      <a:r>
                        <a:rPr lang="fi-FI" b="1">
                          <a:effectLst/>
                          <a:latin typeface="Helvetica" pitchFamily="2" charset="0"/>
                        </a:rPr>
                        <a:t>params </a:t>
                      </a:r>
                      <a:endParaRPr lang="fi-FI">
                        <a:effectLst/>
                        <a:latin typeface="Helvetica" pitchFamily="2" charset="0"/>
                      </a:endParaRPr>
                    </a:p>
                  </a:txBody>
                  <a:tcPr marL="47625" marR="47625" marT="0" marB="0"/>
                </a:tc>
                <a:tc>
                  <a:txBody>
                    <a:bodyPr/>
                    <a:lstStyle/>
                    <a:p>
                      <a:r>
                        <a:rPr lang="fi-FI" b="1">
                          <a:effectLst/>
                          <a:latin typeface="Helvetica" pitchFamily="2" charset="0"/>
                        </a:rPr>
                        <a:t>private </a:t>
                      </a:r>
                      <a:endParaRPr lang="fi-FI">
                        <a:effectLst/>
                        <a:latin typeface="Helvetica" pitchFamily="2" charset="0"/>
                      </a:endParaRPr>
                    </a:p>
                  </a:txBody>
                  <a:tcPr marL="47625" marR="47625" marT="0" marB="0"/>
                </a:tc>
                <a:extLst>
                  <a:ext uri="{0D108BD9-81ED-4DB2-BD59-A6C34878D82A}">
                    <a16:rowId xmlns:a16="http://schemas.microsoft.com/office/drawing/2014/main" val="1308753762"/>
                  </a:ext>
                </a:extLst>
              </a:tr>
              <a:tr h="370840">
                <a:tc>
                  <a:txBody>
                    <a:bodyPr/>
                    <a:lstStyle/>
                    <a:p>
                      <a:r>
                        <a:rPr lang="fi-FI" b="1">
                          <a:effectLst/>
                          <a:latin typeface="Helvetica" pitchFamily="2" charset="0"/>
                        </a:rPr>
                        <a:t>protected </a:t>
                      </a:r>
                      <a:endParaRPr lang="fi-FI">
                        <a:effectLst/>
                        <a:latin typeface="Helvetica" pitchFamily="2" charset="0"/>
                      </a:endParaRPr>
                    </a:p>
                  </a:txBody>
                  <a:tcPr marL="47625" marR="47625" marT="0" marB="0"/>
                </a:tc>
                <a:tc>
                  <a:txBody>
                    <a:bodyPr/>
                    <a:lstStyle/>
                    <a:p>
                      <a:r>
                        <a:rPr lang="fi-FI" b="1">
                          <a:effectLst/>
                          <a:latin typeface="Helvetica" pitchFamily="2" charset="0"/>
                        </a:rPr>
                        <a:t>public </a:t>
                      </a:r>
                      <a:endParaRPr lang="fi-FI">
                        <a:effectLst/>
                        <a:latin typeface="Helvetica" pitchFamily="2" charset="0"/>
                      </a:endParaRPr>
                    </a:p>
                  </a:txBody>
                  <a:tcPr marL="47625" marR="47625" marT="0" marB="0"/>
                </a:tc>
                <a:tc>
                  <a:txBody>
                    <a:bodyPr/>
                    <a:lstStyle/>
                    <a:p>
                      <a:r>
                        <a:rPr lang="fi-FI" b="1">
                          <a:effectLst/>
                          <a:latin typeface="Helvetica" pitchFamily="2" charset="0"/>
                        </a:rPr>
                        <a:t>readonly </a:t>
                      </a:r>
                      <a:endParaRPr lang="fi-FI">
                        <a:effectLst/>
                        <a:latin typeface="Helvetica" pitchFamily="2" charset="0"/>
                      </a:endParaRPr>
                    </a:p>
                  </a:txBody>
                  <a:tcPr marL="47625" marR="47625" marT="0" marB="0"/>
                </a:tc>
                <a:tc>
                  <a:txBody>
                    <a:bodyPr/>
                    <a:lstStyle/>
                    <a:p>
                      <a:r>
                        <a:rPr lang="fi-FI" b="1">
                          <a:effectLst/>
                          <a:latin typeface="Helvetica" pitchFamily="2" charset="0"/>
                        </a:rPr>
                        <a:t>ref </a:t>
                      </a:r>
                      <a:endParaRPr lang="fi-FI">
                        <a:effectLst/>
                        <a:latin typeface="Helvetica" pitchFamily="2" charset="0"/>
                      </a:endParaRPr>
                    </a:p>
                  </a:txBody>
                  <a:tcPr marL="47625" marR="47625" marT="0" marB="0"/>
                </a:tc>
                <a:tc>
                  <a:txBody>
                    <a:bodyPr/>
                    <a:lstStyle/>
                    <a:p>
                      <a:r>
                        <a:rPr lang="fi-FI" b="1">
                          <a:effectLst/>
                          <a:latin typeface="Helvetica" pitchFamily="2" charset="0"/>
                        </a:rPr>
                        <a:t>return </a:t>
                      </a:r>
                      <a:endParaRPr lang="fi-FI">
                        <a:effectLst/>
                        <a:latin typeface="Helvetica" pitchFamily="2" charset="0"/>
                      </a:endParaRPr>
                    </a:p>
                  </a:txBody>
                  <a:tcPr marL="47625" marR="47625" marT="0" marB="0"/>
                </a:tc>
                <a:tc>
                  <a:txBody>
                    <a:bodyPr/>
                    <a:lstStyle/>
                    <a:p>
                      <a:r>
                        <a:rPr lang="fi-FI" b="1">
                          <a:effectLst/>
                          <a:latin typeface="Helvetica" pitchFamily="2" charset="0"/>
                        </a:rPr>
                        <a:t>sbyte </a:t>
                      </a:r>
                      <a:endParaRPr lang="fi-FI">
                        <a:effectLst/>
                        <a:latin typeface="Helvetica" pitchFamily="2" charset="0"/>
                      </a:endParaRPr>
                    </a:p>
                  </a:txBody>
                  <a:tcPr marL="47625" marR="47625" marT="0" marB="0"/>
                </a:tc>
                <a:extLst>
                  <a:ext uri="{0D108BD9-81ED-4DB2-BD59-A6C34878D82A}">
                    <a16:rowId xmlns:a16="http://schemas.microsoft.com/office/drawing/2014/main" val="1116907467"/>
                  </a:ext>
                </a:extLst>
              </a:tr>
              <a:tr h="370840">
                <a:tc>
                  <a:txBody>
                    <a:bodyPr/>
                    <a:lstStyle/>
                    <a:p>
                      <a:r>
                        <a:rPr lang="fi-FI" b="1">
                          <a:effectLst/>
                          <a:latin typeface="Helvetica" pitchFamily="2" charset="0"/>
                        </a:rPr>
                        <a:t>sealed </a:t>
                      </a:r>
                      <a:endParaRPr lang="fi-FI">
                        <a:effectLst/>
                        <a:latin typeface="Helvetica" pitchFamily="2" charset="0"/>
                      </a:endParaRPr>
                    </a:p>
                  </a:txBody>
                  <a:tcPr marL="47625" marR="47625" marT="0" marB="0"/>
                </a:tc>
                <a:tc>
                  <a:txBody>
                    <a:bodyPr/>
                    <a:lstStyle/>
                    <a:p>
                      <a:r>
                        <a:rPr lang="fi-FI" b="1">
                          <a:effectLst/>
                          <a:latin typeface="Helvetica" pitchFamily="2" charset="0"/>
                        </a:rPr>
                        <a:t>short </a:t>
                      </a:r>
                      <a:endParaRPr lang="fi-FI">
                        <a:effectLst/>
                        <a:latin typeface="Helvetica" pitchFamily="2" charset="0"/>
                      </a:endParaRPr>
                    </a:p>
                  </a:txBody>
                  <a:tcPr marL="47625" marR="47625" marT="0" marB="0"/>
                </a:tc>
                <a:tc>
                  <a:txBody>
                    <a:bodyPr/>
                    <a:lstStyle/>
                    <a:p>
                      <a:r>
                        <a:rPr lang="fi-FI" b="1">
                          <a:effectLst/>
                          <a:latin typeface="Helvetica" pitchFamily="2" charset="0"/>
                        </a:rPr>
                        <a:t>sizeof </a:t>
                      </a:r>
                      <a:endParaRPr lang="fi-FI">
                        <a:effectLst/>
                        <a:latin typeface="Helvetica" pitchFamily="2" charset="0"/>
                      </a:endParaRPr>
                    </a:p>
                  </a:txBody>
                  <a:tcPr marL="47625" marR="47625" marT="0" marB="0"/>
                </a:tc>
                <a:tc>
                  <a:txBody>
                    <a:bodyPr/>
                    <a:lstStyle/>
                    <a:p>
                      <a:r>
                        <a:rPr lang="fi-FI" b="1">
                          <a:effectLst/>
                          <a:latin typeface="Helvetica" pitchFamily="2" charset="0"/>
                        </a:rPr>
                        <a:t>stackalloc </a:t>
                      </a:r>
                      <a:endParaRPr lang="fi-FI">
                        <a:effectLst/>
                        <a:latin typeface="Helvetica" pitchFamily="2" charset="0"/>
                      </a:endParaRPr>
                    </a:p>
                  </a:txBody>
                  <a:tcPr marL="47625" marR="47625" marT="0" marB="0"/>
                </a:tc>
                <a:tc>
                  <a:txBody>
                    <a:bodyPr/>
                    <a:lstStyle/>
                    <a:p>
                      <a:r>
                        <a:rPr lang="fi-FI" b="1">
                          <a:effectLst/>
                          <a:latin typeface="Helvetica" pitchFamily="2" charset="0"/>
                        </a:rPr>
                        <a:t>static </a:t>
                      </a:r>
                      <a:endParaRPr lang="fi-FI">
                        <a:effectLst/>
                        <a:latin typeface="Helvetica" pitchFamily="2" charset="0"/>
                      </a:endParaRPr>
                    </a:p>
                  </a:txBody>
                  <a:tcPr marL="47625" marR="47625" marT="0" marB="0"/>
                </a:tc>
                <a:tc>
                  <a:txBody>
                    <a:bodyPr/>
                    <a:lstStyle/>
                    <a:p>
                      <a:r>
                        <a:rPr lang="fi-FI" b="1">
                          <a:effectLst/>
                          <a:latin typeface="Helvetica" pitchFamily="2" charset="0"/>
                        </a:rPr>
                        <a:t>string </a:t>
                      </a:r>
                      <a:endParaRPr lang="fi-FI">
                        <a:effectLst/>
                        <a:latin typeface="Helvetica" pitchFamily="2" charset="0"/>
                      </a:endParaRPr>
                    </a:p>
                  </a:txBody>
                  <a:tcPr marL="47625" marR="47625" marT="0" marB="0"/>
                </a:tc>
                <a:extLst>
                  <a:ext uri="{0D108BD9-81ED-4DB2-BD59-A6C34878D82A}">
                    <a16:rowId xmlns:a16="http://schemas.microsoft.com/office/drawing/2014/main" val="4050171402"/>
                  </a:ext>
                </a:extLst>
              </a:tr>
              <a:tr h="370840">
                <a:tc>
                  <a:txBody>
                    <a:bodyPr/>
                    <a:lstStyle/>
                    <a:p>
                      <a:r>
                        <a:rPr lang="fi-FI" b="1">
                          <a:effectLst/>
                          <a:latin typeface="Helvetica" pitchFamily="2" charset="0"/>
                        </a:rPr>
                        <a:t>struct </a:t>
                      </a:r>
                      <a:endParaRPr lang="fi-FI">
                        <a:effectLst/>
                        <a:latin typeface="Helvetica" pitchFamily="2" charset="0"/>
                      </a:endParaRPr>
                    </a:p>
                  </a:txBody>
                  <a:tcPr marL="47625" marR="47625" marT="0" marB="0"/>
                </a:tc>
                <a:tc>
                  <a:txBody>
                    <a:bodyPr/>
                    <a:lstStyle/>
                    <a:p>
                      <a:r>
                        <a:rPr lang="fi-FI" b="1">
                          <a:effectLst/>
                          <a:latin typeface="Helvetica" pitchFamily="2" charset="0"/>
                        </a:rPr>
                        <a:t>switch </a:t>
                      </a:r>
                      <a:endParaRPr lang="fi-FI">
                        <a:effectLst/>
                        <a:latin typeface="Helvetica" pitchFamily="2" charset="0"/>
                      </a:endParaRPr>
                    </a:p>
                  </a:txBody>
                  <a:tcPr marL="47625" marR="47625" marT="0" marB="0"/>
                </a:tc>
                <a:tc>
                  <a:txBody>
                    <a:bodyPr/>
                    <a:lstStyle/>
                    <a:p>
                      <a:r>
                        <a:rPr lang="fi-FI" b="1">
                          <a:effectLst/>
                          <a:latin typeface="Helvetica" pitchFamily="2" charset="0"/>
                        </a:rPr>
                        <a:t>this </a:t>
                      </a:r>
                      <a:endParaRPr lang="fi-FI">
                        <a:effectLst/>
                        <a:latin typeface="Helvetica" pitchFamily="2" charset="0"/>
                      </a:endParaRPr>
                    </a:p>
                  </a:txBody>
                  <a:tcPr marL="47625" marR="47625" marT="0" marB="0"/>
                </a:tc>
                <a:tc>
                  <a:txBody>
                    <a:bodyPr/>
                    <a:lstStyle/>
                    <a:p>
                      <a:r>
                        <a:rPr lang="fi-FI" b="1">
                          <a:effectLst/>
                          <a:latin typeface="Helvetica" pitchFamily="2" charset="0"/>
                        </a:rPr>
                        <a:t>throw </a:t>
                      </a:r>
                      <a:endParaRPr lang="fi-FI">
                        <a:effectLst/>
                        <a:latin typeface="Helvetica" pitchFamily="2" charset="0"/>
                      </a:endParaRPr>
                    </a:p>
                  </a:txBody>
                  <a:tcPr marL="47625" marR="47625" marT="0" marB="0"/>
                </a:tc>
                <a:tc>
                  <a:txBody>
                    <a:bodyPr/>
                    <a:lstStyle/>
                    <a:p>
                      <a:r>
                        <a:rPr lang="fi-FI" b="1">
                          <a:effectLst/>
                          <a:latin typeface="Helvetica" pitchFamily="2" charset="0"/>
                        </a:rPr>
                        <a:t>true </a:t>
                      </a:r>
                      <a:endParaRPr lang="fi-FI">
                        <a:effectLst/>
                        <a:latin typeface="Helvetica" pitchFamily="2" charset="0"/>
                      </a:endParaRPr>
                    </a:p>
                  </a:txBody>
                  <a:tcPr marL="47625" marR="47625" marT="0" marB="0"/>
                </a:tc>
                <a:tc>
                  <a:txBody>
                    <a:bodyPr/>
                    <a:lstStyle/>
                    <a:p>
                      <a:r>
                        <a:rPr lang="fi-FI" b="1">
                          <a:effectLst/>
                          <a:latin typeface="Helvetica" pitchFamily="2" charset="0"/>
                        </a:rPr>
                        <a:t>try </a:t>
                      </a:r>
                      <a:endParaRPr lang="fi-FI">
                        <a:effectLst/>
                        <a:latin typeface="Helvetica" pitchFamily="2" charset="0"/>
                      </a:endParaRPr>
                    </a:p>
                  </a:txBody>
                  <a:tcPr marL="47625" marR="47625" marT="0" marB="0"/>
                </a:tc>
                <a:extLst>
                  <a:ext uri="{0D108BD9-81ED-4DB2-BD59-A6C34878D82A}">
                    <a16:rowId xmlns:a16="http://schemas.microsoft.com/office/drawing/2014/main" val="2494158304"/>
                  </a:ext>
                </a:extLst>
              </a:tr>
              <a:tr h="370840">
                <a:tc>
                  <a:txBody>
                    <a:bodyPr/>
                    <a:lstStyle/>
                    <a:p>
                      <a:r>
                        <a:rPr lang="fi-FI" b="1">
                          <a:effectLst/>
                          <a:latin typeface="Helvetica" pitchFamily="2" charset="0"/>
                        </a:rPr>
                        <a:t>typeof </a:t>
                      </a:r>
                      <a:endParaRPr lang="fi-FI">
                        <a:effectLst/>
                        <a:latin typeface="Helvetica" pitchFamily="2" charset="0"/>
                      </a:endParaRPr>
                    </a:p>
                  </a:txBody>
                  <a:tcPr marL="47625" marR="47625" marT="0" marB="0"/>
                </a:tc>
                <a:tc>
                  <a:txBody>
                    <a:bodyPr/>
                    <a:lstStyle/>
                    <a:p>
                      <a:r>
                        <a:rPr lang="fi-FI" b="1">
                          <a:effectLst/>
                          <a:latin typeface="Helvetica" pitchFamily="2" charset="0"/>
                        </a:rPr>
                        <a:t>uint </a:t>
                      </a:r>
                      <a:endParaRPr lang="fi-FI">
                        <a:effectLst/>
                        <a:latin typeface="Helvetica" pitchFamily="2" charset="0"/>
                      </a:endParaRPr>
                    </a:p>
                  </a:txBody>
                  <a:tcPr marL="47625" marR="47625" marT="0" marB="0"/>
                </a:tc>
                <a:tc>
                  <a:txBody>
                    <a:bodyPr/>
                    <a:lstStyle/>
                    <a:p>
                      <a:r>
                        <a:rPr lang="fi-FI" b="1">
                          <a:effectLst/>
                          <a:latin typeface="Helvetica" pitchFamily="2" charset="0"/>
                        </a:rPr>
                        <a:t>ulong </a:t>
                      </a:r>
                      <a:endParaRPr lang="fi-FI">
                        <a:effectLst/>
                        <a:latin typeface="Helvetica" pitchFamily="2" charset="0"/>
                      </a:endParaRPr>
                    </a:p>
                  </a:txBody>
                  <a:tcPr marL="47625" marR="47625" marT="0" marB="0"/>
                </a:tc>
                <a:tc>
                  <a:txBody>
                    <a:bodyPr/>
                    <a:lstStyle/>
                    <a:p>
                      <a:r>
                        <a:rPr lang="fi-FI" b="1">
                          <a:effectLst/>
                          <a:latin typeface="Helvetica" pitchFamily="2" charset="0"/>
                        </a:rPr>
                        <a:t>unchecked </a:t>
                      </a:r>
                      <a:endParaRPr lang="fi-FI">
                        <a:effectLst/>
                        <a:latin typeface="Helvetica" pitchFamily="2" charset="0"/>
                      </a:endParaRPr>
                    </a:p>
                  </a:txBody>
                  <a:tcPr marL="47625" marR="47625" marT="0" marB="0"/>
                </a:tc>
                <a:tc>
                  <a:txBody>
                    <a:bodyPr/>
                    <a:lstStyle/>
                    <a:p>
                      <a:r>
                        <a:rPr lang="fi-FI" b="1">
                          <a:effectLst/>
                          <a:latin typeface="Helvetica" pitchFamily="2" charset="0"/>
                        </a:rPr>
                        <a:t>unsafe </a:t>
                      </a:r>
                      <a:endParaRPr lang="fi-FI">
                        <a:effectLst/>
                        <a:latin typeface="Helvetica" pitchFamily="2" charset="0"/>
                      </a:endParaRPr>
                    </a:p>
                  </a:txBody>
                  <a:tcPr marL="47625" marR="47625" marT="0" marB="0"/>
                </a:tc>
                <a:tc>
                  <a:txBody>
                    <a:bodyPr/>
                    <a:lstStyle/>
                    <a:p>
                      <a:r>
                        <a:rPr lang="fi-FI" b="1">
                          <a:effectLst/>
                          <a:latin typeface="Helvetica" pitchFamily="2" charset="0"/>
                        </a:rPr>
                        <a:t>ushort </a:t>
                      </a:r>
                      <a:endParaRPr lang="fi-FI">
                        <a:effectLst/>
                        <a:latin typeface="Helvetica" pitchFamily="2" charset="0"/>
                      </a:endParaRPr>
                    </a:p>
                  </a:txBody>
                  <a:tcPr marL="47625" marR="47625" marT="0" marB="0"/>
                </a:tc>
                <a:extLst>
                  <a:ext uri="{0D108BD9-81ED-4DB2-BD59-A6C34878D82A}">
                    <a16:rowId xmlns:a16="http://schemas.microsoft.com/office/drawing/2014/main" val="2194565514"/>
                  </a:ext>
                </a:extLst>
              </a:tr>
              <a:tr h="370840">
                <a:tc>
                  <a:txBody>
                    <a:bodyPr/>
                    <a:lstStyle/>
                    <a:p>
                      <a:r>
                        <a:rPr lang="fi-FI" b="1">
                          <a:effectLst/>
                          <a:latin typeface="Helvetica" pitchFamily="2" charset="0"/>
                        </a:rPr>
                        <a:t>using </a:t>
                      </a:r>
                      <a:endParaRPr lang="fi-FI">
                        <a:effectLst/>
                        <a:latin typeface="Helvetica" pitchFamily="2" charset="0"/>
                      </a:endParaRPr>
                    </a:p>
                  </a:txBody>
                  <a:tcPr marL="47625" marR="47625" marT="0" marB="0"/>
                </a:tc>
                <a:tc>
                  <a:txBody>
                    <a:bodyPr/>
                    <a:lstStyle/>
                    <a:p>
                      <a:r>
                        <a:rPr lang="fi-FI" b="1">
                          <a:effectLst/>
                          <a:latin typeface="Helvetica" pitchFamily="2" charset="0"/>
                        </a:rPr>
                        <a:t>virtual </a:t>
                      </a:r>
                      <a:endParaRPr lang="fi-FI">
                        <a:effectLst/>
                        <a:latin typeface="Helvetica" pitchFamily="2" charset="0"/>
                      </a:endParaRPr>
                    </a:p>
                  </a:txBody>
                  <a:tcPr marL="47625" marR="47625" marT="0" marB="0"/>
                </a:tc>
                <a:tc>
                  <a:txBody>
                    <a:bodyPr/>
                    <a:lstStyle/>
                    <a:p>
                      <a:r>
                        <a:rPr lang="fi-FI" b="1">
                          <a:effectLst/>
                          <a:latin typeface="Helvetica" pitchFamily="2" charset="0"/>
                        </a:rPr>
                        <a:t>void </a:t>
                      </a:r>
                      <a:endParaRPr lang="fi-FI">
                        <a:effectLst/>
                        <a:latin typeface="Helvetica" pitchFamily="2" charset="0"/>
                      </a:endParaRPr>
                    </a:p>
                  </a:txBody>
                  <a:tcPr marL="47625" marR="47625" marT="0" marB="0"/>
                </a:tc>
                <a:tc>
                  <a:txBody>
                    <a:bodyPr/>
                    <a:lstStyle/>
                    <a:p>
                      <a:r>
                        <a:rPr lang="fi-FI" b="1">
                          <a:effectLst/>
                          <a:latin typeface="Helvetica" pitchFamily="2" charset="0"/>
                        </a:rPr>
                        <a:t>volatile </a:t>
                      </a:r>
                      <a:endParaRPr lang="fi-FI">
                        <a:effectLst/>
                        <a:latin typeface="Helvetica" pitchFamily="2" charset="0"/>
                      </a:endParaRPr>
                    </a:p>
                  </a:txBody>
                  <a:tcPr marL="47625" marR="47625" marT="0" marB="0"/>
                </a:tc>
                <a:tc>
                  <a:txBody>
                    <a:bodyPr/>
                    <a:lstStyle/>
                    <a:p>
                      <a:r>
                        <a:rPr lang="fi-FI" b="1">
                          <a:effectLst/>
                          <a:latin typeface="Helvetica" pitchFamily="2" charset="0"/>
                        </a:rPr>
                        <a:t>while </a:t>
                      </a:r>
                      <a:endParaRPr lang="fi-FI">
                        <a:effectLst/>
                        <a:latin typeface="Helvetica" pitchFamily="2" charset="0"/>
                      </a:endParaRPr>
                    </a:p>
                  </a:txBody>
                  <a:tcPr marL="47625" marR="47625" marT="0" marB="0"/>
                </a:tc>
                <a:tc>
                  <a:txBody>
                    <a:bodyPr/>
                    <a:lstStyle/>
                    <a:p>
                      <a:endParaRPr lang="fi-FI" dirty="0"/>
                    </a:p>
                  </a:txBody>
                  <a:tcPr/>
                </a:tc>
                <a:extLst>
                  <a:ext uri="{0D108BD9-81ED-4DB2-BD59-A6C34878D82A}">
                    <a16:rowId xmlns:a16="http://schemas.microsoft.com/office/drawing/2014/main" val="1683581490"/>
                  </a:ext>
                </a:extLst>
              </a:tr>
            </a:tbl>
          </a:graphicData>
        </a:graphic>
      </p:graphicFrame>
    </p:spTree>
    <p:extLst>
      <p:ext uri="{BB962C8B-B14F-4D97-AF65-F5344CB8AC3E}">
        <p14:creationId xmlns:p14="http://schemas.microsoft.com/office/powerpoint/2010/main" val="324656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D43D68B0-7D80-EF4E-90BC-B36C0040C6AE}"/>
              </a:ext>
            </a:extLst>
          </p:cNvPr>
          <p:cNvSpPr>
            <a:spLocks noGrp="1"/>
          </p:cNvSpPr>
          <p:nvPr>
            <p:ph type="title"/>
          </p:nvPr>
        </p:nvSpPr>
        <p:spPr>
          <a:xfrm>
            <a:off x="791918" y="129863"/>
            <a:ext cx="8063670" cy="605633"/>
          </a:xfrm>
        </p:spPr>
        <p:txBody>
          <a:bodyPr/>
          <a:lstStyle/>
          <a:p>
            <a:r>
              <a:rPr lang="fi-FI" dirty="0"/>
              <a:t>Muuttujien määrittelystä</a:t>
            </a:r>
          </a:p>
        </p:txBody>
      </p:sp>
      <p:sp>
        <p:nvSpPr>
          <p:cNvPr id="3" name="Sisällön paikkamerkki 2">
            <a:extLst>
              <a:ext uri="{FF2B5EF4-FFF2-40B4-BE49-F238E27FC236}">
                <a16:creationId xmlns:a16="http://schemas.microsoft.com/office/drawing/2014/main" id="{0FD5C905-E751-834A-9711-3A80B492E581}"/>
              </a:ext>
            </a:extLst>
          </p:cNvPr>
          <p:cNvSpPr>
            <a:spLocks noGrp="1"/>
          </p:cNvSpPr>
          <p:nvPr>
            <p:ph sz="quarter" idx="12"/>
          </p:nvPr>
        </p:nvSpPr>
        <p:spPr>
          <a:xfrm>
            <a:off x="791918" y="735496"/>
            <a:ext cx="8063670" cy="5992641"/>
          </a:xfrm>
        </p:spPr>
        <p:txBody>
          <a:bodyPr/>
          <a:lstStyle/>
          <a:p>
            <a:r>
              <a:rPr lang="fi-FI" dirty="0"/>
              <a:t>JavaScriptissä opimme, että muuttujat määriteltiin joka </a:t>
            </a:r>
            <a:r>
              <a:rPr lang="fi-FI" dirty="0" err="1"/>
              <a:t>var</a:t>
            </a:r>
            <a:r>
              <a:rPr lang="fi-FI" dirty="0"/>
              <a:t> tai </a:t>
            </a:r>
            <a:r>
              <a:rPr lang="fi-FI" dirty="0" err="1"/>
              <a:t>let</a:t>
            </a:r>
            <a:r>
              <a:rPr lang="fi-FI" dirty="0"/>
              <a:t> –apusanalla, riippuen siitä, oliko muuttuja globaali tai paikallinen.</a:t>
            </a:r>
          </a:p>
          <a:p>
            <a:r>
              <a:rPr lang="fi-FI" dirty="0"/>
              <a:t>Korkeamman tason kielissä, kuten C#:</a:t>
            </a:r>
            <a:r>
              <a:rPr lang="fi-FI" dirty="0" err="1"/>
              <a:t>ssa</a:t>
            </a:r>
            <a:r>
              <a:rPr lang="fi-FI" dirty="0"/>
              <a:t>, määritellään kuitenkin tyypin mukaan, eli minkä tyyppinen muuttuja, sen mukaan määritellään ja tyypit jakautuvat periaatteessa viiteen eri osioon, mutta numero-osio jakautuu vielä 11 eri osioon, riippuen siitä, kuinka iso numero on kyseessä ja onko kyseessä kokonaisluku, vai desimaaliluku</a:t>
            </a:r>
          </a:p>
          <a:p>
            <a:r>
              <a:rPr lang="fi-FI" dirty="0"/>
              <a:t>Numerot:</a:t>
            </a:r>
          </a:p>
          <a:p>
            <a:endParaRPr lang="fi-FI" dirty="0"/>
          </a:p>
        </p:txBody>
      </p:sp>
      <p:graphicFrame>
        <p:nvGraphicFramePr>
          <p:cNvPr id="4" name="Taulukko 4">
            <a:extLst>
              <a:ext uri="{FF2B5EF4-FFF2-40B4-BE49-F238E27FC236}">
                <a16:creationId xmlns:a16="http://schemas.microsoft.com/office/drawing/2014/main" id="{0B9EB6F7-89C7-9F4D-84B0-40BD21B710AA}"/>
              </a:ext>
            </a:extLst>
          </p:cNvPr>
          <p:cNvGraphicFramePr>
            <a:graphicFrameLocks noGrp="1"/>
          </p:cNvGraphicFramePr>
          <p:nvPr>
            <p:extLst>
              <p:ext uri="{D42A27DB-BD31-4B8C-83A1-F6EECF244321}">
                <p14:modId xmlns:p14="http://schemas.microsoft.com/office/powerpoint/2010/main" val="3526629763"/>
              </p:ext>
            </p:extLst>
          </p:nvPr>
        </p:nvGraphicFramePr>
        <p:xfrm>
          <a:off x="1196008" y="2977322"/>
          <a:ext cx="7947992" cy="3337560"/>
        </p:xfrm>
        <a:graphic>
          <a:graphicData uri="http://schemas.openxmlformats.org/drawingml/2006/table">
            <a:tbl>
              <a:tblPr firstRow="1" bandRow="1">
                <a:tableStyleId>{5C22544A-7EE6-4342-B048-85BDC9FD1C3A}</a:tableStyleId>
              </a:tblPr>
              <a:tblGrid>
                <a:gridCol w="1249018">
                  <a:extLst>
                    <a:ext uri="{9D8B030D-6E8A-4147-A177-3AD203B41FA5}">
                      <a16:colId xmlns:a16="http://schemas.microsoft.com/office/drawing/2014/main" val="1825296329"/>
                    </a:ext>
                  </a:extLst>
                </a:gridCol>
                <a:gridCol w="1331844">
                  <a:extLst>
                    <a:ext uri="{9D8B030D-6E8A-4147-A177-3AD203B41FA5}">
                      <a16:colId xmlns:a16="http://schemas.microsoft.com/office/drawing/2014/main" val="969520592"/>
                    </a:ext>
                  </a:extLst>
                </a:gridCol>
                <a:gridCol w="2733260">
                  <a:extLst>
                    <a:ext uri="{9D8B030D-6E8A-4147-A177-3AD203B41FA5}">
                      <a16:colId xmlns:a16="http://schemas.microsoft.com/office/drawing/2014/main" val="4258560189"/>
                    </a:ext>
                  </a:extLst>
                </a:gridCol>
                <a:gridCol w="2633870">
                  <a:extLst>
                    <a:ext uri="{9D8B030D-6E8A-4147-A177-3AD203B41FA5}">
                      <a16:colId xmlns:a16="http://schemas.microsoft.com/office/drawing/2014/main" val="2634476990"/>
                    </a:ext>
                  </a:extLst>
                </a:gridCol>
              </a:tblGrid>
              <a:tr h="370840">
                <a:tc>
                  <a:txBody>
                    <a:bodyPr/>
                    <a:lstStyle/>
                    <a:p>
                      <a:r>
                        <a:rPr lang="fi-FI" dirty="0"/>
                        <a:t>Datatyyppi</a:t>
                      </a:r>
                    </a:p>
                  </a:txBody>
                  <a:tcPr/>
                </a:tc>
                <a:tc>
                  <a:txBody>
                    <a:bodyPr/>
                    <a:lstStyle/>
                    <a:p>
                      <a:r>
                        <a:rPr lang="fi-FI" dirty="0"/>
                        <a:t>Oletusarvo</a:t>
                      </a:r>
                    </a:p>
                  </a:txBody>
                  <a:tcPr/>
                </a:tc>
                <a:tc>
                  <a:txBody>
                    <a:bodyPr/>
                    <a:lstStyle/>
                    <a:p>
                      <a:r>
                        <a:rPr lang="fi-FI" dirty="0"/>
                        <a:t>Minimiarvo</a:t>
                      </a:r>
                    </a:p>
                  </a:txBody>
                  <a:tcPr/>
                </a:tc>
                <a:tc>
                  <a:txBody>
                    <a:bodyPr/>
                    <a:lstStyle/>
                    <a:p>
                      <a:r>
                        <a:rPr lang="fi-FI" dirty="0"/>
                        <a:t>Maksimiarvo</a:t>
                      </a:r>
                    </a:p>
                  </a:txBody>
                  <a:tcPr/>
                </a:tc>
                <a:extLst>
                  <a:ext uri="{0D108BD9-81ED-4DB2-BD59-A6C34878D82A}">
                    <a16:rowId xmlns:a16="http://schemas.microsoft.com/office/drawing/2014/main" val="1825577523"/>
                  </a:ext>
                </a:extLst>
              </a:tr>
              <a:tr h="370840">
                <a:tc>
                  <a:txBody>
                    <a:bodyPr/>
                    <a:lstStyle/>
                    <a:p>
                      <a:r>
                        <a:rPr lang="fi-FI" dirty="0" err="1"/>
                        <a:t>sbyte</a:t>
                      </a:r>
                      <a:endParaRPr lang="fi-FI" dirty="0"/>
                    </a:p>
                  </a:txBody>
                  <a:tcPr/>
                </a:tc>
                <a:tc>
                  <a:txBody>
                    <a:bodyPr/>
                    <a:lstStyle/>
                    <a:p>
                      <a:r>
                        <a:rPr lang="fi-FI" dirty="0"/>
                        <a:t>0</a:t>
                      </a:r>
                    </a:p>
                  </a:txBody>
                  <a:tcPr/>
                </a:tc>
                <a:tc>
                  <a:txBody>
                    <a:bodyPr/>
                    <a:lstStyle/>
                    <a:p>
                      <a:r>
                        <a:rPr lang="fi-FI" dirty="0"/>
                        <a:t>-128</a:t>
                      </a:r>
                    </a:p>
                  </a:txBody>
                  <a:tcPr/>
                </a:tc>
                <a:tc>
                  <a:txBody>
                    <a:bodyPr/>
                    <a:lstStyle/>
                    <a:p>
                      <a:r>
                        <a:rPr lang="fi-FI" dirty="0"/>
                        <a:t>127</a:t>
                      </a:r>
                    </a:p>
                  </a:txBody>
                  <a:tcPr/>
                </a:tc>
                <a:extLst>
                  <a:ext uri="{0D108BD9-81ED-4DB2-BD59-A6C34878D82A}">
                    <a16:rowId xmlns:a16="http://schemas.microsoft.com/office/drawing/2014/main" val="972498912"/>
                  </a:ext>
                </a:extLst>
              </a:tr>
              <a:tr h="370840">
                <a:tc>
                  <a:txBody>
                    <a:bodyPr/>
                    <a:lstStyle/>
                    <a:p>
                      <a:r>
                        <a:rPr lang="fi-FI" dirty="0" err="1"/>
                        <a:t>byte</a:t>
                      </a:r>
                      <a:endParaRPr lang="fi-FI" dirty="0"/>
                    </a:p>
                  </a:txBody>
                  <a:tcPr/>
                </a:tc>
                <a:tc>
                  <a:txBody>
                    <a:bodyPr/>
                    <a:lstStyle/>
                    <a:p>
                      <a:r>
                        <a:rPr lang="fi-FI" dirty="0"/>
                        <a:t>0</a:t>
                      </a:r>
                    </a:p>
                  </a:txBody>
                  <a:tcPr/>
                </a:tc>
                <a:tc>
                  <a:txBody>
                    <a:bodyPr/>
                    <a:lstStyle/>
                    <a:p>
                      <a:r>
                        <a:rPr lang="fi-FI" dirty="0"/>
                        <a:t>0</a:t>
                      </a:r>
                    </a:p>
                  </a:txBody>
                  <a:tcPr/>
                </a:tc>
                <a:tc>
                  <a:txBody>
                    <a:bodyPr/>
                    <a:lstStyle/>
                    <a:p>
                      <a:r>
                        <a:rPr lang="fi-FI" dirty="0"/>
                        <a:t>255</a:t>
                      </a:r>
                    </a:p>
                  </a:txBody>
                  <a:tcPr/>
                </a:tc>
                <a:extLst>
                  <a:ext uri="{0D108BD9-81ED-4DB2-BD59-A6C34878D82A}">
                    <a16:rowId xmlns:a16="http://schemas.microsoft.com/office/drawing/2014/main" val="3470148480"/>
                  </a:ext>
                </a:extLst>
              </a:tr>
              <a:tr h="370840">
                <a:tc>
                  <a:txBody>
                    <a:bodyPr/>
                    <a:lstStyle/>
                    <a:p>
                      <a:r>
                        <a:rPr lang="fi-FI" dirty="0" err="1"/>
                        <a:t>short</a:t>
                      </a:r>
                      <a:endParaRPr lang="fi-FI" dirty="0"/>
                    </a:p>
                  </a:txBody>
                  <a:tcPr/>
                </a:tc>
                <a:tc>
                  <a:txBody>
                    <a:bodyPr/>
                    <a:lstStyle/>
                    <a:p>
                      <a:r>
                        <a:rPr lang="fi-FI" dirty="0"/>
                        <a:t>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i-FI" dirty="0"/>
                        <a:t>-32768</a:t>
                      </a:r>
                    </a:p>
                  </a:txBody>
                  <a:tcPr/>
                </a:tc>
                <a:tc>
                  <a:txBody>
                    <a:bodyPr/>
                    <a:lstStyle/>
                    <a:p>
                      <a:r>
                        <a:rPr lang="fi-FI" dirty="0"/>
                        <a:t>32767</a:t>
                      </a:r>
                    </a:p>
                  </a:txBody>
                  <a:tcPr/>
                </a:tc>
                <a:extLst>
                  <a:ext uri="{0D108BD9-81ED-4DB2-BD59-A6C34878D82A}">
                    <a16:rowId xmlns:a16="http://schemas.microsoft.com/office/drawing/2014/main" val="1911204839"/>
                  </a:ext>
                </a:extLst>
              </a:tr>
              <a:tr h="370840">
                <a:tc>
                  <a:txBody>
                    <a:bodyPr/>
                    <a:lstStyle/>
                    <a:p>
                      <a:r>
                        <a:rPr lang="fi-FI" dirty="0" err="1"/>
                        <a:t>ushort</a:t>
                      </a:r>
                      <a:endParaRPr lang="fi-FI" dirty="0"/>
                    </a:p>
                  </a:txBody>
                  <a:tcPr/>
                </a:tc>
                <a:tc>
                  <a:txBody>
                    <a:bodyPr/>
                    <a:lstStyle/>
                    <a:p>
                      <a:r>
                        <a:rPr lang="fi-FI" dirty="0"/>
                        <a:t>0</a:t>
                      </a:r>
                    </a:p>
                  </a:txBody>
                  <a:tcPr/>
                </a:tc>
                <a:tc>
                  <a:txBody>
                    <a:bodyPr/>
                    <a:lstStyle/>
                    <a:p>
                      <a:r>
                        <a:rPr lang="fi-FI" dirty="0"/>
                        <a:t>0</a:t>
                      </a:r>
                    </a:p>
                  </a:txBody>
                  <a:tcPr/>
                </a:tc>
                <a:tc>
                  <a:txBody>
                    <a:bodyPr/>
                    <a:lstStyle/>
                    <a:p>
                      <a:r>
                        <a:rPr lang="fi-FI" dirty="0"/>
                        <a:t>65535</a:t>
                      </a:r>
                    </a:p>
                  </a:txBody>
                  <a:tcPr/>
                </a:tc>
                <a:extLst>
                  <a:ext uri="{0D108BD9-81ED-4DB2-BD59-A6C34878D82A}">
                    <a16:rowId xmlns:a16="http://schemas.microsoft.com/office/drawing/2014/main" val="2366554606"/>
                  </a:ext>
                </a:extLst>
              </a:tr>
              <a:tr h="370840">
                <a:tc>
                  <a:txBody>
                    <a:bodyPr/>
                    <a:lstStyle/>
                    <a:p>
                      <a:r>
                        <a:rPr lang="fi-FI" dirty="0" err="1"/>
                        <a:t>int</a:t>
                      </a:r>
                      <a:endParaRPr lang="fi-FI" dirty="0"/>
                    </a:p>
                  </a:txBody>
                  <a:tcPr/>
                </a:tc>
                <a:tc>
                  <a:txBody>
                    <a:bodyPr/>
                    <a:lstStyle/>
                    <a:p>
                      <a:r>
                        <a:rPr lang="fi-FI" dirty="0"/>
                        <a:t>0</a:t>
                      </a:r>
                    </a:p>
                  </a:txBody>
                  <a:tcPr/>
                </a:tc>
                <a:tc>
                  <a:txBody>
                    <a:bodyPr/>
                    <a:lstStyle/>
                    <a:p>
                      <a:r>
                        <a:rPr lang="fi-FI" dirty="0"/>
                        <a:t>-2147483648</a:t>
                      </a:r>
                    </a:p>
                  </a:txBody>
                  <a:tcPr/>
                </a:tc>
                <a:tc>
                  <a:txBody>
                    <a:bodyPr/>
                    <a:lstStyle/>
                    <a:p>
                      <a:r>
                        <a:rPr lang="fi-FI" dirty="0"/>
                        <a:t>2147483647</a:t>
                      </a:r>
                    </a:p>
                  </a:txBody>
                  <a:tcPr/>
                </a:tc>
                <a:extLst>
                  <a:ext uri="{0D108BD9-81ED-4DB2-BD59-A6C34878D82A}">
                    <a16:rowId xmlns:a16="http://schemas.microsoft.com/office/drawing/2014/main" val="3917779130"/>
                  </a:ext>
                </a:extLst>
              </a:tr>
              <a:tr h="370840">
                <a:tc>
                  <a:txBody>
                    <a:bodyPr/>
                    <a:lstStyle/>
                    <a:p>
                      <a:r>
                        <a:rPr lang="fi-FI" dirty="0" err="1"/>
                        <a:t>uint</a:t>
                      </a:r>
                      <a:endParaRPr lang="fi-FI" dirty="0"/>
                    </a:p>
                  </a:txBody>
                  <a:tcPr/>
                </a:tc>
                <a:tc>
                  <a:txBody>
                    <a:bodyPr/>
                    <a:lstStyle/>
                    <a:p>
                      <a:r>
                        <a:rPr lang="fi-FI" dirty="0"/>
                        <a:t>0u</a:t>
                      </a:r>
                    </a:p>
                  </a:txBody>
                  <a:tcPr/>
                </a:tc>
                <a:tc>
                  <a:txBody>
                    <a:bodyPr/>
                    <a:lstStyle/>
                    <a:p>
                      <a:r>
                        <a:rPr lang="fi-FI" dirty="0"/>
                        <a:t>0</a:t>
                      </a:r>
                    </a:p>
                  </a:txBody>
                  <a:tcPr/>
                </a:tc>
                <a:tc>
                  <a:txBody>
                    <a:bodyPr/>
                    <a:lstStyle/>
                    <a:p>
                      <a:r>
                        <a:rPr lang="fi-FI" dirty="0"/>
                        <a:t>4294967295</a:t>
                      </a:r>
                    </a:p>
                  </a:txBody>
                  <a:tcPr/>
                </a:tc>
                <a:extLst>
                  <a:ext uri="{0D108BD9-81ED-4DB2-BD59-A6C34878D82A}">
                    <a16:rowId xmlns:a16="http://schemas.microsoft.com/office/drawing/2014/main" val="1168307478"/>
                  </a:ext>
                </a:extLst>
              </a:tr>
              <a:tr h="370840">
                <a:tc>
                  <a:txBody>
                    <a:bodyPr/>
                    <a:lstStyle/>
                    <a:p>
                      <a:r>
                        <a:rPr lang="fi-FI" dirty="0"/>
                        <a:t>long</a:t>
                      </a:r>
                    </a:p>
                  </a:txBody>
                  <a:tcPr/>
                </a:tc>
                <a:tc>
                  <a:txBody>
                    <a:bodyPr/>
                    <a:lstStyle/>
                    <a:p>
                      <a:r>
                        <a:rPr lang="fi-FI" dirty="0"/>
                        <a:t>0L</a:t>
                      </a:r>
                    </a:p>
                  </a:txBody>
                  <a:tcPr/>
                </a:tc>
                <a:tc>
                  <a:txBody>
                    <a:bodyPr/>
                    <a:lstStyle/>
                    <a:p>
                      <a:r>
                        <a:rPr lang="fi-FI" dirty="0"/>
                        <a:t>-9223372036854775808</a:t>
                      </a:r>
                    </a:p>
                  </a:txBody>
                  <a:tcPr/>
                </a:tc>
                <a:tc>
                  <a:txBody>
                    <a:bodyPr/>
                    <a:lstStyle/>
                    <a:p>
                      <a:r>
                        <a:rPr lang="fi-FI" dirty="0"/>
                        <a:t>9223372036854775807</a:t>
                      </a:r>
                    </a:p>
                  </a:txBody>
                  <a:tcPr/>
                </a:tc>
                <a:extLst>
                  <a:ext uri="{0D108BD9-81ED-4DB2-BD59-A6C34878D82A}">
                    <a16:rowId xmlns:a16="http://schemas.microsoft.com/office/drawing/2014/main" val="3299668538"/>
                  </a:ext>
                </a:extLst>
              </a:tr>
              <a:tr h="370840">
                <a:tc>
                  <a:txBody>
                    <a:bodyPr/>
                    <a:lstStyle/>
                    <a:p>
                      <a:r>
                        <a:rPr lang="fi-FI" dirty="0" err="1"/>
                        <a:t>ulong</a:t>
                      </a:r>
                      <a:endParaRPr lang="fi-FI" dirty="0"/>
                    </a:p>
                  </a:txBody>
                  <a:tcPr/>
                </a:tc>
                <a:tc>
                  <a:txBody>
                    <a:bodyPr/>
                    <a:lstStyle/>
                    <a:p>
                      <a:r>
                        <a:rPr lang="fi-FI" dirty="0"/>
                        <a:t>0u</a:t>
                      </a:r>
                    </a:p>
                  </a:txBody>
                  <a:tcPr/>
                </a:tc>
                <a:tc>
                  <a:txBody>
                    <a:bodyPr/>
                    <a:lstStyle/>
                    <a:p>
                      <a:r>
                        <a:rPr lang="fi-FI" dirty="0"/>
                        <a:t>0</a:t>
                      </a:r>
                    </a:p>
                  </a:txBody>
                  <a:tcPr/>
                </a:tc>
                <a:tc>
                  <a:txBody>
                    <a:bodyPr/>
                    <a:lstStyle/>
                    <a:p>
                      <a:r>
                        <a:rPr lang="fi-FI" dirty="0"/>
                        <a:t>18446744073709551615</a:t>
                      </a:r>
                    </a:p>
                  </a:txBody>
                  <a:tcPr/>
                </a:tc>
                <a:extLst>
                  <a:ext uri="{0D108BD9-81ED-4DB2-BD59-A6C34878D82A}">
                    <a16:rowId xmlns:a16="http://schemas.microsoft.com/office/drawing/2014/main" val="913507411"/>
                  </a:ext>
                </a:extLst>
              </a:tr>
            </a:tbl>
          </a:graphicData>
        </a:graphic>
      </p:graphicFrame>
    </p:spTree>
    <p:extLst>
      <p:ext uri="{BB962C8B-B14F-4D97-AF65-F5344CB8AC3E}">
        <p14:creationId xmlns:p14="http://schemas.microsoft.com/office/powerpoint/2010/main" val="4006595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02B055A4-CB86-E146-BBCF-A6F1CDB5B6BF}"/>
              </a:ext>
            </a:extLst>
          </p:cNvPr>
          <p:cNvSpPr>
            <a:spLocks noGrp="1"/>
          </p:cNvSpPr>
          <p:nvPr>
            <p:ph type="title"/>
          </p:nvPr>
        </p:nvSpPr>
        <p:spPr>
          <a:xfrm>
            <a:off x="791918" y="129863"/>
            <a:ext cx="8063670" cy="615572"/>
          </a:xfrm>
        </p:spPr>
        <p:txBody>
          <a:bodyPr/>
          <a:lstStyle/>
          <a:p>
            <a:r>
              <a:rPr lang="fi-FI" dirty="0"/>
              <a:t>Muuttujien määrittelystä</a:t>
            </a:r>
          </a:p>
        </p:txBody>
      </p:sp>
      <p:sp>
        <p:nvSpPr>
          <p:cNvPr id="3" name="Sisällön paikkamerkki 2">
            <a:extLst>
              <a:ext uri="{FF2B5EF4-FFF2-40B4-BE49-F238E27FC236}">
                <a16:creationId xmlns:a16="http://schemas.microsoft.com/office/drawing/2014/main" id="{3F6876F1-7182-E444-9D4C-003ADD42613F}"/>
              </a:ext>
            </a:extLst>
          </p:cNvPr>
          <p:cNvSpPr>
            <a:spLocks noGrp="1"/>
          </p:cNvSpPr>
          <p:nvPr>
            <p:ph sz="quarter" idx="12"/>
          </p:nvPr>
        </p:nvSpPr>
        <p:spPr>
          <a:xfrm>
            <a:off x="791918" y="3761418"/>
            <a:ext cx="8063670" cy="2966720"/>
          </a:xfrm>
        </p:spPr>
        <p:txBody>
          <a:bodyPr/>
          <a:lstStyle/>
          <a:p>
            <a:r>
              <a:rPr lang="fi-FI" dirty="0"/>
              <a:t>Kokonaislukutyyppejä olivat siis </a:t>
            </a:r>
            <a:r>
              <a:rPr lang="fi-FI" dirty="0" err="1"/>
              <a:t>sbyte</a:t>
            </a:r>
            <a:r>
              <a:rPr lang="fi-FI" dirty="0"/>
              <a:t>, </a:t>
            </a:r>
            <a:r>
              <a:rPr lang="fi-FI" dirty="0" err="1"/>
              <a:t>byte</a:t>
            </a:r>
            <a:r>
              <a:rPr lang="fi-FI" dirty="0"/>
              <a:t>, </a:t>
            </a:r>
            <a:r>
              <a:rPr lang="fi-FI" dirty="0" err="1"/>
              <a:t>short</a:t>
            </a:r>
            <a:r>
              <a:rPr lang="fi-FI" dirty="0"/>
              <a:t>, </a:t>
            </a:r>
            <a:r>
              <a:rPr lang="fi-FI" dirty="0" err="1"/>
              <a:t>ushort</a:t>
            </a:r>
            <a:r>
              <a:rPr lang="fi-FI" dirty="0"/>
              <a:t>, </a:t>
            </a:r>
            <a:r>
              <a:rPr lang="fi-FI" dirty="0" err="1"/>
              <a:t>int</a:t>
            </a:r>
            <a:r>
              <a:rPr lang="fi-FI" dirty="0"/>
              <a:t>, </a:t>
            </a:r>
            <a:r>
              <a:rPr lang="fi-FI" dirty="0" err="1"/>
              <a:t>uint</a:t>
            </a:r>
            <a:r>
              <a:rPr lang="fi-FI" dirty="0"/>
              <a:t>, long ja </a:t>
            </a:r>
            <a:r>
              <a:rPr lang="fi-FI" dirty="0" err="1"/>
              <a:t>ulong</a:t>
            </a:r>
            <a:endParaRPr lang="fi-FI" dirty="0"/>
          </a:p>
          <a:p>
            <a:r>
              <a:rPr lang="fi-FI" dirty="0"/>
              <a:t>Liukulukutyyppejä olivat </a:t>
            </a:r>
            <a:r>
              <a:rPr lang="fi-FI" dirty="0" err="1"/>
              <a:t>float</a:t>
            </a:r>
            <a:r>
              <a:rPr lang="fi-FI" dirty="0"/>
              <a:t> ja </a:t>
            </a:r>
            <a:r>
              <a:rPr lang="fi-FI" dirty="0" err="1"/>
              <a:t>double</a:t>
            </a:r>
            <a:endParaRPr lang="fi-FI" dirty="0"/>
          </a:p>
          <a:p>
            <a:r>
              <a:rPr lang="fi-FI" dirty="0"/>
              <a:t>Desimaalitarkkuustyyppi </a:t>
            </a:r>
            <a:r>
              <a:rPr lang="fi-FI" dirty="0" err="1"/>
              <a:t>decimal</a:t>
            </a:r>
            <a:endParaRPr lang="fi-FI" dirty="0"/>
          </a:p>
          <a:p>
            <a:r>
              <a:rPr lang="fi-FI" dirty="0"/>
              <a:t>Tosi/epätosi (</a:t>
            </a:r>
            <a:r>
              <a:rPr lang="fi-FI" dirty="0" err="1"/>
              <a:t>boolean</a:t>
            </a:r>
            <a:r>
              <a:rPr lang="fi-FI" dirty="0"/>
              <a:t>) tyyppi – </a:t>
            </a:r>
            <a:r>
              <a:rPr lang="fi-FI" dirty="0" err="1"/>
              <a:t>bool</a:t>
            </a:r>
            <a:endParaRPr lang="fi-FI" dirty="0"/>
          </a:p>
          <a:p>
            <a:r>
              <a:rPr lang="fi-FI" dirty="0"/>
              <a:t>Merkkityyppi – </a:t>
            </a:r>
            <a:r>
              <a:rPr lang="fi-FI" dirty="0" err="1"/>
              <a:t>char</a:t>
            </a:r>
            <a:endParaRPr lang="fi-FI" dirty="0"/>
          </a:p>
          <a:p>
            <a:r>
              <a:rPr lang="fi-FI" dirty="0"/>
              <a:t>Merkkijonotyyppi – </a:t>
            </a:r>
            <a:r>
              <a:rPr lang="fi-FI" dirty="0" err="1"/>
              <a:t>string</a:t>
            </a:r>
            <a:endParaRPr lang="fi-FI" dirty="0"/>
          </a:p>
          <a:p>
            <a:r>
              <a:rPr lang="fi-FI" dirty="0"/>
              <a:t>Objektityyppi – </a:t>
            </a:r>
            <a:r>
              <a:rPr lang="fi-FI" dirty="0" err="1"/>
              <a:t>object</a:t>
            </a:r>
            <a:endParaRPr lang="fi-FI" dirty="0"/>
          </a:p>
          <a:p>
            <a:r>
              <a:rPr lang="fi-FI" dirty="0">
                <a:solidFill>
                  <a:srgbClr val="FF0000"/>
                </a:solidFill>
              </a:rPr>
              <a:t>HUOM! </a:t>
            </a:r>
            <a:r>
              <a:rPr lang="fi-FI" dirty="0" err="1">
                <a:solidFill>
                  <a:srgbClr val="FF0000"/>
                </a:solidFill>
              </a:rPr>
              <a:t>Int</a:t>
            </a:r>
            <a:r>
              <a:rPr lang="fi-FI" dirty="0">
                <a:solidFill>
                  <a:srgbClr val="FF0000"/>
                </a:solidFill>
              </a:rPr>
              <a:t>/</a:t>
            </a:r>
            <a:r>
              <a:rPr lang="fi-FI" dirty="0" err="1">
                <a:solidFill>
                  <a:srgbClr val="FF0000"/>
                </a:solidFill>
              </a:rPr>
              <a:t>int</a:t>
            </a:r>
            <a:r>
              <a:rPr lang="fi-FI" dirty="0">
                <a:solidFill>
                  <a:srgbClr val="FF0000"/>
                </a:solidFill>
              </a:rPr>
              <a:t> = </a:t>
            </a:r>
            <a:r>
              <a:rPr lang="fi-FI" dirty="0" err="1">
                <a:solidFill>
                  <a:srgbClr val="FF0000"/>
                </a:solidFill>
              </a:rPr>
              <a:t>int</a:t>
            </a:r>
            <a:r>
              <a:rPr lang="fi-FI" dirty="0"/>
              <a:t>, eli 3 / 2 = 1, ellet (</a:t>
            </a:r>
            <a:r>
              <a:rPr lang="fi-FI" dirty="0" err="1"/>
              <a:t>float</a:t>
            </a:r>
            <a:r>
              <a:rPr lang="fi-FI" dirty="0"/>
              <a:t>)3/2= 1.5</a:t>
            </a:r>
          </a:p>
        </p:txBody>
      </p:sp>
      <p:graphicFrame>
        <p:nvGraphicFramePr>
          <p:cNvPr id="4" name="Taulukko 4">
            <a:extLst>
              <a:ext uri="{FF2B5EF4-FFF2-40B4-BE49-F238E27FC236}">
                <a16:creationId xmlns:a16="http://schemas.microsoft.com/office/drawing/2014/main" id="{281CB64E-F24A-D347-8E2F-6E6DC65DE587}"/>
              </a:ext>
            </a:extLst>
          </p:cNvPr>
          <p:cNvGraphicFramePr>
            <a:graphicFrameLocks noGrp="1"/>
          </p:cNvGraphicFramePr>
          <p:nvPr>
            <p:extLst>
              <p:ext uri="{D42A27DB-BD31-4B8C-83A1-F6EECF244321}">
                <p14:modId xmlns:p14="http://schemas.microsoft.com/office/powerpoint/2010/main" val="551816020"/>
              </p:ext>
            </p:extLst>
          </p:nvPr>
        </p:nvGraphicFramePr>
        <p:xfrm>
          <a:off x="791918" y="745435"/>
          <a:ext cx="7947992" cy="2966720"/>
        </p:xfrm>
        <a:graphic>
          <a:graphicData uri="http://schemas.openxmlformats.org/drawingml/2006/table">
            <a:tbl>
              <a:tblPr firstRow="1" bandRow="1">
                <a:tableStyleId>{5C22544A-7EE6-4342-B048-85BDC9FD1C3A}</a:tableStyleId>
              </a:tblPr>
              <a:tblGrid>
                <a:gridCol w="1249018">
                  <a:extLst>
                    <a:ext uri="{9D8B030D-6E8A-4147-A177-3AD203B41FA5}">
                      <a16:colId xmlns:a16="http://schemas.microsoft.com/office/drawing/2014/main" val="1825296329"/>
                    </a:ext>
                  </a:extLst>
                </a:gridCol>
                <a:gridCol w="1331844">
                  <a:extLst>
                    <a:ext uri="{9D8B030D-6E8A-4147-A177-3AD203B41FA5}">
                      <a16:colId xmlns:a16="http://schemas.microsoft.com/office/drawing/2014/main" val="969520592"/>
                    </a:ext>
                  </a:extLst>
                </a:gridCol>
                <a:gridCol w="2733260">
                  <a:extLst>
                    <a:ext uri="{9D8B030D-6E8A-4147-A177-3AD203B41FA5}">
                      <a16:colId xmlns:a16="http://schemas.microsoft.com/office/drawing/2014/main" val="4258560189"/>
                    </a:ext>
                  </a:extLst>
                </a:gridCol>
                <a:gridCol w="2633870">
                  <a:extLst>
                    <a:ext uri="{9D8B030D-6E8A-4147-A177-3AD203B41FA5}">
                      <a16:colId xmlns:a16="http://schemas.microsoft.com/office/drawing/2014/main" val="2634476990"/>
                    </a:ext>
                  </a:extLst>
                </a:gridCol>
              </a:tblGrid>
              <a:tr h="370840">
                <a:tc>
                  <a:txBody>
                    <a:bodyPr/>
                    <a:lstStyle/>
                    <a:p>
                      <a:r>
                        <a:rPr lang="fi-FI" dirty="0"/>
                        <a:t>Datatyyppi</a:t>
                      </a:r>
                    </a:p>
                  </a:txBody>
                  <a:tcPr/>
                </a:tc>
                <a:tc>
                  <a:txBody>
                    <a:bodyPr/>
                    <a:lstStyle/>
                    <a:p>
                      <a:r>
                        <a:rPr lang="fi-FI" dirty="0"/>
                        <a:t>Oletusarvo</a:t>
                      </a:r>
                    </a:p>
                  </a:txBody>
                  <a:tcPr/>
                </a:tc>
                <a:tc>
                  <a:txBody>
                    <a:bodyPr/>
                    <a:lstStyle/>
                    <a:p>
                      <a:r>
                        <a:rPr lang="fi-FI" dirty="0"/>
                        <a:t>Minimiarvo</a:t>
                      </a:r>
                    </a:p>
                  </a:txBody>
                  <a:tcPr/>
                </a:tc>
                <a:tc>
                  <a:txBody>
                    <a:bodyPr/>
                    <a:lstStyle/>
                    <a:p>
                      <a:r>
                        <a:rPr lang="fi-FI" dirty="0"/>
                        <a:t>Maksimiarvo</a:t>
                      </a:r>
                    </a:p>
                  </a:txBody>
                  <a:tcPr/>
                </a:tc>
                <a:extLst>
                  <a:ext uri="{0D108BD9-81ED-4DB2-BD59-A6C34878D82A}">
                    <a16:rowId xmlns:a16="http://schemas.microsoft.com/office/drawing/2014/main" val="1825577523"/>
                  </a:ext>
                </a:extLst>
              </a:tr>
              <a:tr h="370840">
                <a:tc>
                  <a:txBody>
                    <a:bodyPr/>
                    <a:lstStyle/>
                    <a:p>
                      <a:r>
                        <a:rPr lang="fi-FI" dirty="0" err="1"/>
                        <a:t>float</a:t>
                      </a:r>
                      <a:endParaRPr lang="fi-FI" dirty="0"/>
                    </a:p>
                  </a:txBody>
                  <a:tcPr/>
                </a:tc>
                <a:tc>
                  <a:txBody>
                    <a:bodyPr/>
                    <a:lstStyle/>
                    <a:p>
                      <a:r>
                        <a:rPr lang="fi-FI" dirty="0"/>
                        <a:t>0.0f</a:t>
                      </a:r>
                    </a:p>
                  </a:txBody>
                  <a:tcPr/>
                </a:tc>
                <a:tc>
                  <a:txBody>
                    <a:bodyPr/>
                    <a:lstStyle/>
                    <a:p>
                      <a:r>
                        <a:rPr lang="fi-FI" dirty="0"/>
                        <a:t>±1.5x10</a:t>
                      </a:r>
                      <a:r>
                        <a:rPr lang="fi-FI" baseline="30000" dirty="0"/>
                        <a:t>-45</a:t>
                      </a:r>
                    </a:p>
                  </a:txBody>
                  <a:tcPr/>
                </a:tc>
                <a:tc>
                  <a:txBody>
                    <a:bodyPr/>
                    <a:lstStyle/>
                    <a:p>
                      <a:r>
                        <a:rPr lang="fi-FI" dirty="0"/>
                        <a:t>±3.4x10</a:t>
                      </a:r>
                      <a:r>
                        <a:rPr lang="fi-FI" baseline="30000" dirty="0"/>
                        <a:t>38</a:t>
                      </a:r>
                    </a:p>
                  </a:txBody>
                  <a:tcPr/>
                </a:tc>
                <a:extLst>
                  <a:ext uri="{0D108BD9-81ED-4DB2-BD59-A6C34878D82A}">
                    <a16:rowId xmlns:a16="http://schemas.microsoft.com/office/drawing/2014/main" val="972498912"/>
                  </a:ext>
                </a:extLst>
              </a:tr>
              <a:tr h="370840">
                <a:tc>
                  <a:txBody>
                    <a:bodyPr/>
                    <a:lstStyle/>
                    <a:p>
                      <a:r>
                        <a:rPr lang="fi-FI" dirty="0" err="1"/>
                        <a:t>double</a:t>
                      </a:r>
                      <a:endParaRPr lang="fi-FI" dirty="0"/>
                    </a:p>
                  </a:txBody>
                  <a:tcPr/>
                </a:tc>
                <a:tc>
                  <a:txBody>
                    <a:bodyPr/>
                    <a:lstStyle/>
                    <a:p>
                      <a:r>
                        <a:rPr lang="fi-FI" dirty="0"/>
                        <a:t>0.0d</a:t>
                      </a:r>
                    </a:p>
                  </a:txBody>
                  <a:tcPr/>
                </a:tc>
                <a:tc>
                  <a:txBody>
                    <a:bodyPr/>
                    <a:lstStyle/>
                    <a:p>
                      <a:r>
                        <a:rPr lang="fi-FI" dirty="0"/>
                        <a:t>±5.0x10</a:t>
                      </a:r>
                      <a:r>
                        <a:rPr lang="fi-FI" baseline="30000" dirty="0"/>
                        <a:t>-324</a:t>
                      </a:r>
                    </a:p>
                  </a:txBody>
                  <a:tcPr/>
                </a:tc>
                <a:tc>
                  <a:txBody>
                    <a:bodyPr/>
                    <a:lstStyle/>
                    <a:p>
                      <a:r>
                        <a:rPr lang="fi-FI" dirty="0"/>
                        <a:t>±1.7x10</a:t>
                      </a:r>
                      <a:r>
                        <a:rPr lang="fi-FI" baseline="30000" dirty="0"/>
                        <a:t>208</a:t>
                      </a:r>
                    </a:p>
                  </a:txBody>
                  <a:tcPr/>
                </a:tc>
                <a:extLst>
                  <a:ext uri="{0D108BD9-81ED-4DB2-BD59-A6C34878D82A}">
                    <a16:rowId xmlns:a16="http://schemas.microsoft.com/office/drawing/2014/main" val="3470148480"/>
                  </a:ext>
                </a:extLst>
              </a:tr>
              <a:tr h="370840">
                <a:tc>
                  <a:txBody>
                    <a:bodyPr/>
                    <a:lstStyle/>
                    <a:p>
                      <a:r>
                        <a:rPr lang="fi-FI" dirty="0" err="1"/>
                        <a:t>decimal</a:t>
                      </a:r>
                      <a:endParaRPr lang="fi-FI" dirty="0"/>
                    </a:p>
                  </a:txBody>
                  <a:tcPr/>
                </a:tc>
                <a:tc>
                  <a:txBody>
                    <a:bodyPr/>
                    <a:lstStyle/>
                    <a:p>
                      <a:r>
                        <a:rPr lang="fi-FI" dirty="0"/>
                        <a:t>0.0m</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i-FI" dirty="0"/>
                        <a:t>±1.0x10</a:t>
                      </a:r>
                      <a:r>
                        <a:rPr lang="fi-FI" baseline="30000" dirty="0"/>
                        <a:t>-28</a:t>
                      </a:r>
                    </a:p>
                  </a:txBody>
                  <a:tcPr/>
                </a:tc>
                <a:tc>
                  <a:txBody>
                    <a:bodyPr/>
                    <a:lstStyle/>
                    <a:p>
                      <a:r>
                        <a:rPr lang="fi-FI" dirty="0"/>
                        <a:t>±7.9x10</a:t>
                      </a:r>
                      <a:r>
                        <a:rPr lang="fi-FI" baseline="30000" dirty="0"/>
                        <a:t>28</a:t>
                      </a:r>
                    </a:p>
                  </a:txBody>
                  <a:tcPr/>
                </a:tc>
                <a:extLst>
                  <a:ext uri="{0D108BD9-81ED-4DB2-BD59-A6C34878D82A}">
                    <a16:rowId xmlns:a16="http://schemas.microsoft.com/office/drawing/2014/main" val="1911204839"/>
                  </a:ext>
                </a:extLst>
              </a:tr>
              <a:tr h="370840">
                <a:tc>
                  <a:txBody>
                    <a:bodyPr/>
                    <a:lstStyle/>
                    <a:p>
                      <a:r>
                        <a:rPr lang="fi-FI" dirty="0" err="1"/>
                        <a:t>bool</a:t>
                      </a:r>
                      <a:endParaRPr lang="fi-FI" dirty="0"/>
                    </a:p>
                  </a:txBody>
                  <a:tcPr/>
                </a:tc>
                <a:tc>
                  <a:txBody>
                    <a:bodyPr/>
                    <a:lstStyle/>
                    <a:p>
                      <a:r>
                        <a:rPr lang="fi-FI" dirty="0" err="1"/>
                        <a:t>false</a:t>
                      </a:r>
                      <a:endParaRPr lang="fi-FI" dirty="0"/>
                    </a:p>
                  </a:txBody>
                  <a:tcPr/>
                </a:tc>
                <a:tc gridSpan="2">
                  <a:txBody>
                    <a:bodyPr/>
                    <a:lstStyle/>
                    <a:p>
                      <a:r>
                        <a:rPr lang="fi-FI" dirty="0"/>
                        <a:t>Kaksi mahdollista arvoa: </a:t>
                      </a:r>
                      <a:r>
                        <a:rPr lang="fi-FI" dirty="0" err="1"/>
                        <a:t>true</a:t>
                      </a:r>
                      <a:r>
                        <a:rPr lang="fi-FI" dirty="0"/>
                        <a:t> ja </a:t>
                      </a:r>
                      <a:r>
                        <a:rPr lang="fi-FI" dirty="0" err="1"/>
                        <a:t>false</a:t>
                      </a:r>
                      <a:endParaRPr lang="fi-FI" dirty="0"/>
                    </a:p>
                  </a:txBody>
                  <a:tcPr/>
                </a:tc>
                <a:tc hMerge="1">
                  <a:txBody>
                    <a:bodyPr/>
                    <a:lstStyle/>
                    <a:p>
                      <a:endParaRPr lang="fi-FI" dirty="0"/>
                    </a:p>
                  </a:txBody>
                  <a:tcPr/>
                </a:tc>
                <a:extLst>
                  <a:ext uri="{0D108BD9-81ED-4DB2-BD59-A6C34878D82A}">
                    <a16:rowId xmlns:a16="http://schemas.microsoft.com/office/drawing/2014/main" val="2366554606"/>
                  </a:ext>
                </a:extLst>
              </a:tr>
              <a:tr h="370840">
                <a:tc>
                  <a:txBody>
                    <a:bodyPr/>
                    <a:lstStyle/>
                    <a:p>
                      <a:r>
                        <a:rPr lang="fi-FI" dirty="0" err="1"/>
                        <a:t>char</a:t>
                      </a:r>
                      <a:endParaRPr lang="fi-FI" dirty="0"/>
                    </a:p>
                  </a:txBody>
                  <a:tcPr/>
                </a:tc>
                <a:tc>
                  <a:txBody>
                    <a:bodyPr/>
                    <a:lstStyle/>
                    <a:p>
                      <a:r>
                        <a:rPr lang="fi-FI" dirty="0"/>
                        <a:t>’\u0000’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i-FI" dirty="0"/>
                        <a:t>’\u0000’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i-FI" dirty="0"/>
                        <a:t>’\</a:t>
                      </a:r>
                      <a:r>
                        <a:rPr lang="fi-FI" dirty="0" err="1"/>
                        <a:t>uffff</a:t>
                      </a:r>
                      <a:r>
                        <a:rPr lang="fi-FI" dirty="0"/>
                        <a:t>’</a:t>
                      </a:r>
                    </a:p>
                  </a:txBody>
                  <a:tcPr/>
                </a:tc>
                <a:extLst>
                  <a:ext uri="{0D108BD9-81ED-4DB2-BD59-A6C34878D82A}">
                    <a16:rowId xmlns:a16="http://schemas.microsoft.com/office/drawing/2014/main" val="3917779130"/>
                  </a:ext>
                </a:extLst>
              </a:tr>
              <a:tr h="370840">
                <a:tc>
                  <a:txBody>
                    <a:bodyPr/>
                    <a:lstStyle/>
                    <a:p>
                      <a:r>
                        <a:rPr lang="fi-FI" dirty="0" err="1"/>
                        <a:t>object</a:t>
                      </a:r>
                      <a:endParaRPr lang="fi-FI" dirty="0"/>
                    </a:p>
                  </a:txBody>
                  <a:tcPr/>
                </a:tc>
                <a:tc>
                  <a:txBody>
                    <a:bodyPr/>
                    <a:lstStyle/>
                    <a:p>
                      <a:r>
                        <a:rPr lang="fi-FI" dirty="0" err="1"/>
                        <a:t>null</a:t>
                      </a:r>
                      <a:endParaRPr lang="fi-FI" dirty="0"/>
                    </a:p>
                  </a:txBody>
                  <a:tcPr/>
                </a:tc>
                <a:tc>
                  <a:txBody>
                    <a:bodyPr/>
                    <a:lstStyle/>
                    <a:p>
                      <a:pPr algn="ctr"/>
                      <a:r>
                        <a:rPr lang="fi-FI" dirty="0"/>
                        <a:t>-</a:t>
                      </a:r>
                    </a:p>
                  </a:txBody>
                  <a:tcPr/>
                </a:tc>
                <a:tc>
                  <a:txBody>
                    <a:bodyPr/>
                    <a:lstStyle/>
                    <a:p>
                      <a:pPr algn="ctr"/>
                      <a:r>
                        <a:rPr lang="fi-FI" dirty="0"/>
                        <a:t>-</a:t>
                      </a:r>
                    </a:p>
                  </a:txBody>
                  <a:tcPr/>
                </a:tc>
                <a:extLst>
                  <a:ext uri="{0D108BD9-81ED-4DB2-BD59-A6C34878D82A}">
                    <a16:rowId xmlns:a16="http://schemas.microsoft.com/office/drawing/2014/main" val="1168307478"/>
                  </a:ext>
                </a:extLst>
              </a:tr>
              <a:tr h="370840">
                <a:tc>
                  <a:txBody>
                    <a:bodyPr/>
                    <a:lstStyle/>
                    <a:p>
                      <a:r>
                        <a:rPr lang="fi-FI" dirty="0" err="1"/>
                        <a:t>string</a:t>
                      </a:r>
                      <a:endParaRPr lang="fi-FI" dirty="0"/>
                    </a:p>
                  </a:txBody>
                  <a:tcPr/>
                </a:tc>
                <a:tc>
                  <a:txBody>
                    <a:bodyPr/>
                    <a:lstStyle/>
                    <a:p>
                      <a:r>
                        <a:rPr lang="fi-FI" dirty="0" err="1"/>
                        <a:t>null</a:t>
                      </a:r>
                      <a:endParaRPr lang="fi-FI" dirty="0"/>
                    </a:p>
                  </a:txBody>
                  <a:tcPr/>
                </a:tc>
                <a:tc>
                  <a:txBody>
                    <a:bodyPr/>
                    <a:lstStyle/>
                    <a:p>
                      <a:pPr algn="ctr"/>
                      <a:r>
                        <a:rPr lang="fi-FI" dirty="0"/>
                        <a:t>-</a:t>
                      </a:r>
                    </a:p>
                  </a:txBody>
                  <a:tcPr/>
                </a:tc>
                <a:tc>
                  <a:txBody>
                    <a:bodyPr/>
                    <a:lstStyle/>
                    <a:p>
                      <a:pPr algn="ctr"/>
                      <a:r>
                        <a:rPr lang="fi-FI" dirty="0"/>
                        <a:t>-</a:t>
                      </a:r>
                    </a:p>
                  </a:txBody>
                  <a:tcPr/>
                </a:tc>
                <a:extLst>
                  <a:ext uri="{0D108BD9-81ED-4DB2-BD59-A6C34878D82A}">
                    <a16:rowId xmlns:a16="http://schemas.microsoft.com/office/drawing/2014/main" val="3299668538"/>
                  </a:ext>
                </a:extLst>
              </a:tr>
            </a:tbl>
          </a:graphicData>
        </a:graphic>
      </p:graphicFrame>
    </p:spTree>
    <p:extLst>
      <p:ext uri="{BB962C8B-B14F-4D97-AF65-F5344CB8AC3E}">
        <p14:creationId xmlns:p14="http://schemas.microsoft.com/office/powerpoint/2010/main" val="2236208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B09D4566-845C-CB49-BF26-A25FBA844BD2}"/>
              </a:ext>
            </a:extLst>
          </p:cNvPr>
          <p:cNvSpPr>
            <a:spLocks noGrp="1"/>
          </p:cNvSpPr>
          <p:nvPr>
            <p:ph type="title"/>
          </p:nvPr>
        </p:nvSpPr>
        <p:spPr/>
        <p:txBody>
          <a:bodyPr/>
          <a:lstStyle/>
          <a:p>
            <a:r>
              <a:rPr lang="fi-FI" dirty="0"/>
              <a:t>Harjoituksia</a:t>
            </a:r>
          </a:p>
        </p:txBody>
      </p:sp>
      <p:sp>
        <p:nvSpPr>
          <p:cNvPr id="3" name="Sisällön paikkamerkki 2">
            <a:extLst>
              <a:ext uri="{FF2B5EF4-FFF2-40B4-BE49-F238E27FC236}">
                <a16:creationId xmlns:a16="http://schemas.microsoft.com/office/drawing/2014/main" id="{33CCC7B7-4BBE-734D-A5D2-55ECF288F422}"/>
              </a:ext>
            </a:extLst>
          </p:cNvPr>
          <p:cNvSpPr>
            <a:spLocks noGrp="1"/>
          </p:cNvSpPr>
          <p:nvPr>
            <p:ph sz="quarter" idx="12"/>
          </p:nvPr>
        </p:nvSpPr>
        <p:spPr/>
        <p:txBody>
          <a:bodyPr/>
          <a:lstStyle/>
          <a:p>
            <a:pPr>
              <a:buFont typeface="+mj-lt"/>
              <a:buAutoNum type="arabicPeriod"/>
            </a:pPr>
            <a:r>
              <a:rPr lang="fi-FI" dirty="0"/>
              <a:t>Asenna Microsoft Visual Studio </a:t>
            </a:r>
            <a:r>
              <a:rPr lang="fi-FI" dirty="0" err="1"/>
              <a:t>Community</a:t>
            </a:r>
            <a:r>
              <a:rPr lang="fi-FI" dirty="0"/>
              <a:t> omalle koneellesi</a:t>
            </a:r>
          </a:p>
          <a:p>
            <a:pPr>
              <a:buFont typeface="+mj-lt"/>
              <a:buAutoNum type="arabicPeriod"/>
            </a:pPr>
            <a:r>
              <a:rPr lang="fi-FI" dirty="0"/>
              <a:t>Etsi </a:t>
            </a:r>
            <a:r>
              <a:rPr lang="fi-FI" dirty="0" err="1"/>
              <a:t>System.console</a:t>
            </a:r>
            <a:r>
              <a:rPr lang="fi-FI" dirty="0"/>
              <a:t> luokan kuvaus .NET </a:t>
            </a:r>
            <a:r>
              <a:rPr lang="fi-FI" dirty="0" err="1"/>
              <a:t>Api</a:t>
            </a:r>
            <a:r>
              <a:rPr lang="fi-FI" dirty="0"/>
              <a:t> dokumentaatiosta (MSDN Library)</a:t>
            </a:r>
          </a:p>
          <a:p>
            <a:pPr>
              <a:buFont typeface="+mj-lt"/>
              <a:buAutoNum type="arabicPeriod"/>
            </a:pPr>
            <a:r>
              <a:rPr lang="fi-FI" dirty="0"/>
              <a:t>Muokkaa edellä olevaa esimerkki ohjelmaa siten, että se tulostaa toisenlaisen tervehdyksen, esim. ”Hyvää päivää!”</a:t>
            </a:r>
          </a:p>
          <a:p>
            <a:pPr>
              <a:buFont typeface="+mj-lt"/>
              <a:buAutoNum type="arabicPeriod"/>
            </a:pPr>
            <a:r>
              <a:rPr lang="fi-FI" dirty="0"/>
              <a:t>Tee uusi projekti nimeltä </a:t>
            </a:r>
            <a:r>
              <a:rPr lang="fi-FI" dirty="0" err="1"/>
              <a:t>OmaNimi</a:t>
            </a:r>
            <a:r>
              <a:rPr lang="fi-FI" dirty="0"/>
              <a:t>, joka tulostaa konsoliin etu- ja sukunimesi</a:t>
            </a:r>
          </a:p>
          <a:p>
            <a:pPr>
              <a:buFont typeface="+mj-lt"/>
              <a:buAutoNum type="arabicPeriod"/>
            </a:pPr>
            <a:r>
              <a:rPr lang="fi-FI" dirty="0"/>
              <a:t>Tee uusi projekti nimeltä </a:t>
            </a:r>
            <a:r>
              <a:rPr lang="fi-FI" dirty="0" err="1"/>
              <a:t>YksiNumerot</a:t>
            </a:r>
            <a:r>
              <a:rPr lang="fi-FI" dirty="0"/>
              <a:t>, joka tulostaa konsoliin numerot 1, 11, 101, 1001, jokaisen omalle rivilleen</a:t>
            </a:r>
          </a:p>
          <a:p>
            <a:pPr>
              <a:buFont typeface="+mj-lt"/>
              <a:buAutoNum type="arabicPeriod"/>
            </a:pPr>
            <a:r>
              <a:rPr lang="fi-FI" dirty="0"/>
              <a:t>UUTTA!: </a:t>
            </a:r>
            <a:r>
              <a:rPr lang="fi-FI" dirty="0" err="1"/>
              <a:t>string</a:t>
            </a:r>
            <a:r>
              <a:rPr lang="fi-FI" dirty="0"/>
              <a:t> nimi = </a:t>
            </a:r>
            <a:r>
              <a:rPr lang="fi-FI" dirty="0" err="1"/>
              <a:t>Console.ReadLine</a:t>
            </a:r>
            <a:r>
              <a:rPr lang="fi-FI" dirty="0"/>
              <a:t>(); lukee tietoja, eli odottaa käyttäjän syötettä. Tee siis ohjelma, joka lukee käyttäjän nimen ja tulostaa: ”Hei Jukka” tai mikä sitten käyttäjän nimi onkaan. Muista myös laittaa ohje käyttäjälle</a:t>
            </a:r>
            <a:br>
              <a:rPr lang="fi-FI" dirty="0"/>
            </a:br>
            <a:r>
              <a:rPr lang="fi-FI" dirty="0" err="1"/>
              <a:t>Console.WriteLine</a:t>
            </a:r>
            <a:r>
              <a:rPr lang="fi-FI" dirty="0"/>
              <a:t>-komennolla</a:t>
            </a:r>
          </a:p>
          <a:p>
            <a:pPr>
              <a:buFont typeface="+mj-lt"/>
              <a:buAutoNum type="arabicPeriod"/>
            </a:pPr>
            <a:r>
              <a:rPr lang="fi-FI" dirty="0"/>
              <a:t>Etsi </a:t>
            </a:r>
            <a:r>
              <a:rPr lang="fi-FI" dirty="0" err="1"/>
              <a:t>System.DateTime</a:t>
            </a:r>
            <a:r>
              <a:rPr lang="fi-FI" dirty="0"/>
              <a:t> luokan kuvaus ja mitä kaikkea sen avulla voikaan</a:t>
            </a:r>
            <a:br>
              <a:rPr lang="fi-FI" dirty="0"/>
            </a:br>
            <a:r>
              <a:rPr lang="fi-FI" dirty="0"/>
              <a:t>tehdä</a:t>
            </a:r>
          </a:p>
          <a:p>
            <a:pPr>
              <a:buFont typeface="+mj-lt"/>
              <a:buAutoNum type="arabicPeriod"/>
            </a:pPr>
            <a:r>
              <a:rPr lang="fi-FI" dirty="0"/>
              <a:t>Etsi </a:t>
            </a:r>
            <a:r>
              <a:rPr lang="fi-FI" dirty="0" err="1"/>
              <a:t>System.Math</a:t>
            </a:r>
            <a:r>
              <a:rPr lang="fi-FI" dirty="0"/>
              <a:t> luokan kuvaus ja mitä kaikkea sen avulla</a:t>
            </a:r>
            <a:br>
              <a:rPr lang="fi-FI" dirty="0"/>
            </a:br>
            <a:r>
              <a:rPr lang="fi-FI" dirty="0"/>
              <a:t>voikaan tehdä</a:t>
            </a:r>
          </a:p>
          <a:p>
            <a:pPr>
              <a:buFont typeface="+mj-lt"/>
              <a:buAutoNum type="arabicPeriod"/>
            </a:pPr>
            <a:endParaRPr lang="fi-FI" dirty="0"/>
          </a:p>
        </p:txBody>
      </p:sp>
    </p:spTree>
    <p:extLst>
      <p:ext uri="{BB962C8B-B14F-4D97-AF65-F5344CB8AC3E}">
        <p14:creationId xmlns:p14="http://schemas.microsoft.com/office/powerpoint/2010/main" val="2362971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4F52A777-F983-49B0-A7E1-F440D2F0245A}"/>
              </a:ext>
            </a:extLst>
          </p:cNvPr>
          <p:cNvSpPr>
            <a:spLocks noGrp="1"/>
          </p:cNvSpPr>
          <p:nvPr>
            <p:ph type="title"/>
          </p:nvPr>
        </p:nvSpPr>
        <p:spPr>
          <a:xfrm>
            <a:off x="791918" y="129863"/>
            <a:ext cx="5761282" cy="1440392"/>
          </a:xfrm>
        </p:spPr>
        <p:txBody>
          <a:bodyPr/>
          <a:lstStyle/>
          <a:p>
            <a:r>
              <a:rPr lang="fi-FI" dirty="0"/>
              <a:t>Kommentointi</a:t>
            </a:r>
          </a:p>
        </p:txBody>
      </p:sp>
      <p:sp>
        <p:nvSpPr>
          <p:cNvPr id="3" name="Sisällön paikkamerkki 2">
            <a:extLst>
              <a:ext uri="{FF2B5EF4-FFF2-40B4-BE49-F238E27FC236}">
                <a16:creationId xmlns:a16="http://schemas.microsoft.com/office/drawing/2014/main" id="{63F0BD39-B6E9-4F41-8629-7C5B740393A3}"/>
              </a:ext>
            </a:extLst>
          </p:cNvPr>
          <p:cNvSpPr>
            <a:spLocks noGrp="1"/>
          </p:cNvSpPr>
          <p:nvPr>
            <p:ph sz="quarter" idx="12"/>
          </p:nvPr>
        </p:nvSpPr>
        <p:spPr>
          <a:xfrm>
            <a:off x="791918" y="1570256"/>
            <a:ext cx="6875620" cy="4964768"/>
          </a:xfrm>
        </p:spPr>
        <p:txBody>
          <a:bodyPr/>
          <a:lstStyle/>
          <a:p>
            <a:r>
              <a:rPr lang="en-US" i="1" dirty="0"/>
              <a:t>“Good programmers use their brains, but good guidelines save us having to think out every case.” -Francis </a:t>
            </a:r>
            <a:r>
              <a:rPr lang="en-US" i="1" dirty="0" err="1"/>
              <a:t>Glassborow</a:t>
            </a:r>
            <a:endParaRPr lang="en-US" i="1" dirty="0"/>
          </a:p>
          <a:p>
            <a:r>
              <a:rPr lang="fi-FI" dirty="0"/>
              <a:t>Lähdekoodia on usein vaikea ymmärtää pelkkää ohjelmointikieltä lukemalla. Tämän takia koodin sekaan voi ja pitää lisätä selosteita eli kommentteja. Kommentit ovat sekä koodin kirjoittajaa itseään varten että tulevia ohjelman lukijoita ja ylläpitäjiä varten. Monet asiat voivat kirjoitettaessa tuntua ilmeisiltä, mutta jo viikon päästä saakin pähkäillä, että miksihän tuonkin tuohon kirjoitin.</a:t>
            </a:r>
          </a:p>
          <a:p>
            <a:r>
              <a:rPr lang="fi-FI" dirty="0"/>
              <a:t>Kääntäjä jättää kommentit huomioimatta, joten ne eivät vaikuta ohjelman toimintaan. </a:t>
            </a:r>
          </a:p>
          <a:p>
            <a:r>
              <a:rPr lang="fi-FI" dirty="0"/>
              <a:t>// yhden rivin kommentti – vaikutus kestää rivin loppuun</a:t>
            </a:r>
          </a:p>
          <a:p>
            <a:r>
              <a:rPr lang="fi-FI" dirty="0"/>
              <a:t>/* Usean</a:t>
            </a:r>
            <a:br>
              <a:rPr lang="fi-FI" dirty="0"/>
            </a:br>
            <a:r>
              <a:rPr lang="fi-FI" dirty="0"/>
              <a:t>rivin</a:t>
            </a:r>
            <a:br>
              <a:rPr lang="fi-FI" dirty="0"/>
            </a:br>
            <a:r>
              <a:rPr lang="fi-FI" dirty="0"/>
              <a:t>kommentti */</a:t>
            </a:r>
          </a:p>
          <a:p>
            <a:r>
              <a:rPr lang="fi-FI" dirty="0"/>
              <a:t>Vinoviivalla ja asteriskilla alkava (/*) kommentti kestää niin </a:t>
            </a:r>
            <a:br>
              <a:rPr lang="fi-FI" dirty="0"/>
            </a:br>
            <a:r>
              <a:rPr lang="fi-FI" dirty="0"/>
              <a:t>kauan kunnes vastaan tulee asteriski ja vinoviiva ( */). </a:t>
            </a:r>
            <a:br>
              <a:rPr lang="fi-FI" dirty="0"/>
            </a:br>
            <a:r>
              <a:rPr lang="fi-FI" dirty="0"/>
              <a:t>Huomaa, ettei asteriskin ja vinoviivan väliin tule välilyöntiä.</a:t>
            </a:r>
          </a:p>
        </p:txBody>
      </p:sp>
    </p:spTree>
    <p:extLst>
      <p:ext uri="{BB962C8B-B14F-4D97-AF65-F5344CB8AC3E}">
        <p14:creationId xmlns:p14="http://schemas.microsoft.com/office/powerpoint/2010/main" val="3117813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28CE06D-429D-4CBB-B52C-04916734DA3E}"/>
              </a:ext>
            </a:extLst>
          </p:cNvPr>
          <p:cNvSpPr>
            <a:spLocks noGrp="1"/>
          </p:cNvSpPr>
          <p:nvPr>
            <p:ph type="title"/>
          </p:nvPr>
        </p:nvSpPr>
        <p:spPr>
          <a:xfrm>
            <a:off x="791918" y="58724"/>
            <a:ext cx="5761282" cy="645952"/>
          </a:xfrm>
        </p:spPr>
        <p:txBody>
          <a:bodyPr/>
          <a:lstStyle/>
          <a:p>
            <a:r>
              <a:rPr lang="fi-FI" dirty="0"/>
              <a:t>Dokumentointi</a:t>
            </a:r>
          </a:p>
        </p:txBody>
      </p:sp>
      <p:sp>
        <p:nvSpPr>
          <p:cNvPr id="3" name="Sisällön paikkamerkki 2">
            <a:extLst>
              <a:ext uri="{FF2B5EF4-FFF2-40B4-BE49-F238E27FC236}">
                <a16:creationId xmlns:a16="http://schemas.microsoft.com/office/drawing/2014/main" id="{B04B82F2-A1AA-443C-AAAA-47CE8BA44721}"/>
              </a:ext>
            </a:extLst>
          </p:cNvPr>
          <p:cNvSpPr>
            <a:spLocks noGrp="1"/>
          </p:cNvSpPr>
          <p:nvPr>
            <p:ph sz="quarter" idx="12"/>
          </p:nvPr>
        </p:nvSpPr>
        <p:spPr>
          <a:xfrm>
            <a:off x="791918" y="704676"/>
            <a:ext cx="7907465" cy="5821959"/>
          </a:xfrm>
        </p:spPr>
        <p:txBody>
          <a:bodyPr>
            <a:normAutofit/>
          </a:bodyPr>
          <a:lstStyle/>
          <a:p>
            <a:r>
              <a:rPr lang="fi-FI" dirty="0"/>
              <a:t>Kolmas kommenttityyppi on dokumentaatiokommentti. </a:t>
            </a:r>
          </a:p>
          <a:p>
            <a:r>
              <a:rPr lang="fi-FI" dirty="0"/>
              <a:t>Dokumentaatiokommenteissa on tietty syntaksi, ja tätä noudattamalla voidaan dokumentaatiokommentit muuttaa sellaiseen muotoon, että kommentteihin perustuvaa yhteenvetoa on mahdollista tarkastella nettiselaimen avulla.</a:t>
            </a:r>
          </a:p>
          <a:p>
            <a:r>
              <a:rPr lang="fi-FI" dirty="0"/>
              <a:t>Dokumentaatiokommentti olisi syytä kirjoittaa ennen jokaista luokkaa, pääohjelmaa, aliohjelmaa ja metodia (aliohjelmista ja metodeista puhutaan myöhemmin). </a:t>
            </a:r>
          </a:p>
          <a:p>
            <a:r>
              <a:rPr lang="fi-FI" dirty="0"/>
              <a:t>Lisäksi jokainen C#-tiedosto alkaa aina dokumentaatiokommentilla, josta selviää tiedoston tarkoitus, tekijä ja versio. Dokumentaatiokommentit kirjoitetaan siten, että rivin alussa on aina kolme vinoviivaa (Shift + 7). Jokainen seuraava dokumentaatiokommenttirivi aloitetaan siis myöskin kolmella vinoviivalla.</a:t>
            </a:r>
          </a:p>
          <a:p>
            <a:r>
              <a:rPr lang="fi-FI" dirty="0"/>
              <a:t>/// Tämä </a:t>
            </a:r>
            <a:br>
              <a:rPr lang="fi-FI" dirty="0"/>
            </a:br>
            <a:r>
              <a:rPr lang="fi-FI" dirty="0"/>
              <a:t>/// on </a:t>
            </a:r>
            <a:br>
              <a:rPr lang="fi-FI" dirty="0"/>
            </a:br>
            <a:r>
              <a:rPr lang="fi-FI" dirty="0"/>
              <a:t>/// dokumentaatiokommentti</a:t>
            </a:r>
          </a:p>
          <a:p>
            <a:r>
              <a:rPr lang="fi-FI" dirty="0"/>
              <a:t>Dokumentoiminen tapahtuu tagien avulla. Jos olet joskus kirjoittanut </a:t>
            </a:r>
            <a:br>
              <a:rPr lang="fi-FI" dirty="0"/>
            </a:br>
            <a:r>
              <a:rPr lang="fi-FI" dirty="0"/>
              <a:t>HTML-sivuja, on merkintätapa sinulle tuttu. Dokumentaatiokommentit </a:t>
            </a:r>
            <a:br>
              <a:rPr lang="fi-FI" dirty="0"/>
            </a:br>
            <a:r>
              <a:rPr lang="fi-FI" dirty="0"/>
              <a:t>alkavat aloitustagilla,&lt;</a:t>
            </a:r>
            <a:r>
              <a:rPr lang="fi-FI" dirty="0" err="1"/>
              <a:t>esim</a:t>
            </a:r>
            <a:r>
              <a:rPr lang="fi-FI" dirty="0"/>
              <a:t>&gt;, jonka perään tulee kommentin asiasisältö. Kommentti loppuu lopetustagiin, &lt;/</a:t>
            </a:r>
            <a:r>
              <a:rPr lang="fi-FI" dirty="0" err="1"/>
              <a:t>esim</a:t>
            </a:r>
            <a:r>
              <a:rPr lang="fi-FI" dirty="0"/>
              <a:t>&gt;muotoa, siis muuten </a:t>
            </a:r>
            <a:br>
              <a:rPr lang="fi-FI" dirty="0"/>
            </a:br>
            <a:r>
              <a:rPr lang="fi-FI" dirty="0"/>
              <a:t>sama kuin aloitustagi, mutta ensimmäisen kulmasulun </a:t>
            </a:r>
            <a:br>
              <a:rPr lang="fi-FI" dirty="0"/>
            </a:br>
            <a:r>
              <a:rPr lang="fi-FI" dirty="0"/>
              <a:t>jälkeen on yksi vinoviiva.</a:t>
            </a:r>
          </a:p>
        </p:txBody>
      </p:sp>
    </p:spTree>
    <p:extLst>
      <p:ext uri="{BB962C8B-B14F-4D97-AF65-F5344CB8AC3E}">
        <p14:creationId xmlns:p14="http://schemas.microsoft.com/office/powerpoint/2010/main" val="783003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C567E8C2-1E84-45BA-8E6D-50B7279D9B49}"/>
              </a:ext>
            </a:extLst>
          </p:cNvPr>
          <p:cNvSpPr>
            <a:spLocks noGrp="1"/>
          </p:cNvSpPr>
          <p:nvPr>
            <p:ph type="title"/>
          </p:nvPr>
        </p:nvSpPr>
        <p:spPr>
          <a:xfrm>
            <a:off x="791918" y="67112"/>
            <a:ext cx="5761282" cy="570451"/>
          </a:xfrm>
        </p:spPr>
        <p:txBody>
          <a:bodyPr/>
          <a:lstStyle/>
          <a:p>
            <a:r>
              <a:rPr lang="fi-FI" dirty="0"/>
              <a:t>Dokumentointi jatkuu</a:t>
            </a:r>
          </a:p>
        </p:txBody>
      </p:sp>
      <p:sp>
        <p:nvSpPr>
          <p:cNvPr id="3" name="Sisällön paikkamerkki 2">
            <a:extLst>
              <a:ext uri="{FF2B5EF4-FFF2-40B4-BE49-F238E27FC236}">
                <a16:creationId xmlns:a16="http://schemas.microsoft.com/office/drawing/2014/main" id="{FC19855A-3B22-49B3-BDDE-862C4D838C37}"/>
              </a:ext>
            </a:extLst>
          </p:cNvPr>
          <p:cNvSpPr>
            <a:spLocks noGrp="1"/>
          </p:cNvSpPr>
          <p:nvPr>
            <p:ph sz="quarter" idx="12"/>
          </p:nvPr>
        </p:nvSpPr>
        <p:spPr>
          <a:xfrm>
            <a:off x="791918" y="637564"/>
            <a:ext cx="7680963" cy="6220436"/>
          </a:xfrm>
        </p:spPr>
        <p:txBody>
          <a:bodyPr/>
          <a:lstStyle/>
          <a:p>
            <a:r>
              <a:rPr lang="fi-FI" dirty="0"/>
              <a:t>C# tageja ‐ ovat esimerkiksi &lt;</a:t>
            </a:r>
            <a:r>
              <a:rPr lang="fi-FI" dirty="0" err="1"/>
              <a:t>summary</a:t>
            </a:r>
            <a:r>
              <a:rPr lang="fi-FI" dirty="0"/>
              <a:t>&gt;, jolla ilmoitetaan pieni yhteenveto kommenttia seuraavasta koodilohkosta (esimerkiksi pääohjelma tai metodi). Yhteenveto päättyy &lt;/</a:t>
            </a:r>
            <a:r>
              <a:rPr lang="fi-FI" dirty="0" err="1"/>
              <a:t>summary</a:t>
            </a:r>
            <a:r>
              <a:rPr lang="fi-FI" dirty="0"/>
              <a:t>&gt;-lopetustagiin. </a:t>
            </a:r>
          </a:p>
          <a:p>
            <a:r>
              <a:rPr lang="fi-FI" dirty="0"/>
              <a:t>Ohjelman kääntämisen yhteydessä dokumentaatiotagit voidaan kirjoittaa erilliseen XML-tiedostoon, josta ne voidaan edelleen muuntaa helposti selattaviksi HTML-sivuiksi. </a:t>
            </a:r>
          </a:p>
          <a:p>
            <a:r>
              <a:rPr lang="fi-FI" dirty="0"/>
              <a:t>Tageja voi keksiä itsekin lisää, mutta tämän kurssin tarpeisiin riittää hyvin suositeltujen tagien luettelo. Tiedot suositelluista tageista löytyvät C#:n dokumentaatiosta: </a:t>
            </a:r>
            <a:r>
              <a:rPr lang="fi-FI" dirty="0">
                <a:hlinkClick r:id="rId2"/>
              </a:rPr>
              <a:t>http://msdn.microsoft.com/en-us/library/5ast78ax.aspx</a:t>
            </a:r>
            <a:r>
              <a:rPr lang="fi-FI" dirty="0"/>
              <a:t> . </a:t>
            </a:r>
          </a:p>
          <a:p>
            <a:endParaRPr lang="fi-FI" dirty="0"/>
          </a:p>
        </p:txBody>
      </p:sp>
      <p:pic>
        <p:nvPicPr>
          <p:cNvPr id="4" name="Kuva 3">
            <a:extLst>
              <a:ext uri="{FF2B5EF4-FFF2-40B4-BE49-F238E27FC236}">
                <a16:creationId xmlns:a16="http://schemas.microsoft.com/office/drawing/2014/main" id="{DFF293E6-26CE-4ACC-8FFF-273667855390}"/>
              </a:ext>
            </a:extLst>
          </p:cNvPr>
          <p:cNvPicPr>
            <a:picLocks noChangeAspect="1"/>
          </p:cNvPicPr>
          <p:nvPr/>
        </p:nvPicPr>
        <p:blipFill>
          <a:blip r:embed="rId3"/>
          <a:stretch>
            <a:fillRect/>
          </a:stretch>
        </p:blipFill>
        <p:spPr>
          <a:xfrm>
            <a:off x="1095375" y="3135385"/>
            <a:ext cx="8048625" cy="2657475"/>
          </a:xfrm>
          <a:prstGeom prst="rect">
            <a:avLst/>
          </a:prstGeom>
        </p:spPr>
      </p:pic>
    </p:spTree>
    <p:extLst>
      <p:ext uri="{BB962C8B-B14F-4D97-AF65-F5344CB8AC3E}">
        <p14:creationId xmlns:p14="http://schemas.microsoft.com/office/powerpoint/2010/main" val="75056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97801056-B7A3-45EA-8A20-EDEFEBBE170B}"/>
              </a:ext>
            </a:extLst>
          </p:cNvPr>
          <p:cNvSpPr>
            <a:spLocks noGrp="1"/>
          </p:cNvSpPr>
          <p:nvPr>
            <p:ph type="title"/>
          </p:nvPr>
        </p:nvSpPr>
        <p:spPr>
          <a:xfrm>
            <a:off x="791918" y="139858"/>
            <a:ext cx="5761282" cy="1068158"/>
          </a:xfrm>
        </p:spPr>
        <p:txBody>
          <a:bodyPr/>
          <a:lstStyle/>
          <a:p>
            <a:r>
              <a:rPr lang="fi-FI" dirty="0"/>
              <a:t>Dokumentointi jatkuu -esimerkki</a:t>
            </a:r>
          </a:p>
        </p:txBody>
      </p:sp>
      <p:sp>
        <p:nvSpPr>
          <p:cNvPr id="3" name="Sisällön paikkamerkki 2">
            <a:extLst>
              <a:ext uri="{FF2B5EF4-FFF2-40B4-BE49-F238E27FC236}">
                <a16:creationId xmlns:a16="http://schemas.microsoft.com/office/drawing/2014/main" id="{72EA726A-2E2F-4E57-B0D9-92541516E000}"/>
              </a:ext>
            </a:extLst>
          </p:cNvPr>
          <p:cNvSpPr>
            <a:spLocks noGrp="1"/>
          </p:cNvSpPr>
          <p:nvPr>
            <p:ph sz="quarter" idx="12"/>
          </p:nvPr>
        </p:nvSpPr>
        <p:spPr>
          <a:xfrm>
            <a:off x="791918" y="1208016"/>
            <a:ext cx="7337014" cy="4799925"/>
          </a:xfrm>
        </p:spPr>
        <p:txBody>
          <a:bodyPr>
            <a:normAutofit/>
          </a:bodyPr>
          <a:lstStyle/>
          <a:p>
            <a: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t>/// @</a:t>
            </a:r>
            <a:r>
              <a:rPr kumimoji="0" lang="fi-FI" altLang="fi-FI" sz="1600" b="0" i="0" u="none" strike="noStrike" cap="none" normalizeH="0" baseline="0" dirty="0" err="1">
                <a:ln>
                  <a:noFill/>
                </a:ln>
                <a:solidFill>
                  <a:schemeClr val="accent4">
                    <a:lumMod val="60000"/>
                    <a:lumOff val="40000"/>
                  </a:schemeClr>
                </a:solidFill>
                <a:effectLst/>
                <a:latin typeface="Consolas" panose="020B0609020204030204" pitchFamily="49" charset="0"/>
              </a:rPr>
              <a:t>author</a:t>
            </a:r>
            <a: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t> Jyri Lindroos </a:t>
            </a:r>
            <a:b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br>
            <a: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t>/// @version 15.10.2020 /// </a:t>
            </a:r>
            <a:b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br>
            <a: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t>/// &lt;</a:t>
            </a:r>
            <a:r>
              <a:rPr kumimoji="0" lang="fi-FI" altLang="fi-FI" sz="1600" b="0" i="0" u="none" strike="noStrike" cap="none" normalizeH="0" baseline="0" dirty="0" err="1">
                <a:ln>
                  <a:noFill/>
                </a:ln>
                <a:solidFill>
                  <a:schemeClr val="accent4">
                    <a:lumMod val="60000"/>
                    <a:lumOff val="40000"/>
                  </a:schemeClr>
                </a:solidFill>
                <a:effectLst/>
                <a:latin typeface="Consolas" panose="020B0609020204030204" pitchFamily="49" charset="0"/>
              </a:rPr>
              <a:t>summary</a:t>
            </a:r>
            <a: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t>&gt; </a:t>
            </a:r>
            <a:b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br>
            <a: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t>/// Esimerkkiohjelma, joka tulostaa tekstin "</a:t>
            </a:r>
            <a:r>
              <a:rPr kumimoji="0" lang="fi-FI" altLang="fi-FI" sz="1600" b="0" i="0" u="none" strike="noStrike" cap="none" normalizeH="0" baseline="0" dirty="0" err="1">
                <a:ln>
                  <a:noFill/>
                </a:ln>
                <a:solidFill>
                  <a:schemeClr val="accent4">
                    <a:lumMod val="60000"/>
                    <a:lumOff val="40000"/>
                  </a:schemeClr>
                </a:solidFill>
                <a:effectLst/>
                <a:latin typeface="Consolas" panose="020B0609020204030204" pitchFamily="49" charset="0"/>
              </a:rPr>
              <a:t>Hello</a:t>
            </a:r>
            <a: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t> World!" /// &lt;/</a:t>
            </a:r>
            <a:r>
              <a:rPr kumimoji="0" lang="fi-FI" altLang="fi-FI" sz="1600" b="0" i="0" u="none" strike="noStrike" cap="none" normalizeH="0" baseline="0" dirty="0" err="1">
                <a:ln>
                  <a:noFill/>
                </a:ln>
                <a:solidFill>
                  <a:schemeClr val="accent4">
                    <a:lumMod val="60000"/>
                    <a:lumOff val="40000"/>
                  </a:schemeClr>
                </a:solidFill>
                <a:effectLst/>
                <a:latin typeface="Consolas" panose="020B0609020204030204" pitchFamily="49" charset="0"/>
              </a:rPr>
              <a:t>summary</a:t>
            </a:r>
            <a: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t>&gt; </a:t>
            </a:r>
            <a:br>
              <a:rPr kumimoji="0" lang="fi-FI" altLang="fi-FI" sz="1600" b="0" i="0" u="none" strike="noStrike" cap="none" normalizeH="0" baseline="0" dirty="0">
                <a:ln>
                  <a:noFill/>
                </a:ln>
                <a:solidFill>
                  <a:srgbClr val="000000"/>
                </a:solidFill>
                <a:effectLst/>
                <a:latin typeface="Consolas" panose="020B0609020204030204" pitchFamily="49" charset="0"/>
              </a:rPr>
            </a:br>
            <a:r>
              <a:rPr kumimoji="0" lang="fi-FI" altLang="fi-FI" sz="1600" b="0" i="0" u="none" strike="noStrike" cap="none" normalizeH="0" baseline="0" dirty="0" err="1">
                <a:ln>
                  <a:noFill/>
                </a:ln>
                <a:solidFill>
                  <a:srgbClr val="000000"/>
                </a:solidFill>
                <a:effectLst/>
                <a:latin typeface="Consolas" panose="020B0609020204030204" pitchFamily="49" charset="0"/>
              </a:rPr>
              <a:t>public</a:t>
            </a:r>
            <a:r>
              <a:rPr kumimoji="0" lang="fi-FI" altLang="fi-FI" sz="1600" b="0" i="0" u="none" strike="noStrike" cap="none" normalizeH="0" baseline="0" dirty="0">
                <a:ln>
                  <a:noFill/>
                </a:ln>
                <a:solidFill>
                  <a:srgbClr val="000000"/>
                </a:solidFill>
                <a:effectLst/>
                <a:latin typeface="Consolas" panose="020B0609020204030204" pitchFamily="49" charset="0"/>
              </a:rPr>
              <a:t> </a:t>
            </a:r>
            <a:r>
              <a:rPr kumimoji="0" lang="fi-FI" altLang="fi-FI" sz="1600" b="0" i="0" u="none" strike="noStrike" cap="none" normalizeH="0" baseline="0" dirty="0" err="1">
                <a:ln>
                  <a:noFill/>
                </a:ln>
                <a:solidFill>
                  <a:srgbClr val="000000"/>
                </a:solidFill>
                <a:effectLst/>
                <a:latin typeface="Consolas" panose="020B0609020204030204" pitchFamily="49" charset="0"/>
              </a:rPr>
              <a:t>class</a:t>
            </a:r>
            <a:r>
              <a:rPr kumimoji="0" lang="fi-FI" altLang="fi-FI" sz="1600" b="0" i="0" u="none" strike="noStrike" cap="none" normalizeH="0" baseline="0" dirty="0">
                <a:ln>
                  <a:noFill/>
                </a:ln>
                <a:solidFill>
                  <a:srgbClr val="000000"/>
                </a:solidFill>
                <a:effectLst/>
                <a:latin typeface="Consolas" panose="020B0609020204030204" pitchFamily="49" charset="0"/>
              </a:rPr>
              <a:t> </a:t>
            </a:r>
            <a:r>
              <a:rPr kumimoji="0" lang="fi-FI" altLang="fi-FI" sz="1600" b="0" i="0" u="none" strike="noStrike" cap="none" normalizeH="0" baseline="0" dirty="0" err="1">
                <a:ln>
                  <a:noFill/>
                </a:ln>
                <a:solidFill>
                  <a:srgbClr val="000000"/>
                </a:solidFill>
                <a:effectLst/>
                <a:latin typeface="Consolas" panose="020B0609020204030204" pitchFamily="49" charset="0"/>
              </a:rPr>
              <a:t>HelloWorld</a:t>
            </a:r>
            <a:r>
              <a:rPr kumimoji="0" lang="fi-FI" altLang="fi-FI" sz="1600" b="0" i="0" u="none" strike="noStrike" cap="none" normalizeH="0" baseline="0" dirty="0">
                <a:ln>
                  <a:noFill/>
                </a:ln>
                <a:solidFill>
                  <a:srgbClr val="000000"/>
                </a:solidFill>
                <a:effectLst/>
                <a:latin typeface="Consolas" panose="020B0609020204030204" pitchFamily="49" charset="0"/>
              </a:rPr>
              <a:t> { </a:t>
            </a:r>
            <a:br>
              <a:rPr kumimoji="0" lang="fi-FI" altLang="fi-FI" sz="1600" b="0" i="0" u="none" strike="noStrike" cap="none" normalizeH="0" baseline="0" dirty="0">
                <a:ln>
                  <a:noFill/>
                </a:ln>
                <a:solidFill>
                  <a:srgbClr val="000000"/>
                </a:solidFill>
                <a:effectLst/>
                <a:latin typeface="Consolas" panose="020B0609020204030204" pitchFamily="49" charset="0"/>
              </a:rPr>
            </a:br>
            <a: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t>/// &lt;</a:t>
            </a:r>
            <a:r>
              <a:rPr kumimoji="0" lang="fi-FI" altLang="fi-FI" sz="1600" b="0" i="0" u="none" strike="noStrike" cap="none" normalizeH="0" baseline="0" dirty="0" err="1">
                <a:ln>
                  <a:noFill/>
                </a:ln>
                <a:solidFill>
                  <a:schemeClr val="accent4">
                    <a:lumMod val="60000"/>
                    <a:lumOff val="40000"/>
                  </a:schemeClr>
                </a:solidFill>
                <a:effectLst/>
                <a:latin typeface="Consolas" panose="020B0609020204030204" pitchFamily="49" charset="0"/>
              </a:rPr>
              <a:t>summary</a:t>
            </a:r>
            <a: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t>&gt; </a:t>
            </a:r>
            <a:b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br>
            <a: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t>/// Pääohjelma, joka hoitaa varsinaisen tulostamisen. </a:t>
            </a:r>
            <a:b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br>
            <a: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t>/// &lt;/</a:t>
            </a:r>
            <a:r>
              <a:rPr kumimoji="0" lang="fi-FI" altLang="fi-FI" sz="1600" b="0" i="0" u="none" strike="noStrike" cap="none" normalizeH="0" baseline="0" dirty="0" err="1">
                <a:ln>
                  <a:noFill/>
                </a:ln>
                <a:solidFill>
                  <a:schemeClr val="accent4">
                    <a:lumMod val="60000"/>
                    <a:lumOff val="40000"/>
                  </a:schemeClr>
                </a:solidFill>
                <a:effectLst/>
                <a:latin typeface="Consolas" panose="020B0609020204030204" pitchFamily="49" charset="0"/>
              </a:rPr>
              <a:t>summary</a:t>
            </a:r>
            <a: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t>&gt; </a:t>
            </a:r>
            <a:b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br>
            <a: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t>/// &lt;</a:t>
            </a:r>
            <a:r>
              <a:rPr kumimoji="0" lang="fi-FI" altLang="fi-FI" sz="1600" b="0" i="0" u="none" strike="noStrike" cap="none" normalizeH="0" baseline="0" dirty="0" err="1">
                <a:ln>
                  <a:noFill/>
                </a:ln>
                <a:solidFill>
                  <a:schemeClr val="accent4">
                    <a:lumMod val="60000"/>
                    <a:lumOff val="40000"/>
                  </a:schemeClr>
                </a:solidFill>
                <a:effectLst/>
                <a:latin typeface="Consolas" panose="020B0609020204030204" pitchFamily="49" charset="0"/>
              </a:rPr>
              <a:t>param</a:t>
            </a:r>
            <a: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t> </a:t>
            </a:r>
            <a:r>
              <a:rPr kumimoji="0" lang="fi-FI" altLang="fi-FI" sz="1600" b="0" i="0" u="none" strike="noStrike" cap="none" normalizeH="0" baseline="0" dirty="0" err="1">
                <a:ln>
                  <a:noFill/>
                </a:ln>
                <a:solidFill>
                  <a:schemeClr val="accent4">
                    <a:lumMod val="60000"/>
                    <a:lumOff val="40000"/>
                  </a:schemeClr>
                </a:solidFill>
                <a:effectLst/>
                <a:latin typeface="Consolas" panose="020B0609020204030204" pitchFamily="49" charset="0"/>
              </a:rPr>
              <a:t>name</a:t>
            </a:r>
            <a: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t>="</a:t>
            </a:r>
            <a:r>
              <a:rPr kumimoji="0" lang="fi-FI" altLang="fi-FI" sz="1600" b="0" i="0" u="none" strike="noStrike" cap="none" normalizeH="0" baseline="0" dirty="0" err="1">
                <a:ln>
                  <a:noFill/>
                </a:ln>
                <a:solidFill>
                  <a:schemeClr val="accent4">
                    <a:lumMod val="60000"/>
                    <a:lumOff val="40000"/>
                  </a:schemeClr>
                </a:solidFill>
                <a:effectLst/>
                <a:latin typeface="Consolas" panose="020B0609020204030204" pitchFamily="49" charset="0"/>
              </a:rPr>
              <a:t>args</a:t>
            </a:r>
            <a: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t>"&gt;Ei käytössä&lt;/</a:t>
            </a:r>
            <a:r>
              <a:rPr kumimoji="0" lang="fi-FI" altLang="fi-FI" sz="1600" b="0" i="0" u="none" strike="noStrike" cap="none" normalizeH="0" baseline="0" dirty="0" err="1">
                <a:ln>
                  <a:noFill/>
                </a:ln>
                <a:solidFill>
                  <a:schemeClr val="accent4">
                    <a:lumMod val="60000"/>
                    <a:lumOff val="40000"/>
                  </a:schemeClr>
                </a:solidFill>
                <a:effectLst/>
                <a:latin typeface="Consolas" panose="020B0609020204030204" pitchFamily="49" charset="0"/>
              </a:rPr>
              <a:t>param</a:t>
            </a:r>
            <a: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t>&gt; </a:t>
            </a:r>
            <a:br>
              <a:rPr kumimoji="0" lang="fi-FI" altLang="fi-FI" sz="1600" b="0" i="0" u="none" strike="noStrike" cap="none" normalizeH="0" baseline="0" dirty="0">
                <a:ln>
                  <a:noFill/>
                </a:ln>
                <a:solidFill>
                  <a:srgbClr val="000000"/>
                </a:solidFill>
                <a:effectLst/>
                <a:latin typeface="Consolas" panose="020B0609020204030204" pitchFamily="49" charset="0"/>
              </a:rPr>
            </a:br>
            <a:r>
              <a:rPr kumimoji="0" lang="fi-FI" altLang="fi-FI" sz="1600" b="0" i="0" u="none" strike="noStrike" cap="none" normalizeH="0" baseline="0" dirty="0">
                <a:ln>
                  <a:noFill/>
                </a:ln>
                <a:solidFill>
                  <a:srgbClr val="000000"/>
                </a:solidFill>
                <a:effectLst/>
                <a:latin typeface="Consolas" panose="020B0609020204030204" pitchFamily="49" charset="0"/>
              </a:rPr>
              <a:t>    </a:t>
            </a:r>
            <a:r>
              <a:rPr kumimoji="0" lang="fi-FI" altLang="fi-FI" sz="1600" b="0" i="0" u="none" strike="noStrike" cap="none" normalizeH="0" baseline="0" dirty="0" err="1">
                <a:ln>
                  <a:noFill/>
                </a:ln>
                <a:solidFill>
                  <a:srgbClr val="000000"/>
                </a:solidFill>
                <a:effectLst/>
                <a:latin typeface="Consolas" panose="020B0609020204030204" pitchFamily="49" charset="0"/>
              </a:rPr>
              <a:t>public</a:t>
            </a:r>
            <a:r>
              <a:rPr kumimoji="0" lang="fi-FI" altLang="fi-FI" sz="1600" b="0" i="0" u="none" strike="noStrike" cap="none" normalizeH="0" baseline="0" dirty="0">
                <a:ln>
                  <a:noFill/>
                </a:ln>
                <a:solidFill>
                  <a:srgbClr val="000000"/>
                </a:solidFill>
                <a:effectLst/>
                <a:latin typeface="Consolas" panose="020B0609020204030204" pitchFamily="49" charset="0"/>
              </a:rPr>
              <a:t> </a:t>
            </a:r>
            <a:r>
              <a:rPr kumimoji="0" lang="fi-FI" altLang="fi-FI" sz="1600" b="0" i="0" u="none" strike="noStrike" cap="none" normalizeH="0" baseline="0" dirty="0" err="1">
                <a:ln>
                  <a:noFill/>
                </a:ln>
                <a:solidFill>
                  <a:srgbClr val="000000"/>
                </a:solidFill>
                <a:effectLst/>
                <a:latin typeface="Consolas" panose="020B0609020204030204" pitchFamily="49" charset="0"/>
              </a:rPr>
              <a:t>static</a:t>
            </a:r>
            <a:r>
              <a:rPr kumimoji="0" lang="fi-FI" altLang="fi-FI" sz="1600" b="0" i="0" u="none" strike="noStrike" cap="none" normalizeH="0" baseline="0" dirty="0">
                <a:ln>
                  <a:noFill/>
                </a:ln>
                <a:solidFill>
                  <a:srgbClr val="000000"/>
                </a:solidFill>
                <a:effectLst/>
                <a:latin typeface="Consolas" panose="020B0609020204030204" pitchFamily="49" charset="0"/>
              </a:rPr>
              <a:t> </a:t>
            </a:r>
            <a:r>
              <a:rPr kumimoji="0" lang="fi-FI" altLang="fi-FI" sz="1600" b="0" i="0" u="none" strike="noStrike" cap="none" normalizeH="0" baseline="0" dirty="0" err="1">
                <a:ln>
                  <a:noFill/>
                </a:ln>
                <a:solidFill>
                  <a:srgbClr val="000000"/>
                </a:solidFill>
                <a:effectLst/>
                <a:latin typeface="Consolas" panose="020B0609020204030204" pitchFamily="49" charset="0"/>
              </a:rPr>
              <a:t>void</a:t>
            </a:r>
            <a:r>
              <a:rPr kumimoji="0" lang="fi-FI" altLang="fi-FI" sz="1600" b="0" i="0" u="none" strike="noStrike" cap="none" normalizeH="0" baseline="0" dirty="0">
                <a:ln>
                  <a:noFill/>
                </a:ln>
                <a:solidFill>
                  <a:srgbClr val="000000"/>
                </a:solidFill>
                <a:effectLst/>
                <a:latin typeface="Consolas" panose="020B0609020204030204" pitchFamily="49" charset="0"/>
              </a:rPr>
              <a:t> Main(</a:t>
            </a:r>
            <a:r>
              <a:rPr kumimoji="0" lang="fi-FI" altLang="fi-FI" sz="1600" b="0" i="0" u="none" strike="noStrike" cap="none" normalizeH="0" baseline="0" dirty="0" err="1">
                <a:ln>
                  <a:noFill/>
                </a:ln>
                <a:solidFill>
                  <a:srgbClr val="000000"/>
                </a:solidFill>
                <a:effectLst/>
                <a:latin typeface="Consolas" panose="020B0609020204030204" pitchFamily="49" charset="0"/>
              </a:rPr>
              <a:t>string</a:t>
            </a:r>
            <a:r>
              <a:rPr kumimoji="0" lang="fi-FI" altLang="fi-FI" sz="1600" b="0" i="0" u="none" strike="noStrike" cap="none" normalizeH="0" baseline="0" dirty="0">
                <a:ln>
                  <a:noFill/>
                </a:ln>
                <a:solidFill>
                  <a:srgbClr val="000000"/>
                </a:solidFill>
                <a:effectLst/>
                <a:latin typeface="Consolas" panose="020B0609020204030204" pitchFamily="49" charset="0"/>
              </a:rPr>
              <a:t>[] </a:t>
            </a:r>
            <a:r>
              <a:rPr kumimoji="0" lang="fi-FI" altLang="fi-FI" sz="1600" b="0" i="0" u="none" strike="noStrike" cap="none" normalizeH="0" baseline="0" dirty="0" err="1">
                <a:ln>
                  <a:noFill/>
                </a:ln>
                <a:solidFill>
                  <a:srgbClr val="000000"/>
                </a:solidFill>
                <a:effectLst/>
                <a:latin typeface="Consolas" panose="020B0609020204030204" pitchFamily="49" charset="0"/>
              </a:rPr>
              <a:t>args</a:t>
            </a:r>
            <a:r>
              <a:rPr kumimoji="0" lang="fi-FI" altLang="fi-FI" sz="1600" b="0" i="0" u="none" strike="noStrike" cap="none" normalizeH="0" baseline="0" dirty="0">
                <a:ln>
                  <a:noFill/>
                </a:ln>
                <a:solidFill>
                  <a:srgbClr val="000000"/>
                </a:solidFill>
                <a:effectLst/>
                <a:latin typeface="Consolas" panose="020B0609020204030204" pitchFamily="49" charset="0"/>
              </a:rPr>
              <a:t>) { </a:t>
            </a:r>
            <a:br>
              <a:rPr kumimoji="0" lang="fi-FI" altLang="fi-FI" sz="1600" b="0" i="0" u="none" strike="noStrike" cap="none" normalizeH="0" baseline="0" dirty="0">
                <a:ln>
                  <a:noFill/>
                </a:ln>
                <a:solidFill>
                  <a:srgbClr val="000000"/>
                </a:solidFill>
                <a:effectLst/>
                <a:latin typeface="Consolas" panose="020B0609020204030204" pitchFamily="49" charset="0"/>
              </a:rPr>
            </a:br>
            <a: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t>// Suoritus alkaa siis tästä, ohjelman "</a:t>
            </a:r>
            <a:r>
              <a:rPr kumimoji="0" lang="fi-FI" altLang="fi-FI" sz="1600" b="0" i="0" u="none" strike="noStrike" cap="none" normalizeH="0" baseline="0" dirty="0" err="1">
                <a:ln>
                  <a:noFill/>
                </a:ln>
                <a:solidFill>
                  <a:schemeClr val="accent4">
                    <a:lumMod val="60000"/>
                    <a:lumOff val="40000"/>
                  </a:schemeClr>
                </a:solidFill>
                <a:effectLst/>
                <a:latin typeface="Consolas" panose="020B0609020204030204" pitchFamily="49" charset="0"/>
              </a:rPr>
              <a:t>entry</a:t>
            </a:r>
            <a: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t> </a:t>
            </a:r>
            <a:r>
              <a:rPr kumimoji="0" lang="fi-FI" altLang="fi-FI" sz="1600" b="0" i="0" u="none" strike="noStrike" cap="none" normalizeH="0" baseline="0" dirty="0" err="1">
                <a:ln>
                  <a:noFill/>
                </a:ln>
                <a:solidFill>
                  <a:schemeClr val="accent4">
                    <a:lumMod val="60000"/>
                    <a:lumOff val="40000"/>
                  </a:schemeClr>
                </a:solidFill>
                <a:effectLst/>
                <a:latin typeface="Consolas" panose="020B0609020204030204" pitchFamily="49" charset="0"/>
              </a:rPr>
              <a:t>point</a:t>
            </a:r>
            <a: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t>"    </a:t>
            </a:r>
            <a:b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br>
            <a: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t>        </a:t>
            </a:r>
            <a:r>
              <a:rPr kumimoji="0" lang="fi-FI" altLang="fi-FI" sz="1600" b="0" i="0" u="none" strike="noStrike" cap="none" normalizeH="0" baseline="0" dirty="0" err="1">
                <a:ln>
                  <a:noFill/>
                </a:ln>
                <a:solidFill>
                  <a:srgbClr val="000000"/>
                </a:solidFill>
                <a:effectLst/>
                <a:latin typeface="Consolas" panose="020B0609020204030204" pitchFamily="49" charset="0"/>
              </a:rPr>
              <a:t>System.Console.WriteLine</a:t>
            </a:r>
            <a:r>
              <a:rPr kumimoji="0" lang="fi-FI" altLang="fi-FI" sz="1600" b="0" i="0" u="none" strike="noStrike" cap="none" normalizeH="0" baseline="0" dirty="0">
                <a:ln>
                  <a:noFill/>
                </a:ln>
                <a:solidFill>
                  <a:srgbClr val="000000"/>
                </a:solidFill>
                <a:effectLst/>
                <a:latin typeface="Consolas" panose="020B0609020204030204" pitchFamily="49" charset="0"/>
              </a:rPr>
              <a:t>("</a:t>
            </a:r>
            <a:r>
              <a:rPr kumimoji="0" lang="fi-FI" altLang="fi-FI" sz="1600" b="0" i="0" u="none" strike="noStrike" cap="none" normalizeH="0" baseline="0" dirty="0" err="1">
                <a:ln>
                  <a:noFill/>
                </a:ln>
                <a:solidFill>
                  <a:srgbClr val="000000"/>
                </a:solidFill>
                <a:effectLst/>
                <a:latin typeface="Consolas" panose="020B0609020204030204" pitchFamily="49" charset="0"/>
              </a:rPr>
              <a:t>Hello</a:t>
            </a:r>
            <a:r>
              <a:rPr kumimoji="0" lang="fi-FI" altLang="fi-FI" sz="1600" b="0" i="0" u="none" strike="noStrike" cap="none" normalizeH="0" baseline="0" dirty="0">
                <a:ln>
                  <a:noFill/>
                </a:ln>
                <a:solidFill>
                  <a:srgbClr val="000000"/>
                </a:solidFill>
                <a:effectLst/>
                <a:latin typeface="Consolas" panose="020B0609020204030204" pitchFamily="49" charset="0"/>
              </a:rPr>
              <a:t> World!"); </a:t>
            </a:r>
            <a:br>
              <a:rPr kumimoji="0" lang="fi-FI" altLang="fi-FI" sz="1600" b="0" i="0" u="none" strike="noStrike" cap="none" normalizeH="0" baseline="0" dirty="0">
                <a:ln>
                  <a:noFill/>
                </a:ln>
                <a:solidFill>
                  <a:srgbClr val="000000"/>
                </a:solidFill>
                <a:effectLst/>
                <a:latin typeface="Consolas" panose="020B0609020204030204" pitchFamily="49" charset="0"/>
              </a:rPr>
            </a:br>
            <a: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t>// Tämä lause tulostaa ruudulle </a:t>
            </a:r>
            <a:br>
              <a:rPr kumimoji="0" lang="fi-FI" altLang="fi-FI" sz="1600" b="0" i="0" u="none" strike="noStrike" cap="none" normalizeH="0" baseline="0" dirty="0">
                <a:ln>
                  <a:noFill/>
                </a:ln>
                <a:solidFill>
                  <a:srgbClr val="000000"/>
                </a:solidFill>
                <a:effectLst/>
                <a:latin typeface="Consolas" panose="020B0609020204030204" pitchFamily="49" charset="0"/>
              </a:rPr>
            </a:br>
            <a:r>
              <a:rPr kumimoji="0" lang="fi-FI" altLang="fi-FI" sz="1600" b="0" i="0" u="none" strike="noStrike" cap="none" normalizeH="0" baseline="0" dirty="0">
                <a:ln>
                  <a:noFill/>
                </a:ln>
                <a:solidFill>
                  <a:srgbClr val="000000"/>
                </a:solidFill>
                <a:effectLst/>
                <a:latin typeface="Consolas" panose="020B0609020204030204" pitchFamily="49" charset="0"/>
              </a:rPr>
              <a:t>    } </a:t>
            </a:r>
            <a:br>
              <a:rPr kumimoji="0" lang="fi-FI" altLang="fi-FI" sz="1600" b="0" i="0" u="none" strike="noStrike" cap="none" normalizeH="0" baseline="0" dirty="0">
                <a:ln>
                  <a:noFill/>
                </a:ln>
                <a:solidFill>
                  <a:srgbClr val="000000"/>
                </a:solidFill>
                <a:effectLst/>
                <a:latin typeface="Consolas" panose="020B0609020204030204" pitchFamily="49" charset="0"/>
              </a:rPr>
            </a:br>
            <a:r>
              <a:rPr kumimoji="0" lang="fi-FI" altLang="fi-FI" sz="1600" b="0" i="0" u="none" strike="noStrike" cap="none" normalizeH="0" baseline="0" dirty="0">
                <a:ln>
                  <a:noFill/>
                </a:ln>
                <a:solidFill>
                  <a:schemeClr val="accent4">
                    <a:lumMod val="60000"/>
                    <a:lumOff val="40000"/>
                  </a:schemeClr>
                </a:solidFill>
                <a:effectLst/>
                <a:latin typeface="Consolas" panose="020B0609020204030204" pitchFamily="49" charset="0"/>
              </a:rPr>
              <a:t>// Ohjelman suoritus päättyy tähän </a:t>
            </a:r>
            <a:br>
              <a:rPr kumimoji="0" lang="fi-FI" altLang="fi-FI" sz="1600" b="0" i="0" u="none" strike="noStrike" cap="none" normalizeH="0" baseline="0" dirty="0">
                <a:ln>
                  <a:noFill/>
                </a:ln>
                <a:solidFill>
                  <a:srgbClr val="000000"/>
                </a:solidFill>
                <a:effectLst/>
                <a:latin typeface="Consolas" panose="020B0609020204030204" pitchFamily="49" charset="0"/>
              </a:rPr>
            </a:br>
            <a:r>
              <a:rPr kumimoji="0" lang="fi-FI" altLang="fi-FI" sz="1600" b="0" i="0" u="none" strike="noStrike" cap="none" normalizeH="0" baseline="0" dirty="0">
                <a:ln>
                  <a:noFill/>
                </a:ln>
                <a:solidFill>
                  <a:srgbClr val="000000"/>
                </a:solidFill>
                <a:effectLst/>
                <a:latin typeface="Consolas" panose="020B0609020204030204" pitchFamily="49" charset="0"/>
              </a:rPr>
              <a:t>}</a:t>
            </a:r>
            <a:r>
              <a:rPr kumimoji="0" lang="fi-FI" altLang="fi-FI" sz="800" b="0" i="0" u="none" strike="noStrike" cap="none" normalizeH="0" baseline="0" dirty="0">
                <a:ln>
                  <a:noFill/>
                </a:ln>
                <a:solidFill>
                  <a:schemeClr val="tx1"/>
                </a:solidFill>
                <a:effectLst/>
              </a:rPr>
              <a:t> </a:t>
            </a:r>
            <a:endParaRPr kumimoji="0" lang="fi-FI" altLang="fi-FI" sz="2400" b="0" i="0" u="none" strike="noStrike" cap="none" normalizeH="0" baseline="0" dirty="0">
              <a:ln>
                <a:noFill/>
              </a:ln>
              <a:solidFill>
                <a:schemeClr val="tx1"/>
              </a:solidFill>
              <a:effectLst/>
              <a:latin typeface="Arial" panose="020B0604020202020204" pitchFamily="34" charset="0"/>
            </a:endParaRPr>
          </a:p>
          <a:p>
            <a:endParaRPr lang="fi-FI" dirty="0"/>
          </a:p>
        </p:txBody>
      </p:sp>
    </p:spTree>
    <p:extLst>
      <p:ext uri="{BB962C8B-B14F-4D97-AF65-F5344CB8AC3E}">
        <p14:creationId xmlns:p14="http://schemas.microsoft.com/office/powerpoint/2010/main" val="13730697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57FF8FF2-4B34-BC45-80DE-4C69C2AA6E04}"/>
              </a:ext>
            </a:extLst>
          </p:cNvPr>
          <p:cNvSpPr>
            <a:spLocks noGrp="1"/>
          </p:cNvSpPr>
          <p:nvPr>
            <p:ph type="title"/>
          </p:nvPr>
        </p:nvSpPr>
        <p:spPr/>
        <p:txBody>
          <a:bodyPr/>
          <a:lstStyle/>
          <a:p>
            <a:r>
              <a:rPr lang="fi-FI" dirty="0"/>
              <a:t>Operaattorit C#:</a:t>
            </a:r>
            <a:r>
              <a:rPr lang="fi-FI" dirty="0" err="1"/>
              <a:t>ssa</a:t>
            </a:r>
            <a:endParaRPr lang="fi-FI" dirty="0"/>
          </a:p>
        </p:txBody>
      </p:sp>
      <p:graphicFrame>
        <p:nvGraphicFramePr>
          <p:cNvPr id="4" name="Taulukko 4">
            <a:extLst>
              <a:ext uri="{FF2B5EF4-FFF2-40B4-BE49-F238E27FC236}">
                <a16:creationId xmlns:a16="http://schemas.microsoft.com/office/drawing/2014/main" id="{B6948BD5-5C7F-584F-8B40-62128215D05D}"/>
              </a:ext>
            </a:extLst>
          </p:cNvPr>
          <p:cNvGraphicFramePr>
            <a:graphicFrameLocks noGrp="1"/>
          </p:cNvGraphicFramePr>
          <p:nvPr>
            <p:ph sz="quarter" idx="12"/>
            <p:extLst>
              <p:ext uri="{D42A27DB-BD31-4B8C-83A1-F6EECF244321}">
                <p14:modId xmlns:p14="http://schemas.microsoft.com/office/powerpoint/2010/main" val="1213407641"/>
              </p:ext>
            </p:extLst>
          </p:nvPr>
        </p:nvGraphicFramePr>
        <p:xfrm>
          <a:off x="792163" y="1700213"/>
          <a:ext cx="8062910" cy="2595880"/>
        </p:xfrm>
        <a:graphic>
          <a:graphicData uri="http://schemas.openxmlformats.org/drawingml/2006/table">
            <a:tbl>
              <a:tblPr firstRow="1" bandRow="1">
                <a:tableStyleId>{5C22544A-7EE6-4342-B048-85BDC9FD1C3A}</a:tableStyleId>
              </a:tblPr>
              <a:tblGrid>
                <a:gridCol w="2030550">
                  <a:extLst>
                    <a:ext uri="{9D8B030D-6E8A-4147-A177-3AD203B41FA5}">
                      <a16:colId xmlns:a16="http://schemas.microsoft.com/office/drawing/2014/main" val="1530029735"/>
                    </a:ext>
                  </a:extLst>
                </a:gridCol>
                <a:gridCol w="6032360">
                  <a:extLst>
                    <a:ext uri="{9D8B030D-6E8A-4147-A177-3AD203B41FA5}">
                      <a16:colId xmlns:a16="http://schemas.microsoft.com/office/drawing/2014/main" val="1220124596"/>
                    </a:ext>
                  </a:extLst>
                </a:gridCol>
              </a:tblGrid>
              <a:tr h="370840">
                <a:tc>
                  <a:txBody>
                    <a:bodyPr/>
                    <a:lstStyle/>
                    <a:p>
                      <a:r>
                        <a:rPr lang="fi-FI" dirty="0"/>
                        <a:t>Kategoria</a:t>
                      </a:r>
                    </a:p>
                  </a:txBody>
                  <a:tcPr/>
                </a:tc>
                <a:tc>
                  <a:txBody>
                    <a:bodyPr/>
                    <a:lstStyle/>
                    <a:p>
                      <a:r>
                        <a:rPr lang="fi-FI" dirty="0"/>
                        <a:t>Operaattorit</a:t>
                      </a:r>
                    </a:p>
                  </a:txBody>
                  <a:tcPr/>
                </a:tc>
                <a:extLst>
                  <a:ext uri="{0D108BD9-81ED-4DB2-BD59-A6C34878D82A}">
                    <a16:rowId xmlns:a16="http://schemas.microsoft.com/office/drawing/2014/main" val="1302616981"/>
                  </a:ext>
                </a:extLst>
              </a:tr>
              <a:tr h="370840">
                <a:tc>
                  <a:txBody>
                    <a:bodyPr/>
                    <a:lstStyle/>
                    <a:p>
                      <a:r>
                        <a:rPr lang="fi-FI" dirty="0"/>
                        <a:t>Aritmeettiset</a:t>
                      </a:r>
                    </a:p>
                  </a:txBody>
                  <a:tcPr/>
                </a:tc>
                <a:tc>
                  <a:txBody>
                    <a:bodyPr/>
                    <a:lstStyle/>
                    <a:p>
                      <a:r>
                        <a:rPr lang="fi-FI" dirty="0"/>
                        <a:t>-, +, *, /, %, ++, --</a:t>
                      </a:r>
                    </a:p>
                  </a:txBody>
                  <a:tcPr/>
                </a:tc>
                <a:extLst>
                  <a:ext uri="{0D108BD9-81ED-4DB2-BD59-A6C34878D82A}">
                    <a16:rowId xmlns:a16="http://schemas.microsoft.com/office/drawing/2014/main" val="3517807577"/>
                  </a:ext>
                </a:extLst>
              </a:tr>
              <a:tr h="370840">
                <a:tc>
                  <a:txBody>
                    <a:bodyPr/>
                    <a:lstStyle/>
                    <a:p>
                      <a:r>
                        <a:rPr lang="fi-FI" dirty="0"/>
                        <a:t>Loogiset</a:t>
                      </a:r>
                    </a:p>
                  </a:txBody>
                  <a:tcPr/>
                </a:tc>
                <a:tc>
                  <a:txBody>
                    <a:bodyPr/>
                    <a:lstStyle/>
                    <a:p>
                      <a:r>
                        <a:rPr lang="fi-FI" dirty="0"/>
                        <a:t>&amp;&amp;, ||, !, ^</a:t>
                      </a:r>
                    </a:p>
                  </a:txBody>
                  <a:tcPr/>
                </a:tc>
                <a:extLst>
                  <a:ext uri="{0D108BD9-81ED-4DB2-BD59-A6C34878D82A}">
                    <a16:rowId xmlns:a16="http://schemas.microsoft.com/office/drawing/2014/main" val="2619209154"/>
                  </a:ext>
                </a:extLst>
              </a:tr>
              <a:tr h="370840">
                <a:tc>
                  <a:txBody>
                    <a:bodyPr/>
                    <a:lstStyle/>
                    <a:p>
                      <a:r>
                        <a:rPr lang="fi-FI" dirty="0"/>
                        <a:t>Binääriset</a:t>
                      </a:r>
                    </a:p>
                  </a:txBody>
                  <a:tcPr/>
                </a:tc>
                <a:tc>
                  <a:txBody>
                    <a:bodyPr/>
                    <a:lstStyle/>
                    <a:p>
                      <a:r>
                        <a:rPr lang="fi-FI" dirty="0"/>
                        <a:t>&amp;, |, ^, ~. &lt;&lt;, &gt;&gt;</a:t>
                      </a:r>
                    </a:p>
                  </a:txBody>
                  <a:tcPr/>
                </a:tc>
                <a:extLst>
                  <a:ext uri="{0D108BD9-81ED-4DB2-BD59-A6C34878D82A}">
                    <a16:rowId xmlns:a16="http://schemas.microsoft.com/office/drawing/2014/main" val="3172556739"/>
                  </a:ext>
                </a:extLst>
              </a:tr>
              <a:tr h="370840">
                <a:tc>
                  <a:txBody>
                    <a:bodyPr/>
                    <a:lstStyle/>
                    <a:p>
                      <a:r>
                        <a:rPr lang="fi-FI" dirty="0"/>
                        <a:t>Vertailu</a:t>
                      </a:r>
                    </a:p>
                  </a:txBody>
                  <a:tcPr/>
                </a:tc>
                <a:tc>
                  <a:txBody>
                    <a:bodyPr/>
                    <a:lstStyle/>
                    <a:p>
                      <a:r>
                        <a:rPr lang="fi-FI" dirty="0"/>
                        <a:t>==, !=, &gt;, &lt;, &gt;=, &lt;=</a:t>
                      </a:r>
                    </a:p>
                  </a:txBody>
                  <a:tcPr/>
                </a:tc>
                <a:extLst>
                  <a:ext uri="{0D108BD9-81ED-4DB2-BD59-A6C34878D82A}">
                    <a16:rowId xmlns:a16="http://schemas.microsoft.com/office/drawing/2014/main" val="4284271362"/>
                  </a:ext>
                </a:extLst>
              </a:tr>
              <a:tr h="370840">
                <a:tc>
                  <a:txBody>
                    <a:bodyPr/>
                    <a:lstStyle/>
                    <a:p>
                      <a:r>
                        <a:rPr lang="fi-FI" dirty="0"/>
                        <a:t>Sijoitus</a:t>
                      </a:r>
                    </a:p>
                  </a:txBody>
                  <a:tcPr/>
                </a:tc>
                <a:tc>
                  <a:txBody>
                    <a:bodyPr/>
                    <a:lstStyle/>
                    <a:p>
                      <a:r>
                        <a:rPr lang="fi-FI" dirty="0"/>
                        <a:t>=, +=, -=, *=, /=, %=, &amp;=, |=, ^=, &lt;&lt;=, &gt;&gt;=</a:t>
                      </a:r>
                    </a:p>
                  </a:txBody>
                  <a:tcPr/>
                </a:tc>
                <a:extLst>
                  <a:ext uri="{0D108BD9-81ED-4DB2-BD59-A6C34878D82A}">
                    <a16:rowId xmlns:a16="http://schemas.microsoft.com/office/drawing/2014/main" val="3940697978"/>
                  </a:ext>
                </a:extLst>
              </a:tr>
              <a:tr h="370840">
                <a:tc>
                  <a:txBody>
                    <a:bodyPr/>
                    <a:lstStyle/>
                    <a:p>
                      <a:r>
                        <a:rPr lang="fi-FI" dirty="0"/>
                        <a:t>Tekstin </a:t>
                      </a:r>
                      <a:r>
                        <a:rPr lang="fi-FI" dirty="0" err="1"/>
                        <a:t>yhdistämis</a:t>
                      </a:r>
                      <a:endParaRPr lang="fi-FI" dirty="0"/>
                    </a:p>
                  </a:txBody>
                  <a:tcPr/>
                </a:tc>
                <a:tc>
                  <a:txBody>
                    <a:bodyPr/>
                    <a:lstStyle/>
                    <a:p>
                      <a:r>
                        <a:rPr lang="fi-FI" dirty="0"/>
                        <a:t>+</a:t>
                      </a:r>
                    </a:p>
                  </a:txBody>
                  <a:tcPr/>
                </a:tc>
                <a:extLst>
                  <a:ext uri="{0D108BD9-81ED-4DB2-BD59-A6C34878D82A}">
                    <a16:rowId xmlns:a16="http://schemas.microsoft.com/office/drawing/2014/main" val="3122387818"/>
                  </a:ext>
                </a:extLst>
              </a:tr>
            </a:tbl>
          </a:graphicData>
        </a:graphic>
      </p:graphicFrame>
      <p:graphicFrame>
        <p:nvGraphicFramePr>
          <p:cNvPr id="5" name="Taulukko 5">
            <a:extLst>
              <a:ext uri="{FF2B5EF4-FFF2-40B4-BE49-F238E27FC236}">
                <a16:creationId xmlns:a16="http://schemas.microsoft.com/office/drawing/2014/main" id="{7C0378F4-CF5F-E846-AB08-FE2FC8033B17}"/>
              </a:ext>
            </a:extLst>
          </p:cNvPr>
          <p:cNvGraphicFramePr>
            <a:graphicFrameLocks noGrp="1"/>
          </p:cNvGraphicFramePr>
          <p:nvPr>
            <p:extLst>
              <p:ext uri="{D42A27DB-BD31-4B8C-83A1-F6EECF244321}">
                <p14:modId xmlns:p14="http://schemas.microsoft.com/office/powerpoint/2010/main" val="34911429"/>
              </p:ext>
            </p:extLst>
          </p:nvPr>
        </p:nvGraphicFramePr>
        <p:xfrm>
          <a:off x="791918" y="4426051"/>
          <a:ext cx="8062908" cy="1854200"/>
        </p:xfrm>
        <a:graphic>
          <a:graphicData uri="http://schemas.openxmlformats.org/drawingml/2006/table">
            <a:tbl>
              <a:tblPr firstRow="1" bandRow="1">
                <a:tableStyleId>{5C22544A-7EE6-4342-B048-85BDC9FD1C3A}</a:tableStyleId>
              </a:tblPr>
              <a:tblGrid>
                <a:gridCol w="1343818">
                  <a:extLst>
                    <a:ext uri="{9D8B030D-6E8A-4147-A177-3AD203B41FA5}">
                      <a16:colId xmlns:a16="http://schemas.microsoft.com/office/drawing/2014/main" val="1418137721"/>
                    </a:ext>
                  </a:extLst>
                </a:gridCol>
                <a:gridCol w="1343818">
                  <a:extLst>
                    <a:ext uri="{9D8B030D-6E8A-4147-A177-3AD203B41FA5}">
                      <a16:colId xmlns:a16="http://schemas.microsoft.com/office/drawing/2014/main" val="3815552280"/>
                    </a:ext>
                  </a:extLst>
                </a:gridCol>
                <a:gridCol w="1343818">
                  <a:extLst>
                    <a:ext uri="{9D8B030D-6E8A-4147-A177-3AD203B41FA5}">
                      <a16:colId xmlns:a16="http://schemas.microsoft.com/office/drawing/2014/main" val="1282130679"/>
                    </a:ext>
                  </a:extLst>
                </a:gridCol>
                <a:gridCol w="1343818">
                  <a:extLst>
                    <a:ext uri="{9D8B030D-6E8A-4147-A177-3AD203B41FA5}">
                      <a16:colId xmlns:a16="http://schemas.microsoft.com/office/drawing/2014/main" val="2126580246"/>
                    </a:ext>
                  </a:extLst>
                </a:gridCol>
                <a:gridCol w="1343818">
                  <a:extLst>
                    <a:ext uri="{9D8B030D-6E8A-4147-A177-3AD203B41FA5}">
                      <a16:colId xmlns:a16="http://schemas.microsoft.com/office/drawing/2014/main" val="2910918434"/>
                    </a:ext>
                  </a:extLst>
                </a:gridCol>
                <a:gridCol w="1343818">
                  <a:extLst>
                    <a:ext uri="{9D8B030D-6E8A-4147-A177-3AD203B41FA5}">
                      <a16:colId xmlns:a16="http://schemas.microsoft.com/office/drawing/2014/main" val="1916968036"/>
                    </a:ext>
                  </a:extLst>
                </a:gridCol>
              </a:tblGrid>
              <a:tr h="370840">
                <a:tc>
                  <a:txBody>
                    <a:bodyPr/>
                    <a:lstStyle/>
                    <a:p>
                      <a:pPr algn="ctr"/>
                      <a:r>
                        <a:rPr lang="fi-FI" dirty="0"/>
                        <a:t>x</a:t>
                      </a:r>
                    </a:p>
                  </a:txBody>
                  <a:tcPr/>
                </a:tc>
                <a:tc>
                  <a:txBody>
                    <a:bodyPr/>
                    <a:lstStyle/>
                    <a:p>
                      <a:pPr algn="ctr"/>
                      <a:r>
                        <a:rPr lang="fi-FI" dirty="0"/>
                        <a:t>y</a:t>
                      </a:r>
                    </a:p>
                  </a:txBody>
                  <a:tcPr/>
                </a:tc>
                <a:tc>
                  <a:txBody>
                    <a:bodyPr/>
                    <a:lstStyle/>
                    <a:p>
                      <a:pPr algn="ctr"/>
                      <a:r>
                        <a:rPr lang="fi-FI" dirty="0"/>
                        <a:t>!x</a:t>
                      </a:r>
                    </a:p>
                  </a:txBody>
                  <a:tcPr/>
                </a:tc>
                <a:tc>
                  <a:txBody>
                    <a:bodyPr/>
                    <a:lstStyle/>
                    <a:p>
                      <a:pPr algn="ctr"/>
                      <a:r>
                        <a:rPr lang="fi-FI" dirty="0"/>
                        <a:t>x &amp;&amp; y</a:t>
                      </a:r>
                    </a:p>
                  </a:txBody>
                  <a:tcPr/>
                </a:tc>
                <a:tc>
                  <a:txBody>
                    <a:bodyPr/>
                    <a:lstStyle/>
                    <a:p>
                      <a:pPr algn="ctr"/>
                      <a:r>
                        <a:rPr lang="fi-FI" dirty="0"/>
                        <a:t>x || y</a:t>
                      </a:r>
                    </a:p>
                  </a:txBody>
                  <a:tcPr/>
                </a:tc>
                <a:tc>
                  <a:txBody>
                    <a:bodyPr/>
                    <a:lstStyle/>
                    <a:p>
                      <a:pPr algn="ctr"/>
                      <a:r>
                        <a:rPr lang="fi-FI" dirty="0"/>
                        <a:t>x ^ y</a:t>
                      </a:r>
                    </a:p>
                  </a:txBody>
                  <a:tcPr/>
                </a:tc>
                <a:extLst>
                  <a:ext uri="{0D108BD9-81ED-4DB2-BD59-A6C34878D82A}">
                    <a16:rowId xmlns:a16="http://schemas.microsoft.com/office/drawing/2014/main" val="3877107431"/>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fi-FI" dirty="0"/>
                        <a:t>Tosi</a:t>
                      </a:r>
                    </a:p>
                  </a:txBody>
                  <a:tcPr/>
                </a:tc>
                <a:tc>
                  <a:txBody>
                    <a:bodyPr/>
                    <a:lstStyle/>
                    <a:p>
                      <a:pPr algn="ctr"/>
                      <a:r>
                        <a:rPr lang="fi-FI" dirty="0"/>
                        <a:t>Tosi</a:t>
                      </a:r>
                    </a:p>
                  </a:txBody>
                  <a:tcPr/>
                </a:tc>
                <a:tc>
                  <a:txBody>
                    <a:bodyPr/>
                    <a:lstStyle/>
                    <a:p>
                      <a:pPr algn="ctr"/>
                      <a:r>
                        <a:rPr lang="fi-FI" dirty="0"/>
                        <a:t>Epätosi</a:t>
                      </a:r>
                    </a:p>
                  </a:txBody>
                  <a:tcPr/>
                </a:tc>
                <a:tc>
                  <a:txBody>
                    <a:bodyPr/>
                    <a:lstStyle/>
                    <a:p>
                      <a:pPr algn="ctr"/>
                      <a:r>
                        <a:rPr lang="fi-FI" dirty="0"/>
                        <a:t>Tosi</a:t>
                      </a:r>
                    </a:p>
                  </a:txBody>
                  <a:tcPr/>
                </a:tc>
                <a:tc>
                  <a:txBody>
                    <a:bodyPr/>
                    <a:lstStyle/>
                    <a:p>
                      <a:pPr algn="ctr"/>
                      <a:r>
                        <a:rPr lang="fi-FI" dirty="0"/>
                        <a:t>Tosi</a:t>
                      </a:r>
                    </a:p>
                  </a:txBody>
                  <a:tcPr/>
                </a:tc>
                <a:tc>
                  <a:txBody>
                    <a:bodyPr/>
                    <a:lstStyle/>
                    <a:p>
                      <a:pPr algn="ctr"/>
                      <a:r>
                        <a:rPr lang="fi-FI" dirty="0"/>
                        <a:t>Epätosi</a:t>
                      </a:r>
                    </a:p>
                  </a:txBody>
                  <a:tcPr/>
                </a:tc>
                <a:extLst>
                  <a:ext uri="{0D108BD9-81ED-4DB2-BD59-A6C34878D82A}">
                    <a16:rowId xmlns:a16="http://schemas.microsoft.com/office/drawing/2014/main" val="2294133200"/>
                  </a:ext>
                </a:extLst>
              </a:tr>
              <a:tr h="370840">
                <a:tc>
                  <a:txBody>
                    <a:bodyPr/>
                    <a:lstStyle/>
                    <a:p>
                      <a:pPr algn="ctr"/>
                      <a:r>
                        <a:rPr lang="fi-FI" dirty="0"/>
                        <a:t>Tosi</a:t>
                      </a:r>
                    </a:p>
                  </a:txBody>
                  <a:tcPr/>
                </a:tc>
                <a:tc>
                  <a:txBody>
                    <a:bodyPr/>
                    <a:lstStyle/>
                    <a:p>
                      <a:pPr algn="ctr"/>
                      <a:r>
                        <a:rPr lang="fi-FI" dirty="0"/>
                        <a:t>Epätosi</a:t>
                      </a:r>
                    </a:p>
                  </a:txBody>
                  <a:tcPr/>
                </a:tc>
                <a:tc>
                  <a:txBody>
                    <a:bodyPr/>
                    <a:lstStyle/>
                    <a:p>
                      <a:pPr algn="ctr"/>
                      <a:r>
                        <a:rPr lang="fi-FI" dirty="0"/>
                        <a:t>Epätosi</a:t>
                      </a:r>
                    </a:p>
                  </a:txBody>
                  <a:tcPr/>
                </a:tc>
                <a:tc>
                  <a:txBody>
                    <a:bodyPr/>
                    <a:lstStyle/>
                    <a:p>
                      <a:pPr algn="ctr"/>
                      <a:r>
                        <a:rPr lang="fi-FI" dirty="0"/>
                        <a:t>Epätosi</a:t>
                      </a:r>
                    </a:p>
                  </a:txBody>
                  <a:tcPr/>
                </a:tc>
                <a:tc>
                  <a:txBody>
                    <a:bodyPr/>
                    <a:lstStyle/>
                    <a:p>
                      <a:pPr algn="ctr"/>
                      <a:r>
                        <a:rPr lang="fi-FI" dirty="0"/>
                        <a:t>Tosi</a:t>
                      </a:r>
                    </a:p>
                  </a:txBody>
                  <a:tcPr/>
                </a:tc>
                <a:tc>
                  <a:txBody>
                    <a:bodyPr/>
                    <a:lstStyle/>
                    <a:p>
                      <a:pPr algn="ctr"/>
                      <a:r>
                        <a:rPr lang="fi-FI" dirty="0"/>
                        <a:t>Tosi</a:t>
                      </a:r>
                    </a:p>
                  </a:txBody>
                  <a:tcPr/>
                </a:tc>
                <a:extLst>
                  <a:ext uri="{0D108BD9-81ED-4DB2-BD59-A6C34878D82A}">
                    <a16:rowId xmlns:a16="http://schemas.microsoft.com/office/drawing/2014/main" val="2063461625"/>
                  </a:ext>
                </a:extLst>
              </a:tr>
              <a:tr h="370840">
                <a:tc>
                  <a:txBody>
                    <a:bodyPr/>
                    <a:lstStyle/>
                    <a:p>
                      <a:pPr algn="ctr"/>
                      <a:r>
                        <a:rPr lang="fi-FI" dirty="0"/>
                        <a:t>Epätosi</a:t>
                      </a:r>
                    </a:p>
                  </a:txBody>
                  <a:tcPr/>
                </a:tc>
                <a:tc>
                  <a:txBody>
                    <a:bodyPr/>
                    <a:lstStyle/>
                    <a:p>
                      <a:pPr algn="ctr"/>
                      <a:r>
                        <a:rPr lang="fi-FI" dirty="0"/>
                        <a:t>tosi</a:t>
                      </a:r>
                    </a:p>
                  </a:txBody>
                  <a:tcPr/>
                </a:tc>
                <a:tc>
                  <a:txBody>
                    <a:bodyPr/>
                    <a:lstStyle/>
                    <a:p>
                      <a:pPr algn="ctr"/>
                      <a:r>
                        <a:rPr lang="fi-FI" dirty="0"/>
                        <a:t>Tosi</a:t>
                      </a:r>
                    </a:p>
                  </a:txBody>
                  <a:tcPr/>
                </a:tc>
                <a:tc>
                  <a:txBody>
                    <a:bodyPr/>
                    <a:lstStyle/>
                    <a:p>
                      <a:pPr algn="ctr"/>
                      <a:r>
                        <a:rPr lang="fi-FI" dirty="0"/>
                        <a:t>Epätosi</a:t>
                      </a:r>
                    </a:p>
                  </a:txBody>
                  <a:tcPr/>
                </a:tc>
                <a:tc>
                  <a:txBody>
                    <a:bodyPr/>
                    <a:lstStyle/>
                    <a:p>
                      <a:pPr algn="ctr"/>
                      <a:r>
                        <a:rPr lang="fi-FI" dirty="0"/>
                        <a:t>Tosi</a:t>
                      </a:r>
                    </a:p>
                  </a:txBody>
                  <a:tcPr/>
                </a:tc>
                <a:tc>
                  <a:txBody>
                    <a:bodyPr/>
                    <a:lstStyle/>
                    <a:p>
                      <a:pPr algn="ctr"/>
                      <a:r>
                        <a:rPr lang="fi-FI" dirty="0"/>
                        <a:t>Tosi</a:t>
                      </a:r>
                    </a:p>
                  </a:txBody>
                  <a:tcPr/>
                </a:tc>
                <a:extLst>
                  <a:ext uri="{0D108BD9-81ED-4DB2-BD59-A6C34878D82A}">
                    <a16:rowId xmlns:a16="http://schemas.microsoft.com/office/drawing/2014/main" val="2045925194"/>
                  </a:ext>
                </a:extLst>
              </a:tr>
              <a:tr h="370840">
                <a:tc>
                  <a:txBody>
                    <a:bodyPr/>
                    <a:lstStyle/>
                    <a:p>
                      <a:pPr algn="ctr"/>
                      <a:r>
                        <a:rPr lang="fi-FI" dirty="0"/>
                        <a:t>Epätosi</a:t>
                      </a:r>
                    </a:p>
                  </a:txBody>
                  <a:tcPr/>
                </a:tc>
                <a:tc>
                  <a:txBody>
                    <a:bodyPr/>
                    <a:lstStyle/>
                    <a:p>
                      <a:pPr algn="ctr"/>
                      <a:r>
                        <a:rPr lang="fi-FI" dirty="0"/>
                        <a:t>epätosi</a:t>
                      </a:r>
                    </a:p>
                  </a:txBody>
                  <a:tcPr/>
                </a:tc>
                <a:tc>
                  <a:txBody>
                    <a:bodyPr/>
                    <a:lstStyle/>
                    <a:p>
                      <a:pPr algn="ctr"/>
                      <a:r>
                        <a:rPr lang="fi-FI" dirty="0"/>
                        <a:t>Tosi</a:t>
                      </a:r>
                    </a:p>
                  </a:txBody>
                  <a:tcPr/>
                </a:tc>
                <a:tc>
                  <a:txBody>
                    <a:bodyPr/>
                    <a:lstStyle/>
                    <a:p>
                      <a:pPr algn="ctr"/>
                      <a:r>
                        <a:rPr lang="fi-FI" dirty="0"/>
                        <a:t>Epätosi</a:t>
                      </a:r>
                    </a:p>
                  </a:txBody>
                  <a:tcPr/>
                </a:tc>
                <a:tc>
                  <a:txBody>
                    <a:bodyPr/>
                    <a:lstStyle/>
                    <a:p>
                      <a:pPr algn="ctr"/>
                      <a:r>
                        <a:rPr lang="fi-FI" dirty="0"/>
                        <a:t>Epätosi</a:t>
                      </a:r>
                    </a:p>
                  </a:txBody>
                  <a:tcPr/>
                </a:tc>
                <a:tc>
                  <a:txBody>
                    <a:bodyPr/>
                    <a:lstStyle/>
                    <a:p>
                      <a:pPr algn="ctr"/>
                      <a:r>
                        <a:rPr lang="fi-FI" dirty="0"/>
                        <a:t>Epätosi</a:t>
                      </a:r>
                    </a:p>
                  </a:txBody>
                  <a:tcPr/>
                </a:tc>
                <a:extLst>
                  <a:ext uri="{0D108BD9-81ED-4DB2-BD59-A6C34878D82A}">
                    <a16:rowId xmlns:a16="http://schemas.microsoft.com/office/drawing/2014/main" val="2116729271"/>
                  </a:ext>
                </a:extLst>
              </a:tr>
            </a:tbl>
          </a:graphicData>
        </a:graphic>
      </p:graphicFrame>
    </p:spTree>
    <p:extLst>
      <p:ext uri="{BB962C8B-B14F-4D97-AF65-F5344CB8AC3E}">
        <p14:creationId xmlns:p14="http://schemas.microsoft.com/office/powerpoint/2010/main" val="14502957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54CEA319-D185-0948-AC19-7BCD20D58F75}"/>
              </a:ext>
            </a:extLst>
          </p:cNvPr>
          <p:cNvSpPr>
            <a:spLocks noGrp="1"/>
          </p:cNvSpPr>
          <p:nvPr>
            <p:ph type="title"/>
          </p:nvPr>
        </p:nvSpPr>
        <p:spPr/>
        <p:txBody>
          <a:bodyPr/>
          <a:lstStyle/>
          <a:p>
            <a:r>
              <a:rPr lang="fi-FI" dirty="0"/>
              <a:t>Operaattorit C#:</a:t>
            </a:r>
            <a:r>
              <a:rPr lang="fi-FI" dirty="0" err="1"/>
              <a:t>ssa</a:t>
            </a:r>
            <a:endParaRPr lang="fi-FI" dirty="0"/>
          </a:p>
        </p:txBody>
      </p:sp>
      <p:graphicFrame>
        <p:nvGraphicFramePr>
          <p:cNvPr id="4" name="Taulukko 4">
            <a:extLst>
              <a:ext uri="{FF2B5EF4-FFF2-40B4-BE49-F238E27FC236}">
                <a16:creationId xmlns:a16="http://schemas.microsoft.com/office/drawing/2014/main" id="{21D3C60A-E11E-F645-8AEF-F43D71680F21}"/>
              </a:ext>
            </a:extLst>
          </p:cNvPr>
          <p:cNvGraphicFramePr>
            <a:graphicFrameLocks noGrp="1"/>
          </p:cNvGraphicFramePr>
          <p:nvPr>
            <p:ph sz="quarter" idx="12"/>
            <p:extLst>
              <p:ext uri="{D42A27DB-BD31-4B8C-83A1-F6EECF244321}">
                <p14:modId xmlns:p14="http://schemas.microsoft.com/office/powerpoint/2010/main" val="907157220"/>
              </p:ext>
            </p:extLst>
          </p:nvPr>
        </p:nvGraphicFramePr>
        <p:xfrm>
          <a:off x="792163" y="1700213"/>
          <a:ext cx="6719090" cy="737966"/>
        </p:xfrm>
        <a:graphic>
          <a:graphicData uri="http://schemas.openxmlformats.org/drawingml/2006/table">
            <a:tbl>
              <a:tblPr firstRow="1" bandRow="1">
                <a:tableStyleId>{5C22544A-7EE6-4342-B048-85BDC9FD1C3A}</a:tableStyleId>
              </a:tblPr>
              <a:tblGrid>
                <a:gridCol w="1343818">
                  <a:extLst>
                    <a:ext uri="{9D8B030D-6E8A-4147-A177-3AD203B41FA5}">
                      <a16:colId xmlns:a16="http://schemas.microsoft.com/office/drawing/2014/main" val="3182180206"/>
                    </a:ext>
                  </a:extLst>
                </a:gridCol>
                <a:gridCol w="1343818">
                  <a:extLst>
                    <a:ext uri="{9D8B030D-6E8A-4147-A177-3AD203B41FA5}">
                      <a16:colId xmlns:a16="http://schemas.microsoft.com/office/drawing/2014/main" val="277985882"/>
                    </a:ext>
                  </a:extLst>
                </a:gridCol>
                <a:gridCol w="1343818">
                  <a:extLst>
                    <a:ext uri="{9D8B030D-6E8A-4147-A177-3AD203B41FA5}">
                      <a16:colId xmlns:a16="http://schemas.microsoft.com/office/drawing/2014/main" val="4137991401"/>
                    </a:ext>
                  </a:extLst>
                </a:gridCol>
                <a:gridCol w="1343818">
                  <a:extLst>
                    <a:ext uri="{9D8B030D-6E8A-4147-A177-3AD203B41FA5}">
                      <a16:colId xmlns:a16="http://schemas.microsoft.com/office/drawing/2014/main" val="1723598356"/>
                    </a:ext>
                  </a:extLst>
                </a:gridCol>
                <a:gridCol w="1343818">
                  <a:extLst>
                    <a:ext uri="{9D8B030D-6E8A-4147-A177-3AD203B41FA5}">
                      <a16:colId xmlns:a16="http://schemas.microsoft.com/office/drawing/2014/main" val="3506450261"/>
                    </a:ext>
                  </a:extLst>
                </a:gridCol>
              </a:tblGrid>
              <a:tr h="367126">
                <a:tc>
                  <a:txBody>
                    <a:bodyPr/>
                    <a:lstStyle/>
                    <a:p>
                      <a:pPr algn="ctr"/>
                      <a:r>
                        <a:rPr lang="fi-FI" dirty="0"/>
                        <a:t>X</a:t>
                      </a:r>
                    </a:p>
                  </a:txBody>
                  <a:tcPr/>
                </a:tc>
                <a:tc>
                  <a:txBody>
                    <a:bodyPr/>
                    <a:lstStyle/>
                    <a:p>
                      <a:pPr algn="ctr"/>
                      <a:r>
                        <a:rPr lang="fi-FI" dirty="0"/>
                        <a:t>Y</a:t>
                      </a:r>
                    </a:p>
                  </a:txBody>
                  <a:tcPr/>
                </a:tc>
                <a:tc>
                  <a:txBody>
                    <a:bodyPr/>
                    <a:lstStyle/>
                    <a:p>
                      <a:pPr algn="ctr"/>
                      <a:r>
                        <a:rPr lang="fi-FI" dirty="0"/>
                        <a:t>x | y</a:t>
                      </a:r>
                    </a:p>
                  </a:txBody>
                  <a:tcPr/>
                </a:tc>
                <a:tc>
                  <a:txBody>
                    <a:bodyPr/>
                    <a:lstStyle/>
                    <a:p>
                      <a:pPr algn="ctr"/>
                      <a:r>
                        <a:rPr lang="fi-FI" dirty="0"/>
                        <a:t>x &amp; y</a:t>
                      </a:r>
                    </a:p>
                  </a:txBody>
                  <a:tcPr/>
                </a:tc>
                <a:tc>
                  <a:txBody>
                    <a:bodyPr/>
                    <a:lstStyle/>
                    <a:p>
                      <a:pPr algn="ctr"/>
                      <a:r>
                        <a:rPr lang="fi-FI" dirty="0"/>
                        <a:t>x ^ y</a:t>
                      </a:r>
                    </a:p>
                  </a:txBody>
                  <a:tcPr/>
                </a:tc>
                <a:extLst>
                  <a:ext uri="{0D108BD9-81ED-4DB2-BD59-A6C34878D82A}">
                    <a16:rowId xmlns:a16="http://schemas.microsoft.com/office/drawing/2014/main" val="2572733727"/>
                  </a:ext>
                </a:extLst>
              </a:tr>
              <a:tr h="370840">
                <a:tc>
                  <a:txBody>
                    <a:bodyPr/>
                    <a:lstStyle/>
                    <a:p>
                      <a:pPr algn="ctr"/>
                      <a:r>
                        <a:rPr lang="fi-FI" dirty="0"/>
                        <a:t>000000</a:t>
                      </a:r>
                      <a:r>
                        <a:rPr lang="fi-FI" dirty="0">
                          <a:solidFill>
                            <a:srgbClr val="FF0000"/>
                          </a:solidFill>
                        </a:rPr>
                        <a:t>11</a:t>
                      </a:r>
                    </a:p>
                  </a:txBody>
                  <a:tcPr/>
                </a:tc>
                <a:tc>
                  <a:txBody>
                    <a:bodyPr/>
                    <a:lstStyle/>
                    <a:p>
                      <a:pPr algn="ctr"/>
                      <a:r>
                        <a:rPr lang="fi-FI" dirty="0"/>
                        <a:t>00000</a:t>
                      </a:r>
                      <a:r>
                        <a:rPr lang="fi-FI" dirty="0">
                          <a:solidFill>
                            <a:srgbClr val="FF0000"/>
                          </a:solidFill>
                        </a:rPr>
                        <a:t>1</a:t>
                      </a:r>
                      <a:r>
                        <a:rPr lang="fi-FI" dirty="0"/>
                        <a:t>0</a:t>
                      </a:r>
                      <a:r>
                        <a:rPr lang="fi-FI" dirty="0">
                          <a:solidFill>
                            <a:srgbClr val="FF0000"/>
                          </a:solidFill>
                        </a:rPr>
                        <a:t>1</a:t>
                      </a:r>
                    </a:p>
                  </a:txBody>
                  <a:tcPr/>
                </a:tc>
                <a:tc>
                  <a:txBody>
                    <a:bodyPr/>
                    <a:lstStyle/>
                    <a:p>
                      <a:pPr algn="ctr"/>
                      <a:r>
                        <a:rPr lang="fi-FI" dirty="0"/>
                        <a:t>00000</a:t>
                      </a:r>
                      <a:r>
                        <a:rPr lang="fi-FI" dirty="0">
                          <a:solidFill>
                            <a:srgbClr val="FF0000"/>
                          </a:solidFill>
                        </a:rPr>
                        <a:t>111</a:t>
                      </a:r>
                    </a:p>
                  </a:txBody>
                  <a:tcPr/>
                </a:tc>
                <a:tc>
                  <a:txBody>
                    <a:bodyPr/>
                    <a:lstStyle/>
                    <a:p>
                      <a:pPr algn="ctr"/>
                      <a:r>
                        <a:rPr lang="fi-FI" dirty="0"/>
                        <a:t>0000000</a:t>
                      </a:r>
                      <a:r>
                        <a:rPr lang="fi-FI" dirty="0">
                          <a:solidFill>
                            <a:srgbClr val="FF0000"/>
                          </a:solidFill>
                        </a:rPr>
                        <a:t>1</a:t>
                      </a:r>
                    </a:p>
                  </a:txBody>
                  <a:tcPr/>
                </a:tc>
                <a:tc>
                  <a:txBody>
                    <a:bodyPr/>
                    <a:lstStyle/>
                    <a:p>
                      <a:pPr algn="ctr"/>
                      <a:r>
                        <a:rPr lang="fi-FI" dirty="0"/>
                        <a:t>00000</a:t>
                      </a:r>
                      <a:r>
                        <a:rPr lang="fi-FI" dirty="0">
                          <a:solidFill>
                            <a:srgbClr val="FF0000"/>
                          </a:solidFill>
                        </a:rPr>
                        <a:t>11</a:t>
                      </a:r>
                      <a:r>
                        <a:rPr lang="fi-FI" dirty="0"/>
                        <a:t>0</a:t>
                      </a:r>
                    </a:p>
                  </a:txBody>
                  <a:tcPr/>
                </a:tc>
                <a:extLst>
                  <a:ext uri="{0D108BD9-81ED-4DB2-BD59-A6C34878D82A}">
                    <a16:rowId xmlns:a16="http://schemas.microsoft.com/office/drawing/2014/main" val="2728137724"/>
                  </a:ext>
                </a:extLst>
              </a:tr>
            </a:tbl>
          </a:graphicData>
        </a:graphic>
      </p:graphicFrame>
      <p:sp>
        <p:nvSpPr>
          <p:cNvPr id="5" name="Tekstiruutu 4">
            <a:extLst>
              <a:ext uri="{FF2B5EF4-FFF2-40B4-BE49-F238E27FC236}">
                <a16:creationId xmlns:a16="http://schemas.microsoft.com/office/drawing/2014/main" id="{3546AF2A-0FD7-944C-A0C8-8C231AF829C6}"/>
              </a:ext>
            </a:extLst>
          </p:cNvPr>
          <p:cNvSpPr txBox="1"/>
          <p:nvPr/>
        </p:nvSpPr>
        <p:spPr>
          <a:xfrm>
            <a:off x="791918" y="2572464"/>
            <a:ext cx="8063153" cy="2585323"/>
          </a:xfrm>
          <a:prstGeom prst="rect">
            <a:avLst/>
          </a:prstGeom>
          <a:solidFill>
            <a:schemeClr val="bg1">
              <a:alpha val="83632"/>
            </a:schemeClr>
          </a:solidFill>
        </p:spPr>
        <p:txBody>
          <a:bodyPr wrap="square" rtlCol="0">
            <a:spAutoFit/>
          </a:bodyPr>
          <a:lstStyle/>
          <a:p>
            <a:pPr marL="285750" indent="-285750">
              <a:buFont typeface="Arial" panose="020B0604020202020204" pitchFamily="34" charset="0"/>
              <a:buChar char="•"/>
            </a:pPr>
            <a:r>
              <a:rPr lang="fi-FI" dirty="0"/>
              <a:t>HUOM! Operaattorit &lt;&lt; ja &gt;&gt; eivät vaikuta mitenkään loogisiin operaatioihin, koska ovat bitti siirto vasemmalle ja bitti siirto oikealle. Esimerkiksi, jos meillä olisi 3 &lt;&lt; 2, se tarkoittaisi, että haluaisimme siirtää numeroa 3 kahdesti</a:t>
            </a:r>
            <a:br>
              <a:rPr lang="fi-FI" dirty="0"/>
            </a:br>
            <a:r>
              <a:rPr lang="fi-FI" dirty="0"/>
              <a:t>vasemmalle. Bitteinä numero 3 ilmaistaan näin ”000000</a:t>
            </a:r>
            <a:r>
              <a:rPr lang="fi-FI" dirty="0">
                <a:solidFill>
                  <a:srgbClr val="FF0000"/>
                </a:solidFill>
              </a:rPr>
              <a:t>11</a:t>
            </a:r>
            <a:r>
              <a:rPr lang="fi-FI" dirty="0"/>
              <a:t>” ja kun se</a:t>
            </a:r>
            <a:br>
              <a:rPr lang="fi-FI" dirty="0"/>
            </a:br>
            <a:r>
              <a:rPr lang="fi-FI" dirty="0"/>
              <a:t>siirretään kahdesti vasemmalle, se muuttuu ”0000</a:t>
            </a:r>
            <a:r>
              <a:rPr lang="fi-FI" dirty="0">
                <a:solidFill>
                  <a:srgbClr val="FF0000"/>
                </a:solidFill>
              </a:rPr>
              <a:t>11</a:t>
            </a:r>
            <a:r>
              <a:rPr lang="fi-FI" dirty="0"/>
              <a:t>00”, jolloin siitä </a:t>
            </a:r>
            <a:br>
              <a:rPr lang="fi-FI" dirty="0"/>
            </a:br>
            <a:r>
              <a:rPr lang="fi-FI" dirty="0"/>
              <a:t>tulee 12 (</a:t>
            </a:r>
            <a:r>
              <a:rPr lang="fi-FI" dirty="0">
                <a:solidFill>
                  <a:srgbClr val="FF0000"/>
                </a:solidFill>
              </a:rPr>
              <a:t>1</a:t>
            </a:r>
            <a:r>
              <a:rPr lang="fi-FI" dirty="0"/>
              <a:t>*2</a:t>
            </a:r>
            <a:r>
              <a:rPr lang="fi-FI" baseline="30000" dirty="0"/>
              <a:t>3</a:t>
            </a:r>
            <a:r>
              <a:rPr lang="fi-FI" dirty="0"/>
              <a:t>+</a:t>
            </a:r>
            <a:r>
              <a:rPr lang="fi-FI" dirty="0">
                <a:solidFill>
                  <a:srgbClr val="FF0000"/>
                </a:solidFill>
              </a:rPr>
              <a:t>1</a:t>
            </a:r>
            <a:r>
              <a:rPr lang="fi-FI" dirty="0"/>
              <a:t>*2</a:t>
            </a:r>
            <a:r>
              <a:rPr lang="fi-FI" baseline="30000" dirty="0"/>
              <a:t>2</a:t>
            </a:r>
            <a:r>
              <a:rPr lang="fi-FI" dirty="0"/>
              <a:t>+0*2</a:t>
            </a:r>
            <a:r>
              <a:rPr lang="fi-FI" baseline="30000" dirty="0"/>
              <a:t>1</a:t>
            </a:r>
            <a:r>
              <a:rPr lang="fi-FI" dirty="0"/>
              <a:t>+0*2</a:t>
            </a:r>
            <a:r>
              <a:rPr lang="fi-FI" baseline="30000" dirty="0"/>
              <a:t>0</a:t>
            </a:r>
            <a:r>
              <a:rPr lang="fi-FI" dirty="0"/>
              <a:t>)</a:t>
            </a:r>
          </a:p>
          <a:p>
            <a:pPr marL="285750" indent="-285750">
              <a:buFont typeface="Arial" panose="020B0604020202020204" pitchFamily="34" charset="0"/>
              <a:buChar char="•"/>
            </a:pPr>
            <a:r>
              <a:rPr lang="fi-FI" dirty="0"/>
              <a:t>Vastaavasti 6 &gt;&gt; 2 luku 6 on bitteinä 1*2</a:t>
            </a:r>
            <a:r>
              <a:rPr lang="fi-FI" baseline="30000" dirty="0"/>
              <a:t>2</a:t>
            </a:r>
            <a:r>
              <a:rPr lang="fi-FI" dirty="0"/>
              <a:t>+1*2</a:t>
            </a:r>
            <a:r>
              <a:rPr lang="fi-FI" baseline="30000" dirty="0"/>
              <a:t>1 </a:t>
            </a:r>
            <a:r>
              <a:rPr lang="fi-FI" dirty="0"/>
              <a:t>=</a:t>
            </a:r>
            <a:r>
              <a:rPr lang="fi-FI" baseline="30000" dirty="0"/>
              <a:t>  </a:t>
            </a:r>
            <a:br>
              <a:rPr lang="fi-FI" baseline="30000" dirty="0"/>
            </a:br>
            <a:r>
              <a:rPr lang="fi-FI" dirty="0"/>
              <a:t>”00000110” ja kaksi siirtoa oikealle = ”00000001” = 1*2</a:t>
            </a:r>
            <a:r>
              <a:rPr lang="fi-FI" baseline="30000" dirty="0"/>
              <a:t>0</a:t>
            </a:r>
            <a:r>
              <a:rPr lang="fi-FI" dirty="0"/>
              <a:t> = 1</a:t>
            </a:r>
          </a:p>
          <a:p>
            <a:pPr marL="285750" indent="-285750">
              <a:buFont typeface="Arial" panose="020B0604020202020204" pitchFamily="34" charset="0"/>
              <a:buChar char="•"/>
            </a:pPr>
            <a:endParaRPr lang="fi-FI" dirty="0"/>
          </a:p>
        </p:txBody>
      </p:sp>
    </p:spTree>
    <p:extLst>
      <p:ext uri="{BB962C8B-B14F-4D97-AF65-F5344CB8AC3E}">
        <p14:creationId xmlns:p14="http://schemas.microsoft.com/office/powerpoint/2010/main" val="2851691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6359C13B-EF39-9747-970A-7313D1894B72}"/>
              </a:ext>
            </a:extLst>
          </p:cNvPr>
          <p:cNvSpPr>
            <a:spLocks noGrp="1"/>
          </p:cNvSpPr>
          <p:nvPr>
            <p:ph type="title"/>
          </p:nvPr>
        </p:nvSpPr>
        <p:spPr>
          <a:xfrm>
            <a:off x="791918" y="129863"/>
            <a:ext cx="8063670" cy="724902"/>
          </a:xfrm>
        </p:spPr>
        <p:txBody>
          <a:bodyPr>
            <a:normAutofit/>
          </a:bodyPr>
          <a:lstStyle/>
          <a:p>
            <a:r>
              <a:rPr lang="fi-FI" dirty="0"/>
              <a:t>Harjoituksia</a:t>
            </a:r>
          </a:p>
        </p:txBody>
      </p:sp>
      <p:sp>
        <p:nvSpPr>
          <p:cNvPr id="3" name="Sisällön paikkamerkki 2">
            <a:extLst>
              <a:ext uri="{FF2B5EF4-FFF2-40B4-BE49-F238E27FC236}">
                <a16:creationId xmlns:a16="http://schemas.microsoft.com/office/drawing/2014/main" id="{729120C3-7802-614E-AC09-3789BC50CE57}"/>
              </a:ext>
            </a:extLst>
          </p:cNvPr>
          <p:cNvSpPr>
            <a:spLocks noGrp="1"/>
          </p:cNvSpPr>
          <p:nvPr>
            <p:ph sz="quarter" idx="12"/>
          </p:nvPr>
        </p:nvSpPr>
        <p:spPr>
          <a:xfrm>
            <a:off x="791918" y="854766"/>
            <a:ext cx="8063670" cy="6003234"/>
          </a:xfrm>
        </p:spPr>
        <p:txBody>
          <a:bodyPr/>
          <a:lstStyle/>
          <a:p>
            <a:pPr>
              <a:buFont typeface="+mj-lt"/>
              <a:buAutoNum type="arabicPeriod"/>
            </a:pPr>
            <a:r>
              <a:rPr lang="fi-FI" dirty="0"/>
              <a:t>Kirjoita ohjelma, joka pyytää käyttäjältä y:n arvon ja tuottaa seuraavat tulokset: </a:t>
            </a:r>
            <a:br>
              <a:rPr lang="fi-FI" dirty="0"/>
            </a:br>
            <a:r>
              <a:rPr lang="fi-FI" dirty="0"/>
              <a:t>y = 5; lasku x = y + 3; </a:t>
            </a:r>
            <a:r>
              <a:rPr lang="fi-FI" dirty="0">
                <a:solidFill>
                  <a:srgbClr val="FF0000"/>
                </a:solidFill>
              </a:rPr>
              <a:t>tulostus x = 8</a:t>
            </a:r>
          </a:p>
          <a:p>
            <a:pPr>
              <a:buFont typeface="+mj-lt"/>
              <a:buAutoNum type="arabicPeriod"/>
            </a:pPr>
            <a:r>
              <a:rPr lang="fi-FI" dirty="0"/>
              <a:t>Kirjoita ohjelma, joka pyytää käyttäjältä y:n arvon ja tuottaa seuraavat tulokset:</a:t>
            </a:r>
            <a:br>
              <a:rPr lang="fi-FI" dirty="0"/>
            </a:br>
            <a:r>
              <a:rPr lang="fi-FI" dirty="0"/>
              <a:t>y = 5; lasku x = y - 2; </a:t>
            </a:r>
            <a:r>
              <a:rPr lang="fi-FI" dirty="0">
                <a:solidFill>
                  <a:srgbClr val="FF0000"/>
                </a:solidFill>
              </a:rPr>
              <a:t>tulostus x = 3</a:t>
            </a:r>
          </a:p>
          <a:p>
            <a:pPr>
              <a:buFont typeface="+mj-lt"/>
              <a:buAutoNum type="arabicPeriod"/>
            </a:pPr>
            <a:r>
              <a:rPr lang="fi-FI" dirty="0"/>
              <a:t>Kirjoita ohjelma, joka pyytää käyttäjältä y:n arvon ja tuottaa seuraavat tulokset:</a:t>
            </a:r>
            <a:br>
              <a:rPr lang="fi-FI" dirty="0"/>
            </a:br>
            <a:r>
              <a:rPr lang="fi-FI" dirty="0"/>
              <a:t>y = 5; lasku x = y * 5; </a:t>
            </a:r>
            <a:r>
              <a:rPr lang="fi-FI" dirty="0">
                <a:solidFill>
                  <a:srgbClr val="FF0000"/>
                </a:solidFill>
              </a:rPr>
              <a:t>tulostus x = 25;</a:t>
            </a:r>
          </a:p>
          <a:p>
            <a:pPr>
              <a:buFont typeface="+mj-lt"/>
              <a:buAutoNum type="arabicPeriod"/>
            </a:pPr>
            <a:r>
              <a:rPr lang="fi-FI" dirty="0"/>
              <a:t>Kirjoita ohjelma, joka pyytää käyttäjältä x:n ja y:n arvon ja tuottaa seuraavat tulokset:</a:t>
            </a:r>
            <a:br>
              <a:rPr lang="fi-FI" dirty="0"/>
            </a:br>
            <a:r>
              <a:rPr lang="fi-FI" dirty="0"/>
              <a:t>x = 10; y = 5; lasku x = x / y; </a:t>
            </a:r>
            <a:r>
              <a:rPr lang="fi-FI" dirty="0">
                <a:solidFill>
                  <a:srgbClr val="FF0000"/>
                </a:solidFill>
              </a:rPr>
              <a:t>tulostus x = 2;</a:t>
            </a:r>
          </a:p>
          <a:p>
            <a:pPr>
              <a:buFont typeface="+mj-lt"/>
              <a:buAutoNum type="arabicPeriod"/>
            </a:pPr>
            <a:r>
              <a:rPr lang="fi-FI" dirty="0"/>
              <a:t>Kirjoita ohjelma, jota pyytää käyttäjältä x ja y:n arvot ja tuottaa seuraavat tulokset:</a:t>
            </a:r>
            <a:br>
              <a:rPr lang="fi-FI" dirty="0"/>
            </a:br>
            <a:r>
              <a:rPr lang="fi-FI" dirty="0"/>
              <a:t>x = 24; y = 5; lasku x = x % y; </a:t>
            </a:r>
            <a:r>
              <a:rPr lang="fi-FI" dirty="0">
                <a:solidFill>
                  <a:srgbClr val="FF0000"/>
                </a:solidFill>
              </a:rPr>
              <a:t>tulostus x = 4;</a:t>
            </a:r>
          </a:p>
          <a:p>
            <a:pPr>
              <a:buFont typeface="+mj-lt"/>
              <a:buAutoNum type="arabicPeriod"/>
            </a:pPr>
            <a:r>
              <a:rPr lang="fi-FI" dirty="0"/>
              <a:t>Kirjoita ohjelma, joka pyytää käyttäjältä x ja y:n arvot ja tuottaa </a:t>
            </a:r>
            <a:br>
              <a:rPr lang="fi-FI" dirty="0"/>
            </a:br>
            <a:r>
              <a:rPr lang="fi-FI" dirty="0"/>
              <a:t>seuraavat tulokset: x = 10; y = 5; lasku x += y; </a:t>
            </a:r>
            <a:r>
              <a:rPr lang="fi-FI" dirty="0">
                <a:solidFill>
                  <a:srgbClr val="FF0000"/>
                </a:solidFill>
              </a:rPr>
              <a:t>tulostus x = 15;</a:t>
            </a:r>
          </a:p>
          <a:p>
            <a:pPr>
              <a:buFont typeface="+mj-lt"/>
              <a:buAutoNum type="arabicPeriod"/>
            </a:pPr>
            <a:r>
              <a:rPr lang="fi-FI" dirty="0"/>
              <a:t>Kirjoita ohjelma, joka pyytää käyttäjältä x ja y:n arvot ja tuottaa </a:t>
            </a:r>
            <a:br>
              <a:rPr lang="fi-FI" dirty="0"/>
            </a:br>
            <a:r>
              <a:rPr lang="fi-FI" dirty="0"/>
              <a:t>seuraavat tulokset: x = 10; y = 5; lasku x -= y; </a:t>
            </a:r>
            <a:r>
              <a:rPr lang="fi-FI" dirty="0">
                <a:solidFill>
                  <a:srgbClr val="FF0000"/>
                </a:solidFill>
              </a:rPr>
              <a:t>tulostus x = 5;</a:t>
            </a:r>
          </a:p>
          <a:p>
            <a:pPr>
              <a:buFont typeface="+mj-lt"/>
              <a:buAutoNum type="arabicPeriod"/>
            </a:pPr>
            <a:r>
              <a:rPr lang="fi-FI" dirty="0"/>
              <a:t>Kirjoita ohjelma, joka pyytää käyttäjältä x ja y:n arvot ja </a:t>
            </a:r>
            <a:br>
              <a:rPr lang="fi-FI" dirty="0"/>
            </a:br>
            <a:r>
              <a:rPr lang="fi-FI" dirty="0"/>
              <a:t>tuottaa seuraavat tulokset: x = 10; y = 5; lasku x *= y; </a:t>
            </a:r>
            <a:r>
              <a:rPr lang="fi-FI" dirty="0">
                <a:solidFill>
                  <a:srgbClr val="FF0000"/>
                </a:solidFill>
              </a:rPr>
              <a:t>tulostus x = 50;</a:t>
            </a:r>
          </a:p>
          <a:p>
            <a:pPr>
              <a:buFont typeface="+mj-lt"/>
              <a:buAutoNum type="arabicPeriod"/>
            </a:pPr>
            <a:r>
              <a:rPr lang="fi-FI" dirty="0"/>
              <a:t>Kirjoita ohjelma, joka pyytää käyttäjältä x ja y:n arvot ja tuottaa </a:t>
            </a:r>
            <a:br>
              <a:rPr lang="fi-FI" dirty="0"/>
            </a:br>
            <a:r>
              <a:rPr lang="fi-FI" dirty="0"/>
              <a:t>seuraavat tulokset: x = 10; y = 5; lasku x /= y; </a:t>
            </a:r>
            <a:r>
              <a:rPr lang="fi-FI" dirty="0">
                <a:solidFill>
                  <a:srgbClr val="FF0000"/>
                </a:solidFill>
              </a:rPr>
              <a:t>tulostus x = 2;</a:t>
            </a:r>
          </a:p>
          <a:p>
            <a:pPr>
              <a:buFont typeface="+mj-lt"/>
              <a:buAutoNum type="arabicPeriod"/>
            </a:pPr>
            <a:endParaRPr lang="fi-FI" dirty="0">
              <a:solidFill>
                <a:srgbClr val="FF0000"/>
              </a:solidFill>
            </a:endParaRPr>
          </a:p>
          <a:p>
            <a:pPr>
              <a:buFont typeface="+mj-lt"/>
              <a:buAutoNum type="arabicPeriod"/>
            </a:pPr>
            <a:endParaRPr lang="fi-FI" dirty="0"/>
          </a:p>
        </p:txBody>
      </p:sp>
    </p:spTree>
    <p:extLst>
      <p:ext uri="{BB962C8B-B14F-4D97-AF65-F5344CB8AC3E}">
        <p14:creationId xmlns:p14="http://schemas.microsoft.com/office/powerpoint/2010/main" val="6636314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643E40BA-26A3-3341-A03F-D74A5C7C942D}"/>
              </a:ext>
            </a:extLst>
          </p:cNvPr>
          <p:cNvSpPr>
            <a:spLocks noGrp="1"/>
          </p:cNvSpPr>
          <p:nvPr>
            <p:ph type="title"/>
          </p:nvPr>
        </p:nvSpPr>
        <p:spPr>
          <a:xfrm>
            <a:off x="791918" y="129863"/>
            <a:ext cx="8063670" cy="712618"/>
          </a:xfrm>
        </p:spPr>
        <p:txBody>
          <a:bodyPr/>
          <a:lstStyle/>
          <a:p>
            <a:r>
              <a:rPr lang="fi-FI" dirty="0"/>
              <a:t>Ehdolliset määrittelyt</a:t>
            </a:r>
          </a:p>
        </p:txBody>
      </p:sp>
      <p:sp>
        <p:nvSpPr>
          <p:cNvPr id="3" name="Sisällön paikkamerkki 2">
            <a:extLst>
              <a:ext uri="{FF2B5EF4-FFF2-40B4-BE49-F238E27FC236}">
                <a16:creationId xmlns:a16="http://schemas.microsoft.com/office/drawing/2014/main" id="{E9FA02DD-F213-E14C-AB6A-50B9AB6171B7}"/>
              </a:ext>
            </a:extLst>
          </p:cNvPr>
          <p:cNvSpPr>
            <a:spLocks noGrp="1"/>
          </p:cNvSpPr>
          <p:nvPr>
            <p:ph sz="quarter" idx="12"/>
          </p:nvPr>
        </p:nvSpPr>
        <p:spPr>
          <a:xfrm>
            <a:off x="791918" y="842482"/>
            <a:ext cx="8063670" cy="5885656"/>
          </a:xfrm>
        </p:spPr>
        <p:txBody>
          <a:bodyPr/>
          <a:lstStyle/>
          <a:p>
            <a:r>
              <a:rPr lang="fi-FI" dirty="0"/>
              <a:t>Meillä on muutama operaattori </a:t>
            </a:r>
            <a:br>
              <a:rPr lang="fi-FI" dirty="0"/>
            </a:br>
            <a:r>
              <a:rPr lang="fi-FI" dirty="0"/>
              <a:t>ehdollisiin määrittelyihin:</a:t>
            </a:r>
          </a:p>
          <a:p>
            <a:r>
              <a:rPr lang="fi-FI" dirty="0"/>
              <a:t>Vastaus on aina </a:t>
            </a:r>
            <a:r>
              <a:rPr lang="fi-FI" dirty="0" err="1"/>
              <a:t>boollean</a:t>
            </a:r>
            <a:r>
              <a:rPr lang="fi-FI" dirty="0"/>
              <a:t> arvo (tosi tai</a:t>
            </a:r>
            <a:br>
              <a:rPr lang="fi-FI" dirty="0"/>
            </a:br>
            <a:r>
              <a:rPr lang="fi-FI" dirty="0"/>
              <a:t>epätosi)</a:t>
            </a:r>
          </a:p>
          <a:p>
            <a:r>
              <a:rPr lang="fi-FI" dirty="0"/>
              <a:t>Otetaan esimerkki</a:t>
            </a:r>
          </a:p>
        </p:txBody>
      </p:sp>
      <p:graphicFrame>
        <p:nvGraphicFramePr>
          <p:cNvPr id="4" name="Taulukko 4">
            <a:extLst>
              <a:ext uri="{FF2B5EF4-FFF2-40B4-BE49-F238E27FC236}">
                <a16:creationId xmlns:a16="http://schemas.microsoft.com/office/drawing/2014/main" id="{4220457A-9B5C-7D4D-8F6E-501C02F0461D}"/>
              </a:ext>
            </a:extLst>
          </p:cNvPr>
          <p:cNvGraphicFramePr>
            <a:graphicFrameLocks noGrp="1"/>
          </p:cNvGraphicFramePr>
          <p:nvPr>
            <p:extLst>
              <p:ext uri="{D42A27DB-BD31-4B8C-83A1-F6EECF244321}">
                <p14:modId xmlns:p14="http://schemas.microsoft.com/office/powerpoint/2010/main" val="488770289"/>
              </p:ext>
            </p:extLst>
          </p:nvPr>
        </p:nvGraphicFramePr>
        <p:xfrm>
          <a:off x="4823753" y="749728"/>
          <a:ext cx="4208980" cy="2595880"/>
        </p:xfrm>
        <a:graphic>
          <a:graphicData uri="http://schemas.openxmlformats.org/drawingml/2006/table">
            <a:tbl>
              <a:tblPr firstRow="1" bandRow="1">
                <a:tableStyleId>{5C22544A-7EE6-4342-B048-85BDC9FD1C3A}</a:tableStyleId>
              </a:tblPr>
              <a:tblGrid>
                <a:gridCol w="1393861">
                  <a:extLst>
                    <a:ext uri="{9D8B030D-6E8A-4147-A177-3AD203B41FA5}">
                      <a16:colId xmlns:a16="http://schemas.microsoft.com/office/drawing/2014/main" val="3388507564"/>
                    </a:ext>
                  </a:extLst>
                </a:gridCol>
                <a:gridCol w="2815119">
                  <a:extLst>
                    <a:ext uri="{9D8B030D-6E8A-4147-A177-3AD203B41FA5}">
                      <a16:colId xmlns:a16="http://schemas.microsoft.com/office/drawing/2014/main" val="4244264437"/>
                    </a:ext>
                  </a:extLst>
                </a:gridCol>
              </a:tblGrid>
              <a:tr h="370840">
                <a:tc>
                  <a:txBody>
                    <a:bodyPr/>
                    <a:lstStyle/>
                    <a:p>
                      <a:pPr algn="ctr"/>
                      <a:r>
                        <a:rPr lang="fi-FI" dirty="0"/>
                        <a:t>Operaattori</a:t>
                      </a:r>
                    </a:p>
                  </a:txBody>
                  <a:tcPr/>
                </a:tc>
                <a:tc>
                  <a:txBody>
                    <a:bodyPr/>
                    <a:lstStyle/>
                    <a:p>
                      <a:pPr algn="ctr"/>
                      <a:r>
                        <a:rPr lang="fi-FI" dirty="0"/>
                        <a:t>Toiminto</a:t>
                      </a:r>
                    </a:p>
                  </a:txBody>
                  <a:tcPr/>
                </a:tc>
                <a:extLst>
                  <a:ext uri="{0D108BD9-81ED-4DB2-BD59-A6C34878D82A}">
                    <a16:rowId xmlns:a16="http://schemas.microsoft.com/office/drawing/2014/main" val="30131494"/>
                  </a:ext>
                </a:extLst>
              </a:tr>
              <a:tr h="370840">
                <a:tc>
                  <a:txBody>
                    <a:bodyPr/>
                    <a:lstStyle/>
                    <a:p>
                      <a:pPr algn="ctr"/>
                      <a:r>
                        <a:rPr lang="fi-FI" dirty="0"/>
                        <a:t>==</a:t>
                      </a:r>
                    </a:p>
                  </a:txBody>
                  <a:tcPr/>
                </a:tc>
                <a:tc>
                  <a:txBody>
                    <a:bodyPr/>
                    <a:lstStyle/>
                    <a:p>
                      <a:pPr algn="ctr"/>
                      <a:r>
                        <a:rPr lang="fi-FI" dirty="0"/>
                        <a:t>Yhtä kuin</a:t>
                      </a:r>
                    </a:p>
                  </a:txBody>
                  <a:tcPr/>
                </a:tc>
                <a:extLst>
                  <a:ext uri="{0D108BD9-81ED-4DB2-BD59-A6C34878D82A}">
                    <a16:rowId xmlns:a16="http://schemas.microsoft.com/office/drawing/2014/main" val="3318116458"/>
                  </a:ext>
                </a:extLst>
              </a:tr>
              <a:tr h="370840">
                <a:tc>
                  <a:txBody>
                    <a:bodyPr/>
                    <a:lstStyle/>
                    <a:p>
                      <a:pPr algn="ctr"/>
                      <a:r>
                        <a:rPr lang="fi-FI" dirty="0"/>
                        <a:t>!=</a:t>
                      </a:r>
                    </a:p>
                  </a:txBody>
                  <a:tcPr/>
                </a:tc>
                <a:tc>
                  <a:txBody>
                    <a:bodyPr/>
                    <a:lstStyle/>
                    <a:p>
                      <a:pPr algn="ctr"/>
                      <a:r>
                        <a:rPr lang="fi-FI" dirty="0"/>
                        <a:t>Erisuuri kuin</a:t>
                      </a:r>
                    </a:p>
                  </a:txBody>
                  <a:tcPr/>
                </a:tc>
                <a:extLst>
                  <a:ext uri="{0D108BD9-81ED-4DB2-BD59-A6C34878D82A}">
                    <a16:rowId xmlns:a16="http://schemas.microsoft.com/office/drawing/2014/main" val="631391478"/>
                  </a:ext>
                </a:extLst>
              </a:tr>
              <a:tr h="370840">
                <a:tc>
                  <a:txBody>
                    <a:bodyPr/>
                    <a:lstStyle/>
                    <a:p>
                      <a:pPr algn="ctr"/>
                      <a:r>
                        <a:rPr lang="fi-FI" dirty="0"/>
                        <a:t>&gt;</a:t>
                      </a:r>
                    </a:p>
                  </a:txBody>
                  <a:tcPr/>
                </a:tc>
                <a:tc>
                  <a:txBody>
                    <a:bodyPr/>
                    <a:lstStyle/>
                    <a:p>
                      <a:pPr algn="ctr"/>
                      <a:r>
                        <a:rPr lang="fi-FI" dirty="0"/>
                        <a:t>Suurempi kuin</a:t>
                      </a:r>
                    </a:p>
                  </a:txBody>
                  <a:tcPr/>
                </a:tc>
                <a:extLst>
                  <a:ext uri="{0D108BD9-81ED-4DB2-BD59-A6C34878D82A}">
                    <a16:rowId xmlns:a16="http://schemas.microsoft.com/office/drawing/2014/main" val="3615109738"/>
                  </a:ext>
                </a:extLst>
              </a:tr>
              <a:tr h="370840">
                <a:tc>
                  <a:txBody>
                    <a:bodyPr/>
                    <a:lstStyle/>
                    <a:p>
                      <a:pPr algn="ctr"/>
                      <a:r>
                        <a:rPr lang="fi-FI" dirty="0"/>
                        <a:t>&gt;=</a:t>
                      </a:r>
                    </a:p>
                  </a:txBody>
                  <a:tcPr/>
                </a:tc>
                <a:tc>
                  <a:txBody>
                    <a:bodyPr/>
                    <a:lstStyle/>
                    <a:p>
                      <a:pPr algn="ctr"/>
                      <a:r>
                        <a:rPr lang="fi-FI" dirty="0"/>
                        <a:t>Suurempi tai yhtä suuri kuin</a:t>
                      </a:r>
                    </a:p>
                  </a:txBody>
                  <a:tcPr/>
                </a:tc>
                <a:extLst>
                  <a:ext uri="{0D108BD9-81ED-4DB2-BD59-A6C34878D82A}">
                    <a16:rowId xmlns:a16="http://schemas.microsoft.com/office/drawing/2014/main" val="3213217752"/>
                  </a:ext>
                </a:extLst>
              </a:tr>
              <a:tr h="370840">
                <a:tc>
                  <a:txBody>
                    <a:bodyPr/>
                    <a:lstStyle/>
                    <a:p>
                      <a:pPr algn="ctr"/>
                      <a:r>
                        <a:rPr lang="fi-FI" dirty="0"/>
                        <a:t>&lt;</a:t>
                      </a:r>
                    </a:p>
                  </a:txBody>
                  <a:tcPr/>
                </a:tc>
                <a:tc>
                  <a:txBody>
                    <a:bodyPr/>
                    <a:lstStyle/>
                    <a:p>
                      <a:pPr algn="ctr"/>
                      <a:r>
                        <a:rPr lang="fi-FI" dirty="0"/>
                        <a:t>Pienempi kuin</a:t>
                      </a:r>
                    </a:p>
                  </a:txBody>
                  <a:tcPr/>
                </a:tc>
                <a:extLst>
                  <a:ext uri="{0D108BD9-81ED-4DB2-BD59-A6C34878D82A}">
                    <a16:rowId xmlns:a16="http://schemas.microsoft.com/office/drawing/2014/main" val="4142753990"/>
                  </a:ext>
                </a:extLst>
              </a:tr>
              <a:tr h="370840">
                <a:tc>
                  <a:txBody>
                    <a:bodyPr/>
                    <a:lstStyle/>
                    <a:p>
                      <a:pPr algn="ctr"/>
                      <a:r>
                        <a:rPr lang="fi-FI" dirty="0"/>
                        <a:t>&lt;=</a:t>
                      </a:r>
                    </a:p>
                  </a:txBody>
                  <a:tcPr/>
                </a:tc>
                <a:tc>
                  <a:txBody>
                    <a:bodyPr/>
                    <a:lstStyle/>
                    <a:p>
                      <a:pPr algn="ctr"/>
                      <a:r>
                        <a:rPr lang="fi-FI" dirty="0"/>
                        <a:t>Pienempi tai yhtä suuri kuin</a:t>
                      </a:r>
                    </a:p>
                  </a:txBody>
                  <a:tcPr/>
                </a:tc>
                <a:extLst>
                  <a:ext uri="{0D108BD9-81ED-4DB2-BD59-A6C34878D82A}">
                    <a16:rowId xmlns:a16="http://schemas.microsoft.com/office/drawing/2014/main" val="4126394467"/>
                  </a:ext>
                </a:extLst>
              </a:tr>
            </a:tbl>
          </a:graphicData>
        </a:graphic>
      </p:graphicFrame>
      <p:pic>
        <p:nvPicPr>
          <p:cNvPr id="5" name="Kuva 4">
            <a:extLst>
              <a:ext uri="{FF2B5EF4-FFF2-40B4-BE49-F238E27FC236}">
                <a16:creationId xmlns:a16="http://schemas.microsoft.com/office/drawing/2014/main" id="{36E29DA4-E621-9F48-9C9C-12A3EACA4EDA}"/>
              </a:ext>
            </a:extLst>
          </p:cNvPr>
          <p:cNvPicPr>
            <a:picLocks noChangeAspect="1"/>
          </p:cNvPicPr>
          <p:nvPr/>
        </p:nvPicPr>
        <p:blipFill>
          <a:blip r:embed="rId2"/>
          <a:stretch>
            <a:fillRect/>
          </a:stretch>
        </p:blipFill>
        <p:spPr>
          <a:xfrm>
            <a:off x="614773" y="2432760"/>
            <a:ext cx="4191000" cy="2705100"/>
          </a:xfrm>
          <a:prstGeom prst="rect">
            <a:avLst/>
          </a:prstGeom>
        </p:spPr>
      </p:pic>
      <p:graphicFrame>
        <p:nvGraphicFramePr>
          <p:cNvPr id="6" name="Taulukko 6">
            <a:extLst>
              <a:ext uri="{FF2B5EF4-FFF2-40B4-BE49-F238E27FC236}">
                <a16:creationId xmlns:a16="http://schemas.microsoft.com/office/drawing/2014/main" id="{54B1482E-4730-3F49-A917-F2F5509E9F65}"/>
              </a:ext>
            </a:extLst>
          </p:cNvPr>
          <p:cNvGraphicFramePr>
            <a:graphicFrameLocks noGrp="1"/>
          </p:cNvGraphicFramePr>
          <p:nvPr>
            <p:extLst>
              <p:ext uri="{D42A27DB-BD31-4B8C-83A1-F6EECF244321}">
                <p14:modId xmlns:p14="http://schemas.microsoft.com/office/powerpoint/2010/main" val="2756870373"/>
              </p:ext>
            </p:extLst>
          </p:nvPr>
        </p:nvGraphicFramePr>
        <p:xfrm>
          <a:off x="5404243" y="3595670"/>
          <a:ext cx="3048000" cy="1854200"/>
        </p:xfrm>
        <a:graphic>
          <a:graphicData uri="http://schemas.openxmlformats.org/drawingml/2006/table">
            <a:tbl>
              <a:tblPr firstRow="1" bandRow="1">
                <a:tableStyleId>{5C22544A-7EE6-4342-B048-85BDC9FD1C3A}</a:tableStyleId>
              </a:tblPr>
              <a:tblGrid>
                <a:gridCol w="1352764">
                  <a:extLst>
                    <a:ext uri="{9D8B030D-6E8A-4147-A177-3AD203B41FA5}">
                      <a16:colId xmlns:a16="http://schemas.microsoft.com/office/drawing/2014/main" val="1233720379"/>
                    </a:ext>
                  </a:extLst>
                </a:gridCol>
                <a:gridCol w="1695236">
                  <a:extLst>
                    <a:ext uri="{9D8B030D-6E8A-4147-A177-3AD203B41FA5}">
                      <a16:colId xmlns:a16="http://schemas.microsoft.com/office/drawing/2014/main" val="920643602"/>
                    </a:ext>
                  </a:extLst>
                </a:gridCol>
              </a:tblGrid>
              <a:tr h="370840">
                <a:tc>
                  <a:txBody>
                    <a:bodyPr/>
                    <a:lstStyle/>
                    <a:p>
                      <a:pPr algn="ctr"/>
                      <a:r>
                        <a:rPr lang="fi-FI" dirty="0"/>
                        <a:t>Operaattori</a:t>
                      </a:r>
                    </a:p>
                  </a:txBody>
                  <a:tcPr/>
                </a:tc>
                <a:tc>
                  <a:txBody>
                    <a:bodyPr/>
                    <a:lstStyle/>
                    <a:p>
                      <a:pPr algn="ctr"/>
                      <a:r>
                        <a:rPr lang="fi-FI" dirty="0"/>
                        <a:t>Toiminto</a:t>
                      </a:r>
                    </a:p>
                  </a:txBody>
                  <a:tcPr/>
                </a:tc>
                <a:extLst>
                  <a:ext uri="{0D108BD9-81ED-4DB2-BD59-A6C34878D82A}">
                    <a16:rowId xmlns:a16="http://schemas.microsoft.com/office/drawing/2014/main" val="2610241878"/>
                  </a:ext>
                </a:extLst>
              </a:tr>
              <a:tr h="370840">
                <a:tc>
                  <a:txBody>
                    <a:bodyPr/>
                    <a:lstStyle/>
                    <a:p>
                      <a:pPr algn="ctr"/>
                      <a:r>
                        <a:rPr lang="fi-FI" dirty="0"/>
                        <a:t>&amp;&amp;</a:t>
                      </a:r>
                    </a:p>
                  </a:txBody>
                  <a:tcPr/>
                </a:tc>
                <a:tc>
                  <a:txBody>
                    <a:bodyPr/>
                    <a:lstStyle/>
                    <a:p>
                      <a:pPr algn="ctr"/>
                      <a:r>
                        <a:rPr lang="fi-FI" dirty="0"/>
                        <a:t>Ja</a:t>
                      </a:r>
                    </a:p>
                  </a:txBody>
                  <a:tcPr/>
                </a:tc>
                <a:extLst>
                  <a:ext uri="{0D108BD9-81ED-4DB2-BD59-A6C34878D82A}">
                    <a16:rowId xmlns:a16="http://schemas.microsoft.com/office/drawing/2014/main" val="4090210142"/>
                  </a:ext>
                </a:extLst>
              </a:tr>
              <a:tr h="370840">
                <a:tc>
                  <a:txBody>
                    <a:bodyPr/>
                    <a:lstStyle/>
                    <a:p>
                      <a:pPr algn="ctr"/>
                      <a:r>
                        <a:rPr lang="fi-FI" dirty="0"/>
                        <a:t>||</a:t>
                      </a:r>
                    </a:p>
                  </a:txBody>
                  <a:tcPr/>
                </a:tc>
                <a:tc>
                  <a:txBody>
                    <a:bodyPr/>
                    <a:lstStyle/>
                    <a:p>
                      <a:pPr algn="ctr"/>
                      <a:r>
                        <a:rPr lang="fi-FI" dirty="0"/>
                        <a:t>Tai</a:t>
                      </a:r>
                    </a:p>
                  </a:txBody>
                  <a:tcPr/>
                </a:tc>
                <a:extLst>
                  <a:ext uri="{0D108BD9-81ED-4DB2-BD59-A6C34878D82A}">
                    <a16:rowId xmlns:a16="http://schemas.microsoft.com/office/drawing/2014/main" val="45695107"/>
                  </a:ext>
                </a:extLst>
              </a:tr>
              <a:tr h="370840">
                <a:tc>
                  <a:txBody>
                    <a:bodyPr/>
                    <a:lstStyle/>
                    <a:p>
                      <a:pPr algn="ctr"/>
                      <a:r>
                        <a:rPr lang="fi-FI" dirty="0"/>
                        <a:t>!</a:t>
                      </a:r>
                    </a:p>
                  </a:txBody>
                  <a:tcPr/>
                </a:tc>
                <a:tc>
                  <a:txBody>
                    <a:bodyPr/>
                    <a:lstStyle/>
                    <a:p>
                      <a:pPr algn="ctr"/>
                      <a:r>
                        <a:rPr lang="fi-FI" dirty="0"/>
                        <a:t>Ei</a:t>
                      </a:r>
                    </a:p>
                  </a:txBody>
                  <a:tcPr/>
                </a:tc>
                <a:extLst>
                  <a:ext uri="{0D108BD9-81ED-4DB2-BD59-A6C34878D82A}">
                    <a16:rowId xmlns:a16="http://schemas.microsoft.com/office/drawing/2014/main" val="1403046033"/>
                  </a:ext>
                </a:extLst>
              </a:tr>
              <a:tr h="370840">
                <a:tc>
                  <a:txBody>
                    <a:bodyPr/>
                    <a:lstStyle/>
                    <a:p>
                      <a:pPr algn="ctr"/>
                      <a:r>
                        <a:rPr lang="fi-FI" dirty="0"/>
                        <a:t>^</a:t>
                      </a:r>
                    </a:p>
                  </a:txBody>
                  <a:tcPr/>
                </a:tc>
                <a:tc>
                  <a:txBody>
                    <a:bodyPr/>
                    <a:lstStyle/>
                    <a:p>
                      <a:pPr algn="ctr"/>
                      <a:r>
                        <a:rPr lang="fi-FI" dirty="0"/>
                        <a:t>Vain toinen tosi</a:t>
                      </a:r>
                    </a:p>
                  </a:txBody>
                  <a:tcPr/>
                </a:tc>
                <a:extLst>
                  <a:ext uri="{0D108BD9-81ED-4DB2-BD59-A6C34878D82A}">
                    <a16:rowId xmlns:a16="http://schemas.microsoft.com/office/drawing/2014/main" val="733522639"/>
                  </a:ext>
                </a:extLst>
              </a:tr>
            </a:tbl>
          </a:graphicData>
        </a:graphic>
      </p:graphicFrame>
    </p:spTree>
    <p:extLst>
      <p:ext uri="{BB962C8B-B14F-4D97-AF65-F5344CB8AC3E}">
        <p14:creationId xmlns:p14="http://schemas.microsoft.com/office/powerpoint/2010/main" val="11680835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05C3C7FC-29E1-0444-B335-6BBA36B9671B}"/>
              </a:ext>
            </a:extLst>
          </p:cNvPr>
          <p:cNvSpPr>
            <a:spLocks noGrp="1"/>
          </p:cNvSpPr>
          <p:nvPr>
            <p:ph type="title"/>
          </p:nvPr>
        </p:nvSpPr>
        <p:spPr/>
        <p:txBody>
          <a:bodyPr/>
          <a:lstStyle/>
          <a:p>
            <a:r>
              <a:rPr lang="fi-FI" dirty="0"/>
              <a:t>Vertailuoperaattorit</a:t>
            </a:r>
          </a:p>
        </p:txBody>
      </p:sp>
      <p:graphicFrame>
        <p:nvGraphicFramePr>
          <p:cNvPr id="4" name="Sisällön paikkamerkki 3">
            <a:extLst>
              <a:ext uri="{FF2B5EF4-FFF2-40B4-BE49-F238E27FC236}">
                <a16:creationId xmlns:a16="http://schemas.microsoft.com/office/drawing/2014/main" id="{22FC1FE3-116B-7046-92D7-3C8AAFC46EF4}"/>
              </a:ext>
            </a:extLst>
          </p:cNvPr>
          <p:cNvGraphicFramePr>
            <a:graphicFrameLocks noGrp="1"/>
          </p:cNvGraphicFramePr>
          <p:nvPr>
            <p:ph sz="quarter" idx="12"/>
            <p:extLst>
              <p:ext uri="{D42A27DB-BD31-4B8C-83A1-F6EECF244321}">
                <p14:modId xmlns:p14="http://schemas.microsoft.com/office/powerpoint/2010/main" val="3378139054"/>
              </p:ext>
            </p:extLst>
          </p:nvPr>
        </p:nvGraphicFramePr>
        <p:xfrm>
          <a:off x="792162" y="3124200"/>
          <a:ext cx="7934396" cy="2595880"/>
        </p:xfrm>
        <a:graphic>
          <a:graphicData uri="http://schemas.openxmlformats.org/drawingml/2006/table">
            <a:tbl>
              <a:tblPr firstRow="1" bandRow="1">
                <a:tableStyleId>{5C22544A-7EE6-4342-B048-85BDC9FD1C3A}</a:tableStyleId>
              </a:tblPr>
              <a:tblGrid>
                <a:gridCol w="1556056">
                  <a:extLst>
                    <a:ext uri="{9D8B030D-6E8A-4147-A177-3AD203B41FA5}">
                      <a16:colId xmlns:a16="http://schemas.microsoft.com/office/drawing/2014/main" val="3677485091"/>
                    </a:ext>
                  </a:extLst>
                </a:gridCol>
                <a:gridCol w="3340927">
                  <a:extLst>
                    <a:ext uri="{9D8B030D-6E8A-4147-A177-3AD203B41FA5}">
                      <a16:colId xmlns:a16="http://schemas.microsoft.com/office/drawing/2014/main" val="2366530839"/>
                    </a:ext>
                  </a:extLst>
                </a:gridCol>
                <a:gridCol w="1815836">
                  <a:extLst>
                    <a:ext uri="{9D8B030D-6E8A-4147-A177-3AD203B41FA5}">
                      <a16:colId xmlns:a16="http://schemas.microsoft.com/office/drawing/2014/main" val="3121613609"/>
                    </a:ext>
                  </a:extLst>
                </a:gridCol>
                <a:gridCol w="1221577">
                  <a:extLst>
                    <a:ext uri="{9D8B030D-6E8A-4147-A177-3AD203B41FA5}">
                      <a16:colId xmlns:a16="http://schemas.microsoft.com/office/drawing/2014/main" val="608932568"/>
                    </a:ext>
                  </a:extLst>
                </a:gridCol>
              </a:tblGrid>
              <a:tr h="370840">
                <a:tc>
                  <a:txBody>
                    <a:bodyPr/>
                    <a:lstStyle/>
                    <a:p>
                      <a:r>
                        <a:rPr lang="fi-FI" dirty="0"/>
                        <a:t>Operaattori</a:t>
                      </a:r>
                    </a:p>
                  </a:txBody>
                  <a:tcPr/>
                </a:tc>
                <a:tc>
                  <a:txBody>
                    <a:bodyPr/>
                    <a:lstStyle/>
                    <a:p>
                      <a:r>
                        <a:rPr lang="fi-FI" dirty="0"/>
                        <a:t>Kuvaus</a:t>
                      </a:r>
                    </a:p>
                  </a:txBody>
                  <a:tcPr/>
                </a:tc>
                <a:tc>
                  <a:txBody>
                    <a:bodyPr/>
                    <a:lstStyle/>
                    <a:p>
                      <a:r>
                        <a:rPr lang="fi-FI" dirty="0"/>
                        <a:t>Esimerkki (a = 1)</a:t>
                      </a:r>
                    </a:p>
                  </a:txBody>
                  <a:tcPr/>
                </a:tc>
                <a:tc>
                  <a:txBody>
                    <a:bodyPr/>
                    <a:lstStyle/>
                    <a:p>
                      <a:r>
                        <a:rPr lang="fi-FI" dirty="0"/>
                        <a:t>Tulos</a:t>
                      </a:r>
                    </a:p>
                  </a:txBody>
                  <a:tcPr/>
                </a:tc>
                <a:extLst>
                  <a:ext uri="{0D108BD9-81ED-4DB2-BD59-A6C34878D82A}">
                    <a16:rowId xmlns:a16="http://schemas.microsoft.com/office/drawing/2014/main" val="1273165840"/>
                  </a:ext>
                </a:extLst>
              </a:tr>
              <a:tr h="370840">
                <a:tc>
                  <a:txBody>
                    <a:bodyPr/>
                    <a:lstStyle/>
                    <a:p>
                      <a:r>
                        <a:rPr lang="fi-FI" dirty="0"/>
                        <a:t>==</a:t>
                      </a:r>
                    </a:p>
                  </a:txBody>
                  <a:tcPr/>
                </a:tc>
                <a:tc>
                  <a:txBody>
                    <a:bodyPr/>
                    <a:lstStyle/>
                    <a:p>
                      <a:r>
                        <a:rPr lang="fi-FI" dirty="0"/>
                        <a:t>Yhtä suuri kuin</a:t>
                      </a:r>
                    </a:p>
                  </a:txBody>
                  <a:tcPr/>
                </a:tc>
                <a:tc>
                  <a:txBody>
                    <a:bodyPr/>
                    <a:lstStyle/>
                    <a:p>
                      <a:r>
                        <a:rPr lang="fi-FI" dirty="0"/>
                        <a:t>a == 2</a:t>
                      </a:r>
                    </a:p>
                  </a:txBody>
                  <a:tcPr/>
                </a:tc>
                <a:tc>
                  <a:txBody>
                    <a:bodyPr/>
                    <a:lstStyle/>
                    <a:p>
                      <a:r>
                        <a:rPr lang="fi-FI" dirty="0" err="1"/>
                        <a:t>false</a:t>
                      </a:r>
                      <a:endParaRPr lang="fi-FI" dirty="0"/>
                    </a:p>
                  </a:txBody>
                  <a:tcPr/>
                </a:tc>
                <a:extLst>
                  <a:ext uri="{0D108BD9-81ED-4DB2-BD59-A6C34878D82A}">
                    <a16:rowId xmlns:a16="http://schemas.microsoft.com/office/drawing/2014/main" val="399929668"/>
                  </a:ext>
                </a:extLst>
              </a:tr>
              <a:tr h="370840">
                <a:tc>
                  <a:txBody>
                    <a:bodyPr/>
                    <a:lstStyle/>
                    <a:p>
                      <a:r>
                        <a:rPr lang="fi-FI" dirty="0"/>
                        <a:t>!=</a:t>
                      </a:r>
                    </a:p>
                  </a:txBody>
                  <a:tcPr/>
                </a:tc>
                <a:tc>
                  <a:txBody>
                    <a:bodyPr/>
                    <a:lstStyle/>
                    <a:p>
                      <a:r>
                        <a:rPr lang="fi-FI" dirty="0"/>
                        <a:t>Eri suuri kuin</a:t>
                      </a:r>
                    </a:p>
                  </a:txBody>
                  <a:tcPr/>
                </a:tc>
                <a:tc>
                  <a:txBody>
                    <a:bodyPr/>
                    <a:lstStyle/>
                    <a:p>
                      <a:r>
                        <a:rPr lang="fi-FI" dirty="0"/>
                        <a:t>a != 1</a:t>
                      </a:r>
                    </a:p>
                  </a:txBody>
                  <a:tcPr/>
                </a:tc>
                <a:tc>
                  <a:txBody>
                    <a:bodyPr/>
                    <a:lstStyle/>
                    <a:p>
                      <a:r>
                        <a:rPr lang="fi-FI" dirty="0" err="1"/>
                        <a:t>false</a:t>
                      </a:r>
                      <a:endParaRPr lang="fi-FI" dirty="0"/>
                    </a:p>
                  </a:txBody>
                  <a:tcPr/>
                </a:tc>
                <a:extLst>
                  <a:ext uri="{0D108BD9-81ED-4DB2-BD59-A6C34878D82A}">
                    <a16:rowId xmlns:a16="http://schemas.microsoft.com/office/drawing/2014/main" val="36998828"/>
                  </a:ext>
                </a:extLst>
              </a:tr>
              <a:tr h="370840">
                <a:tc>
                  <a:txBody>
                    <a:bodyPr/>
                    <a:lstStyle/>
                    <a:p>
                      <a:r>
                        <a:rPr lang="fi-FI" dirty="0"/>
                        <a:t>&lt;</a:t>
                      </a:r>
                    </a:p>
                  </a:txBody>
                  <a:tcPr/>
                </a:tc>
                <a:tc>
                  <a:txBody>
                    <a:bodyPr/>
                    <a:lstStyle/>
                    <a:p>
                      <a:r>
                        <a:rPr lang="fi-FI" dirty="0"/>
                        <a:t>Pienempi kuin</a:t>
                      </a:r>
                    </a:p>
                  </a:txBody>
                  <a:tcPr/>
                </a:tc>
                <a:tc>
                  <a:txBody>
                    <a:bodyPr/>
                    <a:lstStyle/>
                    <a:p>
                      <a:r>
                        <a:rPr lang="fi-FI" dirty="0"/>
                        <a:t>a &lt; 2</a:t>
                      </a:r>
                    </a:p>
                  </a:txBody>
                  <a:tcPr/>
                </a:tc>
                <a:tc>
                  <a:txBody>
                    <a:bodyPr/>
                    <a:lstStyle/>
                    <a:p>
                      <a:r>
                        <a:rPr lang="fi-FI" dirty="0" err="1"/>
                        <a:t>true</a:t>
                      </a:r>
                      <a:endParaRPr lang="fi-FI" dirty="0"/>
                    </a:p>
                  </a:txBody>
                  <a:tcPr/>
                </a:tc>
                <a:extLst>
                  <a:ext uri="{0D108BD9-81ED-4DB2-BD59-A6C34878D82A}">
                    <a16:rowId xmlns:a16="http://schemas.microsoft.com/office/drawing/2014/main" val="646955546"/>
                  </a:ext>
                </a:extLst>
              </a:tr>
              <a:tr h="370840">
                <a:tc>
                  <a:txBody>
                    <a:bodyPr/>
                    <a:lstStyle/>
                    <a:p>
                      <a:r>
                        <a:rPr lang="fi-FI" dirty="0"/>
                        <a:t>&lt;=</a:t>
                      </a:r>
                    </a:p>
                  </a:txBody>
                  <a:tcPr/>
                </a:tc>
                <a:tc>
                  <a:txBody>
                    <a:bodyPr/>
                    <a:lstStyle/>
                    <a:p>
                      <a:r>
                        <a:rPr lang="fi-FI" dirty="0"/>
                        <a:t>Pienempi tai yhtä suuri kuin</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i-FI" dirty="0"/>
                        <a:t>a &lt;= 2</a:t>
                      </a:r>
                    </a:p>
                  </a:txBody>
                  <a:tcPr/>
                </a:tc>
                <a:tc>
                  <a:txBody>
                    <a:bodyPr/>
                    <a:lstStyle/>
                    <a:p>
                      <a:r>
                        <a:rPr lang="fi-FI" dirty="0" err="1"/>
                        <a:t>true</a:t>
                      </a:r>
                      <a:endParaRPr lang="fi-FI" dirty="0"/>
                    </a:p>
                  </a:txBody>
                  <a:tcPr/>
                </a:tc>
                <a:extLst>
                  <a:ext uri="{0D108BD9-81ED-4DB2-BD59-A6C34878D82A}">
                    <a16:rowId xmlns:a16="http://schemas.microsoft.com/office/drawing/2014/main" val="2610129256"/>
                  </a:ext>
                </a:extLst>
              </a:tr>
              <a:tr h="370840">
                <a:tc>
                  <a:txBody>
                    <a:bodyPr/>
                    <a:lstStyle/>
                    <a:p>
                      <a:r>
                        <a:rPr lang="fi-FI" dirty="0"/>
                        <a:t>&gt;</a:t>
                      </a:r>
                    </a:p>
                  </a:txBody>
                  <a:tcPr/>
                </a:tc>
                <a:tc>
                  <a:txBody>
                    <a:bodyPr/>
                    <a:lstStyle/>
                    <a:p>
                      <a:r>
                        <a:rPr lang="fi-FI" dirty="0"/>
                        <a:t>Suurempi kuin</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i-FI" dirty="0"/>
                        <a:t>a &gt; 1</a:t>
                      </a:r>
                    </a:p>
                  </a:txBody>
                  <a:tcPr/>
                </a:tc>
                <a:tc>
                  <a:txBody>
                    <a:bodyPr/>
                    <a:lstStyle/>
                    <a:p>
                      <a:r>
                        <a:rPr lang="fi-FI" dirty="0" err="1"/>
                        <a:t>false</a:t>
                      </a:r>
                      <a:endParaRPr lang="fi-FI" dirty="0"/>
                    </a:p>
                  </a:txBody>
                  <a:tcPr/>
                </a:tc>
                <a:extLst>
                  <a:ext uri="{0D108BD9-81ED-4DB2-BD59-A6C34878D82A}">
                    <a16:rowId xmlns:a16="http://schemas.microsoft.com/office/drawing/2014/main" val="2188202699"/>
                  </a:ext>
                </a:extLst>
              </a:tr>
              <a:tr h="370840">
                <a:tc>
                  <a:txBody>
                    <a:bodyPr/>
                    <a:lstStyle/>
                    <a:p>
                      <a:r>
                        <a:rPr lang="fi-FI" dirty="0"/>
                        <a:t>&gt;=</a:t>
                      </a:r>
                    </a:p>
                  </a:txBody>
                  <a:tcPr/>
                </a:tc>
                <a:tc>
                  <a:txBody>
                    <a:bodyPr/>
                    <a:lstStyle/>
                    <a:p>
                      <a:r>
                        <a:rPr lang="fi-FI" dirty="0"/>
                        <a:t>Suurempi tai yhtä suuri kuin</a:t>
                      </a:r>
                    </a:p>
                  </a:txBody>
                  <a:tcPr/>
                </a:tc>
                <a:tc>
                  <a:txBody>
                    <a:bodyPr/>
                    <a:lstStyle/>
                    <a:p>
                      <a:r>
                        <a:rPr lang="fi-FI" dirty="0"/>
                        <a:t>a &gt;= 1</a:t>
                      </a:r>
                    </a:p>
                  </a:txBody>
                  <a:tcPr/>
                </a:tc>
                <a:tc>
                  <a:txBody>
                    <a:bodyPr/>
                    <a:lstStyle/>
                    <a:p>
                      <a:r>
                        <a:rPr lang="fi-FI" dirty="0" err="1"/>
                        <a:t>true</a:t>
                      </a:r>
                      <a:endParaRPr lang="fi-FI" dirty="0"/>
                    </a:p>
                  </a:txBody>
                  <a:tcPr/>
                </a:tc>
                <a:extLst>
                  <a:ext uri="{0D108BD9-81ED-4DB2-BD59-A6C34878D82A}">
                    <a16:rowId xmlns:a16="http://schemas.microsoft.com/office/drawing/2014/main" val="309892855"/>
                  </a:ext>
                </a:extLst>
              </a:tr>
            </a:tbl>
          </a:graphicData>
        </a:graphic>
      </p:graphicFrame>
    </p:spTree>
    <p:extLst>
      <p:ext uri="{BB962C8B-B14F-4D97-AF65-F5344CB8AC3E}">
        <p14:creationId xmlns:p14="http://schemas.microsoft.com/office/powerpoint/2010/main" val="19721615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5A56D0FB-5BB0-CF49-84CC-A87F3E8AC2DA}"/>
              </a:ext>
            </a:extLst>
          </p:cNvPr>
          <p:cNvSpPr>
            <a:spLocks noGrp="1"/>
          </p:cNvSpPr>
          <p:nvPr>
            <p:ph type="title"/>
          </p:nvPr>
        </p:nvSpPr>
        <p:spPr/>
        <p:txBody>
          <a:bodyPr/>
          <a:lstStyle/>
          <a:p>
            <a:r>
              <a:rPr lang="fi-FI" dirty="0"/>
              <a:t>Loogiset operaattorit</a:t>
            </a:r>
          </a:p>
        </p:txBody>
      </p:sp>
      <p:graphicFrame>
        <p:nvGraphicFramePr>
          <p:cNvPr id="4" name="Sisällön paikkamerkki 3">
            <a:extLst>
              <a:ext uri="{FF2B5EF4-FFF2-40B4-BE49-F238E27FC236}">
                <a16:creationId xmlns:a16="http://schemas.microsoft.com/office/drawing/2014/main" id="{8E6F555D-DB7E-3A41-8310-375E377D48D5}"/>
              </a:ext>
            </a:extLst>
          </p:cNvPr>
          <p:cNvGraphicFramePr>
            <a:graphicFrameLocks noGrp="1"/>
          </p:cNvGraphicFramePr>
          <p:nvPr>
            <p:ph sz="quarter" idx="12"/>
            <p:extLst>
              <p:ext uri="{D42A27DB-BD31-4B8C-83A1-F6EECF244321}">
                <p14:modId xmlns:p14="http://schemas.microsoft.com/office/powerpoint/2010/main" val="3039621111"/>
              </p:ext>
            </p:extLst>
          </p:nvPr>
        </p:nvGraphicFramePr>
        <p:xfrm>
          <a:off x="792163" y="3124200"/>
          <a:ext cx="7218776" cy="1540344"/>
        </p:xfrm>
        <a:graphic>
          <a:graphicData uri="http://schemas.openxmlformats.org/drawingml/2006/table">
            <a:tbl>
              <a:tblPr firstRow="1" bandRow="1">
                <a:tableStyleId>{5C22544A-7EE6-4342-B048-85BDC9FD1C3A}</a:tableStyleId>
              </a:tblPr>
              <a:tblGrid>
                <a:gridCol w="1804694">
                  <a:extLst>
                    <a:ext uri="{9D8B030D-6E8A-4147-A177-3AD203B41FA5}">
                      <a16:colId xmlns:a16="http://schemas.microsoft.com/office/drawing/2014/main" val="1832903208"/>
                    </a:ext>
                  </a:extLst>
                </a:gridCol>
                <a:gridCol w="1804694">
                  <a:extLst>
                    <a:ext uri="{9D8B030D-6E8A-4147-A177-3AD203B41FA5}">
                      <a16:colId xmlns:a16="http://schemas.microsoft.com/office/drawing/2014/main" val="816468781"/>
                    </a:ext>
                  </a:extLst>
                </a:gridCol>
                <a:gridCol w="1909797">
                  <a:extLst>
                    <a:ext uri="{9D8B030D-6E8A-4147-A177-3AD203B41FA5}">
                      <a16:colId xmlns:a16="http://schemas.microsoft.com/office/drawing/2014/main" val="2086451912"/>
                    </a:ext>
                  </a:extLst>
                </a:gridCol>
                <a:gridCol w="1699591">
                  <a:extLst>
                    <a:ext uri="{9D8B030D-6E8A-4147-A177-3AD203B41FA5}">
                      <a16:colId xmlns:a16="http://schemas.microsoft.com/office/drawing/2014/main" val="2522847960"/>
                    </a:ext>
                  </a:extLst>
                </a:gridCol>
              </a:tblGrid>
              <a:tr h="370840">
                <a:tc>
                  <a:txBody>
                    <a:bodyPr/>
                    <a:lstStyle/>
                    <a:p>
                      <a:r>
                        <a:rPr lang="fi-FI" dirty="0"/>
                        <a:t>Operaattori</a:t>
                      </a:r>
                    </a:p>
                  </a:txBody>
                  <a:tcPr/>
                </a:tc>
                <a:tc>
                  <a:txBody>
                    <a:bodyPr/>
                    <a:lstStyle/>
                    <a:p>
                      <a:r>
                        <a:rPr lang="fi-FI" dirty="0"/>
                        <a:t>Kuvaus</a:t>
                      </a:r>
                    </a:p>
                  </a:txBody>
                  <a:tcPr/>
                </a:tc>
                <a:tc>
                  <a:txBody>
                    <a:bodyPr/>
                    <a:lstStyle/>
                    <a:p>
                      <a:r>
                        <a:rPr lang="fi-FI" dirty="0"/>
                        <a:t>Esimerkki (a = 1)</a:t>
                      </a:r>
                    </a:p>
                  </a:txBody>
                  <a:tcPr/>
                </a:tc>
                <a:tc>
                  <a:txBody>
                    <a:bodyPr/>
                    <a:lstStyle/>
                    <a:p>
                      <a:r>
                        <a:rPr lang="fi-FI" dirty="0"/>
                        <a:t>Tulos</a:t>
                      </a:r>
                    </a:p>
                  </a:txBody>
                  <a:tcPr/>
                </a:tc>
                <a:extLst>
                  <a:ext uri="{0D108BD9-81ED-4DB2-BD59-A6C34878D82A}">
                    <a16:rowId xmlns:a16="http://schemas.microsoft.com/office/drawing/2014/main" val="3675302839"/>
                  </a:ext>
                </a:extLst>
              </a:tr>
              <a:tr h="370840">
                <a:tc>
                  <a:txBody>
                    <a:bodyPr/>
                    <a:lstStyle/>
                    <a:p>
                      <a:r>
                        <a:rPr lang="fi-FI" dirty="0"/>
                        <a:t>!</a:t>
                      </a:r>
                    </a:p>
                  </a:txBody>
                  <a:tcPr/>
                </a:tc>
                <a:tc>
                  <a:txBody>
                    <a:bodyPr/>
                    <a:lstStyle/>
                    <a:p>
                      <a:r>
                        <a:rPr lang="fi-FI" dirty="0"/>
                        <a:t>Ei</a:t>
                      </a:r>
                    </a:p>
                  </a:txBody>
                  <a:tcPr/>
                </a:tc>
                <a:tc>
                  <a:txBody>
                    <a:bodyPr/>
                    <a:lstStyle/>
                    <a:p>
                      <a:r>
                        <a:rPr lang="fi-FI" dirty="0"/>
                        <a:t>!(a == 1)</a:t>
                      </a:r>
                    </a:p>
                  </a:txBody>
                  <a:tcPr/>
                </a:tc>
                <a:tc>
                  <a:txBody>
                    <a:bodyPr/>
                    <a:lstStyle/>
                    <a:p>
                      <a:r>
                        <a:rPr lang="fi-FI" dirty="0" err="1"/>
                        <a:t>false</a:t>
                      </a:r>
                      <a:endParaRPr lang="fi-FI" dirty="0"/>
                    </a:p>
                  </a:txBody>
                  <a:tcPr/>
                </a:tc>
                <a:extLst>
                  <a:ext uri="{0D108BD9-81ED-4DB2-BD59-A6C34878D82A}">
                    <a16:rowId xmlns:a16="http://schemas.microsoft.com/office/drawing/2014/main" val="3295816042"/>
                  </a:ext>
                </a:extLst>
              </a:tr>
              <a:tr h="427824">
                <a:tc>
                  <a:txBody>
                    <a:bodyPr/>
                    <a:lstStyle/>
                    <a:p>
                      <a:r>
                        <a:rPr lang="fi-FI" dirty="0"/>
                        <a:t>AND = &amp;&amp;</a:t>
                      </a:r>
                    </a:p>
                  </a:txBody>
                  <a:tcPr/>
                </a:tc>
                <a:tc>
                  <a:txBody>
                    <a:bodyPr/>
                    <a:lstStyle/>
                    <a:p>
                      <a:r>
                        <a:rPr lang="fi-FI" dirty="0"/>
                        <a:t>Ja</a:t>
                      </a:r>
                    </a:p>
                  </a:txBody>
                  <a:tcPr/>
                </a:tc>
                <a:tc>
                  <a:txBody>
                    <a:bodyPr/>
                    <a:lstStyle/>
                    <a:p>
                      <a:r>
                        <a:rPr lang="fi-FI" dirty="0"/>
                        <a:t>a &lt; 2 &amp;&amp; a &gt; 3</a:t>
                      </a:r>
                    </a:p>
                  </a:txBody>
                  <a:tcPr/>
                </a:tc>
                <a:tc>
                  <a:txBody>
                    <a:bodyPr/>
                    <a:lstStyle/>
                    <a:p>
                      <a:r>
                        <a:rPr lang="fi-FI" dirty="0" err="1"/>
                        <a:t>false</a:t>
                      </a:r>
                      <a:endParaRPr lang="fi-FI" dirty="0"/>
                    </a:p>
                  </a:txBody>
                  <a:tcPr/>
                </a:tc>
                <a:extLst>
                  <a:ext uri="{0D108BD9-81ED-4DB2-BD59-A6C34878D82A}">
                    <a16:rowId xmlns:a16="http://schemas.microsoft.com/office/drawing/2014/main" val="173573285"/>
                  </a:ext>
                </a:extLst>
              </a:tr>
              <a:tr h="370840">
                <a:tc>
                  <a:txBody>
                    <a:bodyPr/>
                    <a:lstStyle/>
                    <a:p>
                      <a:r>
                        <a:rPr lang="fi-FI" dirty="0"/>
                        <a:t>OR = ||</a:t>
                      </a:r>
                    </a:p>
                  </a:txBody>
                  <a:tcPr/>
                </a:tc>
                <a:tc>
                  <a:txBody>
                    <a:bodyPr/>
                    <a:lstStyle/>
                    <a:p>
                      <a:r>
                        <a:rPr lang="fi-FI" dirty="0"/>
                        <a:t>Tai</a:t>
                      </a:r>
                    </a:p>
                  </a:txBody>
                  <a:tcPr/>
                </a:tc>
                <a:tc>
                  <a:txBody>
                    <a:bodyPr/>
                    <a:lstStyle/>
                    <a:p>
                      <a:r>
                        <a:rPr lang="fi-FI" dirty="0"/>
                        <a:t>a &lt; 2 || a &gt; 3</a:t>
                      </a:r>
                    </a:p>
                  </a:txBody>
                  <a:tcPr/>
                </a:tc>
                <a:tc>
                  <a:txBody>
                    <a:bodyPr/>
                    <a:lstStyle/>
                    <a:p>
                      <a:r>
                        <a:rPr lang="fi-FI" dirty="0" err="1"/>
                        <a:t>true</a:t>
                      </a:r>
                      <a:endParaRPr lang="fi-FI" dirty="0"/>
                    </a:p>
                  </a:txBody>
                  <a:tcPr/>
                </a:tc>
                <a:extLst>
                  <a:ext uri="{0D108BD9-81ED-4DB2-BD59-A6C34878D82A}">
                    <a16:rowId xmlns:a16="http://schemas.microsoft.com/office/drawing/2014/main" val="4240135707"/>
                  </a:ext>
                </a:extLst>
              </a:tr>
            </a:tbl>
          </a:graphicData>
        </a:graphic>
      </p:graphicFrame>
    </p:spTree>
    <p:extLst>
      <p:ext uri="{BB962C8B-B14F-4D97-AF65-F5344CB8AC3E}">
        <p14:creationId xmlns:p14="http://schemas.microsoft.com/office/powerpoint/2010/main" val="17203578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573FABE5-B5C0-A54C-88DC-CDD3CC0574B4}"/>
              </a:ext>
            </a:extLst>
          </p:cNvPr>
          <p:cNvSpPr>
            <a:spLocks noGrp="1"/>
          </p:cNvSpPr>
          <p:nvPr>
            <p:ph type="title"/>
          </p:nvPr>
        </p:nvSpPr>
        <p:spPr>
          <a:xfrm>
            <a:off x="540165" y="78493"/>
            <a:ext cx="8063670" cy="681795"/>
          </a:xfrm>
        </p:spPr>
        <p:txBody>
          <a:bodyPr/>
          <a:lstStyle/>
          <a:p>
            <a:r>
              <a:rPr lang="fi-FI" dirty="0"/>
              <a:t>Ehdolliset määrittelyt – </a:t>
            </a:r>
            <a:r>
              <a:rPr lang="fi-FI" dirty="0" err="1"/>
              <a:t>if</a:t>
            </a:r>
            <a:r>
              <a:rPr lang="fi-FI" dirty="0"/>
              <a:t> / </a:t>
            </a:r>
            <a:r>
              <a:rPr lang="fi-FI" dirty="0" err="1"/>
              <a:t>else</a:t>
            </a:r>
            <a:r>
              <a:rPr lang="fi-FI" dirty="0"/>
              <a:t> </a:t>
            </a:r>
            <a:r>
              <a:rPr lang="fi-FI" dirty="0" err="1"/>
              <a:t>if</a:t>
            </a:r>
            <a:r>
              <a:rPr lang="fi-FI" dirty="0"/>
              <a:t> / </a:t>
            </a:r>
            <a:r>
              <a:rPr lang="fi-FI" dirty="0" err="1"/>
              <a:t>else</a:t>
            </a:r>
            <a:endParaRPr lang="fi-FI" dirty="0"/>
          </a:p>
        </p:txBody>
      </p:sp>
      <p:pic>
        <p:nvPicPr>
          <p:cNvPr id="6" name="Kuva 5">
            <a:extLst>
              <a:ext uri="{FF2B5EF4-FFF2-40B4-BE49-F238E27FC236}">
                <a16:creationId xmlns:a16="http://schemas.microsoft.com/office/drawing/2014/main" id="{A53F6DEC-B5FB-C945-A136-F7DC0DE981C1}"/>
              </a:ext>
            </a:extLst>
          </p:cNvPr>
          <p:cNvPicPr>
            <a:picLocks noChangeAspect="1"/>
          </p:cNvPicPr>
          <p:nvPr/>
        </p:nvPicPr>
        <p:blipFill>
          <a:blip r:embed="rId2"/>
          <a:stretch>
            <a:fillRect/>
          </a:stretch>
        </p:blipFill>
        <p:spPr>
          <a:xfrm>
            <a:off x="0" y="656028"/>
            <a:ext cx="5878506" cy="5945118"/>
          </a:xfrm>
          <a:prstGeom prst="rect">
            <a:avLst/>
          </a:prstGeom>
        </p:spPr>
      </p:pic>
      <p:pic>
        <p:nvPicPr>
          <p:cNvPr id="7" name="Kuva 6">
            <a:extLst>
              <a:ext uri="{FF2B5EF4-FFF2-40B4-BE49-F238E27FC236}">
                <a16:creationId xmlns:a16="http://schemas.microsoft.com/office/drawing/2014/main" id="{EC35C3B2-CC68-224D-9ED7-38BBAC2A7A53}"/>
              </a:ext>
            </a:extLst>
          </p:cNvPr>
          <p:cNvPicPr>
            <a:picLocks noChangeAspect="1"/>
          </p:cNvPicPr>
          <p:nvPr/>
        </p:nvPicPr>
        <p:blipFill>
          <a:blip r:embed="rId3"/>
          <a:stretch>
            <a:fillRect/>
          </a:stretch>
        </p:blipFill>
        <p:spPr>
          <a:xfrm>
            <a:off x="5095982" y="3819917"/>
            <a:ext cx="4048018" cy="2989485"/>
          </a:xfrm>
          <a:prstGeom prst="rect">
            <a:avLst/>
          </a:prstGeom>
        </p:spPr>
      </p:pic>
    </p:spTree>
    <p:extLst>
      <p:ext uri="{BB962C8B-B14F-4D97-AF65-F5344CB8AC3E}">
        <p14:creationId xmlns:p14="http://schemas.microsoft.com/office/powerpoint/2010/main" val="8833488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5ED34FC2-2258-6F47-8232-BEB558B4E35D}"/>
              </a:ext>
            </a:extLst>
          </p:cNvPr>
          <p:cNvSpPr>
            <a:spLocks noGrp="1"/>
          </p:cNvSpPr>
          <p:nvPr>
            <p:ph type="title"/>
          </p:nvPr>
        </p:nvSpPr>
        <p:spPr>
          <a:xfrm>
            <a:off x="791918" y="1988608"/>
            <a:ext cx="5761282" cy="1440392"/>
          </a:xfrm>
        </p:spPr>
        <p:txBody>
          <a:bodyPr/>
          <a:lstStyle/>
          <a:p>
            <a:r>
              <a:rPr lang="fi-FI" dirty="0"/>
              <a:t>Vertailulauseet - </a:t>
            </a:r>
            <a:r>
              <a:rPr lang="fi-FI" dirty="0" err="1"/>
              <a:t>if</a:t>
            </a:r>
            <a:endParaRPr lang="fi-FI" dirty="0"/>
          </a:p>
        </p:txBody>
      </p:sp>
      <p:sp>
        <p:nvSpPr>
          <p:cNvPr id="3" name="Sisällön paikkamerkki 2">
            <a:extLst>
              <a:ext uri="{FF2B5EF4-FFF2-40B4-BE49-F238E27FC236}">
                <a16:creationId xmlns:a16="http://schemas.microsoft.com/office/drawing/2014/main" id="{BBCD8020-8D29-EC49-AE6C-94F11B9ACBF9}"/>
              </a:ext>
            </a:extLst>
          </p:cNvPr>
          <p:cNvSpPr>
            <a:spLocks noGrp="1"/>
          </p:cNvSpPr>
          <p:nvPr>
            <p:ph sz="quarter" idx="12"/>
          </p:nvPr>
        </p:nvSpPr>
        <p:spPr>
          <a:xfrm>
            <a:off x="791918" y="3538049"/>
            <a:ext cx="5248647" cy="2884487"/>
          </a:xfrm>
        </p:spPr>
        <p:txBody>
          <a:bodyPr/>
          <a:lstStyle/>
          <a:p>
            <a:r>
              <a:rPr lang="fi-FI" dirty="0"/>
              <a:t>Vertailu tehdään </a:t>
            </a:r>
            <a:r>
              <a:rPr lang="fi-FI" dirty="0" err="1"/>
              <a:t>if</a:t>
            </a:r>
            <a:r>
              <a:rPr lang="fi-FI" dirty="0"/>
              <a:t> –lauseen avulla, mutta jos vertailtavia on enemmän kuin kaksi, siihen voidaan liittää pelkästään </a:t>
            </a:r>
            <a:r>
              <a:rPr lang="fi-FI" dirty="0" err="1"/>
              <a:t>else</a:t>
            </a:r>
            <a:r>
              <a:rPr lang="fi-FI" dirty="0"/>
              <a:t> –lause tai sitten </a:t>
            </a:r>
            <a:r>
              <a:rPr lang="fi-FI" dirty="0" err="1"/>
              <a:t>else</a:t>
            </a:r>
            <a:r>
              <a:rPr lang="fi-FI" dirty="0"/>
              <a:t> </a:t>
            </a:r>
            <a:r>
              <a:rPr lang="fi-FI" dirty="0" err="1"/>
              <a:t>if</a:t>
            </a:r>
            <a:r>
              <a:rPr lang="fi-FI" dirty="0"/>
              <a:t> –lauseita ja lopuksi </a:t>
            </a:r>
            <a:r>
              <a:rPr lang="fi-FI" dirty="0" err="1"/>
              <a:t>else</a:t>
            </a:r>
            <a:endParaRPr lang="fi-FI" dirty="0"/>
          </a:p>
          <a:p>
            <a:r>
              <a:rPr lang="fi-FI" dirty="0"/>
              <a:t>Huomaa, että </a:t>
            </a:r>
            <a:r>
              <a:rPr lang="fi-FI" dirty="0" err="1"/>
              <a:t>else</a:t>
            </a:r>
            <a:r>
              <a:rPr lang="fi-FI" dirty="0"/>
              <a:t> </a:t>
            </a:r>
            <a:r>
              <a:rPr lang="fi-FI" dirty="0" err="1"/>
              <a:t>if</a:t>
            </a:r>
            <a:r>
              <a:rPr lang="fi-FI" dirty="0"/>
              <a:t> ja </a:t>
            </a:r>
            <a:r>
              <a:rPr lang="fi-FI" dirty="0" err="1"/>
              <a:t>else</a:t>
            </a:r>
            <a:r>
              <a:rPr lang="fi-FI" dirty="0"/>
              <a:t> lauseita ei aina tarvita</a:t>
            </a:r>
          </a:p>
          <a:p>
            <a:r>
              <a:rPr lang="fi-FI" dirty="0"/>
              <a:t>Yllä olevassa esimerkissä tulostuu seuraavasti:</a:t>
            </a:r>
          </a:p>
          <a:p>
            <a:pPr lvl="1"/>
            <a:r>
              <a:rPr lang="fi-FI" dirty="0"/>
              <a:t>luku2 = 3 </a:t>
            </a:r>
            <a:r>
              <a:rPr lang="fi-FI" dirty="0">
                <a:sym typeface="Wingdings" pitchFamily="2" charset="2"/>
              </a:rPr>
              <a:t> 3 on pienempi kuin kymmenen</a:t>
            </a:r>
          </a:p>
          <a:p>
            <a:pPr lvl="1"/>
            <a:r>
              <a:rPr lang="fi-FI" dirty="0"/>
              <a:t>luku2 = 13 </a:t>
            </a:r>
            <a:r>
              <a:rPr lang="fi-FI" dirty="0">
                <a:sym typeface="Wingdings" pitchFamily="2" charset="2"/>
              </a:rPr>
              <a:t> 13 on välillä 11 – 20</a:t>
            </a:r>
          </a:p>
          <a:p>
            <a:pPr lvl="1"/>
            <a:r>
              <a:rPr lang="fi-FI" dirty="0"/>
              <a:t>luku2 = 33 </a:t>
            </a:r>
            <a:r>
              <a:rPr lang="fi-FI" dirty="0">
                <a:sym typeface="Wingdings" pitchFamily="2" charset="2"/>
              </a:rPr>
              <a:t> 33 on suurempi kuin 20</a:t>
            </a:r>
            <a:endParaRPr lang="fi-FI" dirty="0"/>
          </a:p>
          <a:p>
            <a:pPr lvl="1"/>
            <a:endParaRPr lang="fi-FI" dirty="0"/>
          </a:p>
          <a:p>
            <a:pPr lvl="1"/>
            <a:endParaRPr lang="fi-FI" dirty="0"/>
          </a:p>
        </p:txBody>
      </p:sp>
      <p:pic>
        <p:nvPicPr>
          <p:cNvPr id="4" name="Kuva 3">
            <a:extLst>
              <a:ext uri="{FF2B5EF4-FFF2-40B4-BE49-F238E27FC236}">
                <a16:creationId xmlns:a16="http://schemas.microsoft.com/office/drawing/2014/main" id="{5CD6B34C-C5A4-F545-BCC8-3B84EC4AFAB3}"/>
              </a:ext>
            </a:extLst>
          </p:cNvPr>
          <p:cNvPicPr>
            <a:picLocks noChangeAspect="1"/>
          </p:cNvPicPr>
          <p:nvPr/>
        </p:nvPicPr>
        <p:blipFill>
          <a:blip r:embed="rId2"/>
          <a:stretch>
            <a:fillRect/>
          </a:stretch>
        </p:blipFill>
        <p:spPr>
          <a:xfrm>
            <a:off x="3772728" y="203740"/>
            <a:ext cx="5295900" cy="2527300"/>
          </a:xfrm>
          <a:prstGeom prst="rect">
            <a:avLst/>
          </a:prstGeom>
          <a:ln>
            <a:solidFill>
              <a:schemeClr val="accent1"/>
            </a:solidFill>
          </a:ln>
        </p:spPr>
      </p:pic>
    </p:spTree>
    <p:extLst>
      <p:ext uri="{BB962C8B-B14F-4D97-AF65-F5344CB8AC3E}">
        <p14:creationId xmlns:p14="http://schemas.microsoft.com/office/powerpoint/2010/main" val="35273286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9FEA04BC-F8DE-2946-9FBA-98A62F400864}"/>
              </a:ext>
            </a:extLst>
          </p:cNvPr>
          <p:cNvSpPr>
            <a:spLocks noGrp="1"/>
          </p:cNvSpPr>
          <p:nvPr>
            <p:ph type="title"/>
          </p:nvPr>
        </p:nvSpPr>
        <p:spPr/>
        <p:txBody>
          <a:bodyPr/>
          <a:lstStyle/>
          <a:p>
            <a:r>
              <a:rPr lang="fi-FI" dirty="0"/>
              <a:t>Vertailulauseet - </a:t>
            </a:r>
            <a:r>
              <a:rPr lang="fi-FI" dirty="0" err="1"/>
              <a:t>switch</a:t>
            </a:r>
            <a:endParaRPr lang="fi-FI" dirty="0"/>
          </a:p>
        </p:txBody>
      </p:sp>
      <p:sp>
        <p:nvSpPr>
          <p:cNvPr id="3" name="Sisällön paikkamerkki 2">
            <a:extLst>
              <a:ext uri="{FF2B5EF4-FFF2-40B4-BE49-F238E27FC236}">
                <a16:creationId xmlns:a16="http://schemas.microsoft.com/office/drawing/2014/main" id="{46C709B0-02A9-E142-AE54-C9ED37669061}"/>
              </a:ext>
            </a:extLst>
          </p:cNvPr>
          <p:cNvSpPr>
            <a:spLocks noGrp="1"/>
          </p:cNvSpPr>
          <p:nvPr>
            <p:ph sz="quarter" idx="12"/>
          </p:nvPr>
        </p:nvSpPr>
        <p:spPr>
          <a:xfrm>
            <a:off x="791917" y="3123454"/>
            <a:ext cx="6741943" cy="3734546"/>
          </a:xfrm>
        </p:spPr>
        <p:txBody>
          <a:bodyPr/>
          <a:lstStyle/>
          <a:p>
            <a:r>
              <a:rPr lang="fi-FI" dirty="0" err="1"/>
              <a:t>Switch</a:t>
            </a:r>
            <a:r>
              <a:rPr lang="fi-FI" dirty="0"/>
              <a:t> voi yleensä korvata </a:t>
            </a:r>
            <a:r>
              <a:rPr lang="fi-FI" dirty="0" err="1"/>
              <a:t>if</a:t>
            </a:r>
            <a:r>
              <a:rPr lang="fi-FI" dirty="0"/>
              <a:t> – </a:t>
            </a:r>
            <a:r>
              <a:rPr lang="fi-FI" dirty="0" err="1"/>
              <a:t>else</a:t>
            </a:r>
            <a:r>
              <a:rPr lang="fi-FI" dirty="0"/>
              <a:t> </a:t>
            </a:r>
            <a:r>
              <a:rPr lang="fi-FI" dirty="0" err="1"/>
              <a:t>if</a:t>
            </a:r>
            <a:r>
              <a:rPr lang="fi-FI" dirty="0"/>
              <a:t> – </a:t>
            </a:r>
            <a:r>
              <a:rPr lang="fi-FI" dirty="0" err="1"/>
              <a:t>else</a:t>
            </a:r>
            <a:r>
              <a:rPr lang="fi-FI" dirty="0"/>
              <a:t> – lauseet</a:t>
            </a:r>
          </a:p>
          <a:p>
            <a:r>
              <a:rPr lang="fi-FI" dirty="0" err="1"/>
              <a:t>Switch</a:t>
            </a:r>
            <a:r>
              <a:rPr lang="fi-FI" dirty="0"/>
              <a:t> on yleensä rakenteeltaan selkeämpi</a:t>
            </a:r>
          </a:p>
          <a:p>
            <a:r>
              <a:rPr lang="fi-FI" dirty="0"/>
              <a:t>Toiminta:</a:t>
            </a:r>
          </a:p>
          <a:p>
            <a:pPr lvl="1"/>
            <a:r>
              <a:rPr lang="fi-FI" dirty="0" err="1"/>
              <a:t>Switch</a:t>
            </a:r>
            <a:r>
              <a:rPr lang="fi-FI" dirty="0"/>
              <a:t> (arvo, jota tarkastellaan, voi olla aakkosnumeerinen)</a:t>
            </a:r>
            <a:br>
              <a:rPr lang="fi-FI" dirty="0"/>
            </a:br>
            <a:r>
              <a:rPr lang="fi-FI" dirty="0"/>
              <a:t>{ </a:t>
            </a:r>
            <a:br>
              <a:rPr lang="fi-FI" dirty="0"/>
            </a:br>
            <a:r>
              <a:rPr lang="fi-FI" dirty="0"/>
              <a:t>case ehto: </a:t>
            </a:r>
            <a:br>
              <a:rPr lang="fi-FI" dirty="0"/>
            </a:br>
            <a:r>
              <a:rPr lang="fi-FI" dirty="0"/>
              <a:t>// lausekkeet;</a:t>
            </a:r>
            <a:br>
              <a:rPr lang="fi-FI" dirty="0"/>
            </a:br>
            <a:r>
              <a:rPr lang="fi-FI" dirty="0" err="1"/>
              <a:t>break</a:t>
            </a:r>
            <a:r>
              <a:rPr lang="fi-FI" dirty="0"/>
              <a:t>; // lopettaa tämän case-lauseen</a:t>
            </a:r>
            <a:br>
              <a:rPr lang="fi-FI" dirty="0"/>
            </a:br>
            <a:r>
              <a:rPr lang="fi-FI" dirty="0"/>
              <a:t>case ehto2:</a:t>
            </a:r>
            <a:br>
              <a:rPr lang="fi-FI" dirty="0"/>
            </a:br>
            <a:r>
              <a:rPr lang="fi-FI" dirty="0"/>
              <a:t>…</a:t>
            </a:r>
            <a:br>
              <a:rPr lang="fi-FI" dirty="0"/>
            </a:br>
            <a:r>
              <a:rPr lang="fi-FI" dirty="0" err="1"/>
              <a:t>default</a:t>
            </a:r>
            <a:r>
              <a:rPr lang="fi-FI" dirty="0"/>
              <a:t>:</a:t>
            </a:r>
            <a:br>
              <a:rPr lang="fi-FI" dirty="0"/>
            </a:br>
            <a:r>
              <a:rPr lang="fi-FI" dirty="0"/>
              <a:t>// lausekkeet</a:t>
            </a:r>
          </a:p>
        </p:txBody>
      </p:sp>
      <p:pic>
        <p:nvPicPr>
          <p:cNvPr id="4" name="Kuva 3">
            <a:extLst>
              <a:ext uri="{FF2B5EF4-FFF2-40B4-BE49-F238E27FC236}">
                <a16:creationId xmlns:a16="http://schemas.microsoft.com/office/drawing/2014/main" id="{435A96C7-8151-914E-B190-59E22A9FFD7F}"/>
              </a:ext>
            </a:extLst>
          </p:cNvPr>
          <p:cNvPicPr>
            <a:picLocks noChangeAspect="1"/>
          </p:cNvPicPr>
          <p:nvPr/>
        </p:nvPicPr>
        <p:blipFill>
          <a:blip r:embed="rId2"/>
          <a:stretch>
            <a:fillRect/>
          </a:stretch>
        </p:blipFill>
        <p:spPr>
          <a:xfrm>
            <a:off x="2970117" y="129209"/>
            <a:ext cx="6049368" cy="2394338"/>
          </a:xfrm>
          <a:prstGeom prst="rect">
            <a:avLst/>
          </a:prstGeom>
          <a:ln>
            <a:solidFill>
              <a:schemeClr val="accent1"/>
            </a:solidFill>
          </a:ln>
        </p:spPr>
      </p:pic>
    </p:spTree>
    <p:extLst>
      <p:ext uri="{BB962C8B-B14F-4D97-AF65-F5344CB8AC3E}">
        <p14:creationId xmlns:p14="http://schemas.microsoft.com/office/powerpoint/2010/main" val="28359637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D4AE87B2-2BB0-784C-B83E-20919297E11D}"/>
              </a:ext>
            </a:extLst>
          </p:cNvPr>
          <p:cNvSpPr>
            <a:spLocks noGrp="1"/>
          </p:cNvSpPr>
          <p:nvPr>
            <p:ph type="title"/>
          </p:nvPr>
        </p:nvSpPr>
        <p:spPr>
          <a:xfrm>
            <a:off x="791918" y="129863"/>
            <a:ext cx="8063670" cy="692070"/>
          </a:xfrm>
        </p:spPr>
        <p:txBody>
          <a:bodyPr/>
          <a:lstStyle/>
          <a:p>
            <a:r>
              <a:rPr lang="fi-FI" dirty="0" err="1"/>
              <a:t>Switch</a:t>
            </a:r>
            <a:r>
              <a:rPr lang="fi-FI" dirty="0"/>
              <a:t> – case -tapaus</a:t>
            </a:r>
          </a:p>
        </p:txBody>
      </p:sp>
      <p:pic>
        <p:nvPicPr>
          <p:cNvPr id="5" name="Kuva 4">
            <a:extLst>
              <a:ext uri="{FF2B5EF4-FFF2-40B4-BE49-F238E27FC236}">
                <a16:creationId xmlns:a16="http://schemas.microsoft.com/office/drawing/2014/main" id="{13BB24E6-A456-E54E-B3BC-1CFE6811C22F}"/>
              </a:ext>
            </a:extLst>
          </p:cNvPr>
          <p:cNvPicPr>
            <a:picLocks noChangeAspect="1"/>
          </p:cNvPicPr>
          <p:nvPr/>
        </p:nvPicPr>
        <p:blipFill>
          <a:blip r:embed="rId2"/>
          <a:stretch>
            <a:fillRect/>
          </a:stretch>
        </p:blipFill>
        <p:spPr>
          <a:xfrm>
            <a:off x="791918" y="839913"/>
            <a:ext cx="7899400" cy="5372100"/>
          </a:xfrm>
          <a:prstGeom prst="rect">
            <a:avLst/>
          </a:prstGeom>
        </p:spPr>
      </p:pic>
    </p:spTree>
    <p:extLst>
      <p:ext uri="{BB962C8B-B14F-4D97-AF65-F5344CB8AC3E}">
        <p14:creationId xmlns:p14="http://schemas.microsoft.com/office/powerpoint/2010/main" val="42508240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7ACB1A6D-6391-6242-A38D-79ABD3361A9D}"/>
              </a:ext>
            </a:extLst>
          </p:cNvPr>
          <p:cNvSpPr>
            <a:spLocks noGrp="1"/>
          </p:cNvSpPr>
          <p:nvPr>
            <p:ph type="title"/>
          </p:nvPr>
        </p:nvSpPr>
        <p:spPr>
          <a:xfrm>
            <a:off x="791918" y="129863"/>
            <a:ext cx="8063670" cy="681795"/>
          </a:xfrm>
        </p:spPr>
        <p:txBody>
          <a:bodyPr/>
          <a:lstStyle/>
          <a:p>
            <a:r>
              <a:rPr lang="fi-FI" dirty="0"/>
              <a:t>Harjoituksia</a:t>
            </a:r>
          </a:p>
        </p:txBody>
      </p:sp>
      <p:sp>
        <p:nvSpPr>
          <p:cNvPr id="3" name="Sisällön paikkamerkki 2">
            <a:extLst>
              <a:ext uri="{FF2B5EF4-FFF2-40B4-BE49-F238E27FC236}">
                <a16:creationId xmlns:a16="http://schemas.microsoft.com/office/drawing/2014/main" id="{5CDCDD40-7B9B-624B-B7AC-8D72E90AC36F}"/>
              </a:ext>
            </a:extLst>
          </p:cNvPr>
          <p:cNvSpPr>
            <a:spLocks noGrp="1"/>
          </p:cNvSpPr>
          <p:nvPr>
            <p:ph sz="quarter" idx="12"/>
          </p:nvPr>
        </p:nvSpPr>
        <p:spPr>
          <a:xfrm>
            <a:off x="791918" y="811658"/>
            <a:ext cx="8063670" cy="5916479"/>
          </a:xfrm>
        </p:spPr>
        <p:txBody>
          <a:bodyPr/>
          <a:lstStyle/>
          <a:p>
            <a:pPr>
              <a:buFont typeface="+mj-lt"/>
              <a:buAutoNum type="arabicPeriod"/>
            </a:pPr>
            <a:r>
              <a:rPr lang="fi-FI" dirty="0"/>
              <a:t>Kirjoita ehtolause, joka pyytää käyttäjältä kahta kokonaislukuarvoa ja vaihtaa niiden paikkaa, mikäli ensimmäinen on suurempi kuin toinen (eli tulostaa </a:t>
            </a:r>
            <a:r>
              <a:rPr lang="fi-FI" dirty="0" err="1"/>
              <a:t>suuruusjärj</a:t>
            </a:r>
            <a:r>
              <a:rPr lang="fi-FI" dirty="0"/>
              <a:t>.)</a:t>
            </a:r>
          </a:p>
          <a:p>
            <a:pPr>
              <a:buFont typeface="+mj-lt"/>
              <a:buAutoNum type="arabicPeriod"/>
            </a:pPr>
            <a:r>
              <a:rPr lang="fi-FI" dirty="0"/>
              <a:t>Kirjoita ohjelma, joka etsii suurimman kolmesta kokonaisluvusta</a:t>
            </a:r>
          </a:p>
          <a:p>
            <a:pPr>
              <a:buFont typeface="+mj-lt"/>
              <a:buAutoNum type="arabicPeriod"/>
            </a:pPr>
            <a:r>
              <a:rPr lang="fi-FI" dirty="0"/>
              <a:t>Kirjoita ohjelma, joka pyytää kokonaislukua (0-9) ja riippuen annetusta luvusta, tulostaa sen sanana. Käytä </a:t>
            </a:r>
            <a:r>
              <a:rPr lang="fi-FI" dirty="0" err="1"/>
              <a:t>switch</a:t>
            </a:r>
            <a:r>
              <a:rPr lang="fi-FI" dirty="0"/>
              <a:t> komentoa</a:t>
            </a:r>
          </a:p>
          <a:p>
            <a:pPr>
              <a:buFont typeface="+mj-lt"/>
              <a:buAutoNum type="arabicPeriod"/>
            </a:pPr>
            <a:r>
              <a:rPr lang="fi-FI" dirty="0"/>
              <a:t>Kirjoita ohjelma, joka etsii suurimman annetuista 5 kokonaisluvusta</a:t>
            </a:r>
          </a:p>
          <a:p>
            <a:pPr>
              <a:buFont typeface="+mj-lt"/>
              <a:buAutoNum type="arabicPeriod"/>
            </a:pPr>
            <a:r>
              <a:rPr lang="fi-FI" dirty="0"/>
              <a:t>Kirjoita ohjelma, joka kysyy käyttäjältä, mitä käyttäjä haluaa syöttää (kokonaisluvun, </a:t>
            </a:r>
            <a:r>
              <a:rPr lang="fi-FI" dirty="0" err="1"/>
              <a:t>double</a:t>
            </a:r>
            <a:r>
              <a:rPr lang="fi-FI" dirty="0"/>
              <a:t>-luvun tai merkkijonon). Muista kysyä myös syötettävä arvo. Mikäli käyttäjä haluaa syöttää luvun, ohjelma kasvattaa lukua yhdellä. Mikäli merkkijonon, ohjelma lisää loppuun *-merkin ja tulostaa tämän jälkeen vastauksen konsoliin. Käytä </a:t>
            </a:r>
            <a:r>
              <a:rPr lang="fi-FI" dirty="0" err="1"/>
              <a:t>Switch</a:t>
            </a:r>
            <a:r>
              <a:rPr lang="fi-FI" dirty="0"/>
              <a:t> komentoa</a:t>
            </a:r>
          </a:p>
          <a:p>
            <a:pPr>
              <a:buFont typeface="+mj-lt"/>
              <a:buAutoNum type="arabicPeriod"/>
            </a:pPr>
            <a:r>
              <a:rPr lang="fi-FI" dirty="0"/>
              <a:t>Kirjoita ohjelma, joka kasvattaa bonuspisteitä seuraavasti: Jos pisteet ovat välillä 1-3, ohjelma kertoo pisteet 10:llä. Mikäli pisteet ovat välillä 4-6, ohjelma kertoo pisteet 100:lla ja mikäli pisteet ovat välillä 7-9 ohjelma kertoo pisteet 1000:lla. </a:t>
            </a:r>
            <a:br>
              <a:rPr lang="fi-FI" dirty="0"/>
            </a:br>
            <a:r>
              <a:rPr lang="fi-FI" dirty="0"/>
              <a:t>Mikäli pisteitä on 0 tai yli 9, ohjelma tulostaa virheviestin.</a:t>
            </a:r>
          </a:p>
          <a:p>
            <a:pPr>
              <a:buFont typeface="+mj-lt"/>
              <a:buAutoNum type="arabicPeriod"/>
            </a:pPr>
            <a:r>
              <a:rPr lang="fi-FI" dirty="0"/>
              <a:t>Kirjoita ohjelma, joka muuttaa numerot (0 – 999) sanoiksi. Esim.</a:t>
            </a:r>
            <a:br>
              <a:rPr lang="fi-FI" dirty="0"/>
            </a:br>
            <a:r>
              <a:rPr lang="fi-FI" dirty="0"/>
              <a:t>0 </a:t>
            </a:r>
            <a:r>
              <a:rPr lang="fi-FI" dirty="0">
                <a:sym typeface="Wingdings" pitchFamily="2" charset="2"/>
              </a:rPr>
              <a:t> Nolla</a:t>
            </a:r>
            <a:br>
              <a:rPr lang="fi-FI" dirty="0">
                <a:sym typeface="Wingdings" pitchFamily="2" charset="2"/>
              </a:rPr>
            </a:br>
            <a:r>
              <a:rPr lang="fi-FI" dirty="0">
                <a:sym typeface="Wingdings" pitchFamily="2" charset="2"/>
              </a:rPr>
              <a:t>12  Kaksitoista</a:t>
            </a:r>
            <a:br>
              <a:rPr lang="fi-FI" dirty="0">
                <a:sym typeface="Wingdings" pitchFamily="2" charset="2"/>
              </a:rPr>
            </a:br>
            <a:r>
              <a:rPr lang="fi-FI" dirty="0">
                <a:sym typeface="Wingdings" pitchFamily="2" charset="2"/>
              </a:rPr>
              <a:t>98  Yhdeksänkymmentä kahdeksan</a:t>
            </a:r>
            <a:br>
              <a:rPr lang="fi-FI" dirty="0">
                <a:sym typeface="Wingdings" pitchFamily="2" charset="2"/>
              </a:rPr>
            </a:br>
            <a:r>
              <a:rPr lang="fi-FI" dirty="0">
                <a:sym typeface="Wingdings" pitchFamily="2" charset="2"/>
              </a:rPr>
              <a:t>273  Kaksisataa seitsemänkymmentä kolme</a:t>
            </a:r>
            <a:endParaRPr lang="fi-FI" dirty="0"/>
          </a:p>
        </p:txBody>
      </p:sp>
    </p:spTree>
    <p:extLst>
      <p:ext uri="{BB962C8B-B14F-4D97-AF65-F5344CB8AC3E}">
        <p14:creationId xmlns:p14="http://schemas.microsoft.com/office/powerpoint/2010/main" val="11023388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9835CDA9-7A5F-F040-9590-9D27010E8242}"/>
              </a:ext>
            </a:extLst>
          </p:cNvPr>
          <p:cNvSpPr>
            <a:spLocks noGrp="1"/>
          </p:cNvSpPr>
          <p:nvPr>
            <p:ph type="title"/>
          </p:nvPr>
        </p:nvSpPr>
        <p:spPr/>
        <p:txBody>
          <a:bodyPr/>
          <a:lstStyle/>
          <a:p>
            <a:r>
              <a:rPr lang="fi-FI" dirty="0"/>
              <a:t>Toistolauseet - for</a:t>
            </a:r>
          </a:p>
        </p:txBody>
      </p:sp>
      <p:pic>
        <p:nvPicPr>
          <p:cNvPr id="4" name="Sisällön paikkamerkki 3">
            <a:extLst>
              <a:ext uri="{FF2B5EF4-FFF2-40B4-BE49-F238E27FC236}">
                <a16:creationId xmlns:a16="http://schemas.microsoft.com/office/drawing/2014/main" id="{131CB647-61B9-0D42-B44B-AFA101422C8E}"/>
              </a:ext>
            </a:extLst>
          </p:cNvPr>
          <p:cNvPicPr>
            <a:picLocks noGrp="1" noChangeAspect="1"/>
          </p:cNvPicPr>
          <p:nvPr>
            <p:ph sz="quarter" idx="12"/>
          </p:nvPr>
        </p:nvPicPr>
        <p:blipFill>
          <a:blip r:embed="rId2"/>
          <a:stretch>
            <a:fillRect/>
          </a:stretch>
        </p:blipFill>
        <p:spPr>
          <a:xfrm>
            <a:off x="1168400" y="3528684"/>
            <a:ext cx="3403600" cy="1930400"/>
          </a:xfrm>
          <a:prstGeom prst="rect">
            <a:avLst/>
          </a:prstGeom>
          <a:ln>
            <a:solidFill>
              <a:schemeClr val="accent1"/>
            </a:solidFill>
          </a:ln>
        </p:spPr>
      </p:pic>
      <p:sp>
        <p:nvSpPr>
          <p:cNvPr id="5" name="Tekstiruutu 4">
            <a:extLst>
              <a:ext uri="{FF2B5EF4-FFF2-40B4-BE49-F238E27FC236}">
                <a16:creationId xmlns:a16="http://schemas.microsoft.com/office/drawing/2014/main" id="{3115B60C-3A0D-DD4F-9D1B-0E8EE1487B5C}"/>
              </a:ext>
            </a:extLst>
          </p:cNvPr>
          <p:cNvSpPr txBox="1"/>
          <p:nvPr/>
        </p:nvSpPr>
        <p:spPr>
          <a:xfrm>
            <a:off x="791918" y="3024344"/>
            <a:ext cx="5062230" cy="369332"/>
          </a:xfrm>
          <a:prstGeom prst="rect">
            <a:avLst/>
          </a:prstGeom>
          <a:noFill/>
        </p:spPr>
        <p:txBody>
          <a:bodyPr wrap="square" rtlCol="0">
            <a:spAutoFit/>
          </a:bodyPr>
          <a:lstStyle/>
          <a:p>
            <a:pPr marL="285750" indent="-285750">
              <a:buFont typeface="Arial" panose="020B0604020202020204" pitchFamily="34" charset="0"/>
              <a:buChar char="•"/>
            </a:pPr>
            <a:r>
              <a:rPr lang="fi-FI" dirty="0"/>
              <a:t>Alla lottonumeroiden arvonta for-</a:t>
            </a:r>
            <a:r>
              <a:rPr lang="fi-FI" dirty="0" err="1"/>
              <a:t>loopin</a:t>
            </a:r>
            <a:r>
              <a:rPr lang="fi-FI" dirty="0"/>
              <a:t> avulla</a:t>
            </a:r>
          </a:p>
        </p:txBody>
      </p:sp>
    </p:spTree>
    <p:extLst>
      <p:ext uri="{BB962C8B-B14F-4D97-AF65-F5344CB8AC3E}">
        <p14:creationId xmlns:p14="http://schemas.microsoft.com/office/powerpoint/2010/main" val="28406858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CAA63246-FE4B-E544-9111-C19C9933D12E}"/>
              </a:ext>
            </a:extLst>
          </p:cNvPr>
          <p:cNvSpPr>
            <a:spLocks noGrp="1"/>
          </p:cNvSpPr>
          <p:nvPr>
            <p:ph type="title"/>
          </p:nvPr>
        </p:nvSpPr>
        <p:spPr>
          <a:xfrm>
            <a:off x="772039" y="-407504"/>
            <a:ext cx="6006448" cy="1440392"/>
          </a:xfrm>
        </p:spPr>
        <p:txBody>
          <a:bodyPr/>
          <a:lstStyle/>
          <a:p>
            <a:r>
              <a:rPr lang="fi-FI" dirty="0"/>
              <a:t>Toistolauseet </a:t>
            </a:r>
            <a:r>
              <a:rPr lang="fi-FI" dirty="0" err="1"/>
              <a:t>while</a:t>
            </a:r>
            <a:r>
              <a:rPr lang="fi-FI" dirty="0"/>
              <a:t> (ja </a:t>
            </a:r>
            <a:r>
              <a:rPr lang="fi-FI" dirty="0" err="1"/>
              <a:t>do-while</a:t>
            </a:r>
            <a:r>
              <a:rPr lang="fi-FI" dirty="0"/>
              <a:t>)</a:t>
            </a:r>
          </a:p>
        </p:txBody>
      </p:sp>
      <p:sp>
        <p:nvSpPr>
          <p:cNvPr id="3" name="Sisällön paikkamerkki 2">
            <a:extLst>
              <a:ext uri="{FF2B5EF4-FFF2-40B4-BE49-F238E27FC236}">
                <a16:creationId xmlns:a16="http://schemas.microsoft.com/office/drawing/2014/main" id="{11DF683D-392E-9247-86C5-8426C2348B5F}"/>
              </a:ext>
            </a:extLst>
          </p:cNvPr>
          <p:cNvSpPr>
            <a:spLocks noGrp="1"/>
          </p:cNvSpPr>
          <p:nvPr>
            <p:ph sz="quarter" idx="12"/>
          </p:nvPr>
        </p:nvSpPr>
        <p:spPr>
          <a:xfrm>
            <a:off x="772039" y="1131999"/>
            <a:ext cx="5827544" cy="1059190"/>
          </a:xfrm>
        </p:spPr>
        <p:txBody>
          <a:bodyPr/>
          <a:lstStyle/>
          <a:p>
            <a:r>
              <a:rPr lang="fi-FI" dirty="0"/>
              <a:t>Alla kertoman lasku </a:t>
            </a:r>
            <a:r>
              <a:rPr lang="fi-FI" dirty="0" err="1"/>
              <a:t>while-loopin</a:t>
            </a:r>
            <a:r>
              <a:rPr lang="fi-FI" dirty="0"/>
              <a:t> avulla</a:t>
            </a:r>
          </a:p>
          <a:p>
            <a:r>
              <a:rPr lang="fi-FI" dirty="0"/>
              <a:t>Tehtävän toistetaan </a:t>
            </a:r>
            <a:r>
              <a:rPr lang="fi-FI" dirty="0" err="1"/>
              <a:t>do-while</a:t>
            </a:r>
            <a:r>
              <a:rPr lang="fi-FI" dirty="0"/>
              <a:t> </a:t>
            </a:r>
            <a:r>
              <a:rPr lang="fi-FI" dirty="0" err="1"/>
              <a:t>loopin</a:t>
            </a:r>
            <a:r>
              <a:rPr lang="fi-FI" dirty="0"/>
              <a:t> avulla (0 lopettaa)</a:t>
            </a:r>
          </a:p>
        </p:txBody>
      </p:sp>
      <p:pic>
        <p:nvPicPr>
          <p:cNvPr id="6" name="Kuva 5">
            <a:extLst>
              <a:ext uri="{FF2B5EF4-FFF2-40B4-BE49-F238E27FC236}">
                <a16:creationId xmlns:a16="http://schemas.microsoft.com/office/drawing/2014/main" id="{B6224FC1-81B6-8C4E-9CB7-959BC7ED50FB}"/>
              </a:ext>
            </a:extLst>
          </p:cNvPr>
          <p:cNvPicPr>
            <a:picLocks noChangeAspect="1"/>
          </p:cNvPicPr>
          <p:nvPr/>
        </p:nvPicPr>
        <p:blipFill>
          <a:blip r:embed="rId2"/>
          <a:stretch>
            <a:fillRect/>
          </a:stretch>
        </p:blipFill>
        <p:spPr>
          <a:xfrm>
            <a:off x="1177787" y="1921289"/>
            <a:ext cx="5600700" cy="4406900"/>
          </a:xfrm>
          <a:prstGeom prst="rect">
            <a:avLst/>
          </a:prstGeom>
          <a:ln>
            <a:solidFill>
              <a:schemeClr val="accent1"/>
            </a:solidFill>
          </a:ln>
        </p:spPr>
      </p:pic>
    </p:spTree>
    <p:extLst>
      <p:ext uri="{BB962C8B-B14F-4D97-AF65-F5344CB8AC3E}">
        <p14:creationId xmlns:p14="http://schemas.microsoft.com/office/powerpoint/2010/main" val="9302790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F2FC9C44-FD07-CC45-8E98-8993AD5BEED0}"/>
              </a:ext>
            </a:extLst>
          </p:cNvPr>
          <p:cNvSpPr>
            <a:spLocks noGrp="1"/>
          </p:cNvSpPr>
          <p:nvPr>
            <p:ph type="title"/>
          </p:nvPr>
        </p:nvSpPr>
        <p:spPr/>
        <p:txBody>
          <a:bodyPr/>
          <a:lstStyle/>
          <a:p>
            <a:r>
              <a:rPr lang="fi-FI" dirty="0" err="1"/>
              <a:t>Foreach</a:t>
            </a:r>
            <a:r>
              <a:rPr lang="fi-FI" dirty="0"/>
              <a:t>()</a:t>
            </a:r>
          </a:p>
        </p:txBody>
      </p:sp>
      <p:sp>
        <p:nvSpPr>
          <p:cNvPr id="3" name="Sisällön paikkamerkki 2">
            <a:extLst>
              <a:ext uri="{FF2B5EF4-FFF2-40B4-BE49-F238E27FC236}">
                <a16:creationId xmlns:a16="http://schemas.microsoft.com/office/drawing/2014/main" id="{9DC747EF-7982-AE4C-A768-510663676316}"/>
              </a:ext>
            </a:extLst>
          </p:cNvPr>
          <p:cNvSpPr>
            <a:spLocks noGrp="1"/>
          </p:cNvSpPr>
          <p:nvPr>
            <p:ph sz="quarter" idx="12"/>
          </p:nvPr>
        </p:nvSpPr>
        <p:spPr/>
        <p:txBody>
          <a:bodyPr/>
          <a:lstStyle/>
          <a:p>
            <a:r>
              <a:rPr lang="fi-FI" dirty="0"/>
              <a:t>Edellisten silmukoiden lisäksi on olemassa vielä </a:t>
            </a:r>
            <a:r>
              <a:rPr lang="fi-FI" dirty="0" err="1"/>
              <a:t>foreach</a:t>
            </a:r>
            <a:r>
              <a:rPr lang="fi-FI" dirty="0"/>
              <a:t>(</a:t>
            </a:r>
            <a:r>
              <a:rPr lang="fi-FI" dirty="0">
                <a:solidFill>
                  <a:schemeClr val="accent4">
                    <a:lumMod val="75000"/>
                  </a:schemeClr>
                </a:solidFill>
              </a:rPr>
              <a:t>tietotyyppi</a:t>
            </a:r>
            <a:r>
              <a:rPr lang="fi-FI" dirty="0"/>
              <a:t> apumuuttuja </a:t>
            </a:r>
            <a:r>
              <a:rPr lang="fi-FI" dirty="0">
                <a:solidFill>
                  <a:schemeClr val="accent3">
                    <a:lumMod val="75000"/>
                  </a:schemeClr>
                </a:solidFill>
              </a:rPr>
              <a:t>in</a:t>
            </a:r>
            <a:r>
              <a:rPr lang="fi-FI" dirty="0"/>
              <a:t> taulukko) toistolause, jonka avulla käydään taulukoiden ja kokoelmien arvot yksi kerrallaan</a:t>
            </a:r>
          </a:p>
          <a:p>
            <a:r>
              <a:rPr lang="fi-FI" dirty="0" err="1"/>
              <a:t>Foreach</a:t>
            </a:r>
            <a:r>
              <a:rPr lang="fi-FI" dirty="0"/>
              <a:t>()-lauseen sisälle syötetään apumuuttuja (siis vaikka x) ja sen </a:t>
            </a:r>
            <a:r>
              <a:rPr lang="fi-FI" dirty="0">
                <a:solidFill>
                  <a:schemeClr val="accent4">
                    <a:lumMod val="75000"/>
                  </a:schemeClr>
                </a:solidFill>
              </a:rPr>
              <a:t>tietotyyppi</a:t>
            </a:r>
            <a:r>
              <a:rPr lang="fi-FI" dirty="0"/>
              <a:t>, jota sitten käsitellään halutulla tavalla. Yllä olevassa esimerkissä se tulostetaan näytölle</a:t>
            </a:r>
          </a:p>
        </p:txBody>
      </p:sp>
      <p:pic>
        <p:nvPicPr>
          <p:cNvPr id="5" name="Kuva 4">
            <a:extLst>
              <a:ext uri="{FF2B5EF4-FFF2-40B4-BE49-F238E27FC236}">
                <a16:creationId xmlns:a16="http://schemas.microsoft.com/office/drawing/2014/main" id="{C4B418EA-0B49-C74E-8648-003657D01743}"/>
              </a:ext>
            </a:extLst>
          </p:cNvPr>
          <p:cNvPicPr>
            <a:picLocks noChangeAspect="1"/>
          </p:cNvPicPr>
          <p:nvPr/>
        </p:nvPicPr>
        <p:blipFill>
          <a:blip r:embed="rId2"/>
          <a:stretch>
            <a:fillRect/>
          </a:stretch>
        </p:blipFill>
        <p:spPr>
          <a:xfrm>
            <a:off x="1703180" y="5316242"/>
            <a:ext cx="7327900" cy="1473200"/>
          </a:xfrm>
          <a:prstGeom prst="rect">
            <a:avLst/>
          </a:prstGeom>
          <a:ln>
            <a:solidFill>
              <a:schemeClr val="accent1"/>
            </a:solidFill>
          </a:ln>
        </p:spPr>
      </p:pic>
      <p:pic>
        <p:nvPicPr>
          <p:cNvPr id="7" name="Kuva 6">
            <a:extLst>
              <a:ext uri="{FF2B5EF4-FFF2-40B4-BE49-F238E27FC236}">
                <a16:creationId xmlns:a16="http://schemas.microsoft.com/office/drawing/2014/main" id="{8D593159-0099-C041-B1CB-35BB7C5B71F9}"/>
              </a:ext>
            </a:extLst>
          </p:cNvPr>
          <p:cNvPicPr>
            <a:picLocks noChangeAspect="1"/>
          </p:cNvPicPr>
          <p:nvPr/>
        </p:nvPicPr>
        <p:blipFill>
          <a:blip r:embed="rId3"/>
          <a:stretch>
            <a:fillRect/>
          </a:stretch>
        </p:blipFill>
        <p:spPr>
          <a:xfrm>
            <a:off x="2871580" y="752748"/>
            <a:ext cx="6159500" cy="2311400"/>
          </a:xfrm>
          <a:prstGeom prst="rect">
            <a:avLst/>
          </a:prstGeom>
          <a:ln>
            <a:solidFill>
              <a:schemeClr val="accent1"/>
            </a:solidFill>
          </a:ln>
        </p:spPr>
      </p:pic>
    </p:spTree>
    <p:extLst>
      <p:ext uri="{BB962C8B-B14F-4D97-AF65-F5344CB8AC3E}">
        <p14:creationId xmlns:p14="http://schemas.microsoft.com/office/powerpoint/2010/main" val="19057107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76572871-1AD4-6640-A7D4-3DA2F263ED20}"/>
              </a:ext>
            </a:extLst>
          </p:cNvPr>
          <p:cNvSpPr>
            <a:spLocks noGrp="1"/>
          </p:cNvSpPr>
          <p:nvPr>
            <p:ph type="title"/>
          </p:nvPr>
        </p:nvSpPr>
        <p:spPr/>
        <p:txBody>
          <a:bodyPr/>
          <a:lstStyle/>
          <a:p>
            <a:r>
              <a:rPr lang="fi-FI" dirty="0"/>
              <a:t>Hyppäykset</a:t>
            </a:r>
          </a:p>
        </p:txBody>
      </p:sp>
      <p:sp>
        <p:nvSpPr>
          <p:cNvPr id="3" name="Sisällön paikkamerkki 2">
            <a:extLst>
              <a:ext uri="{FF2B5EF4-FFF2-40B4-BE49-F238E27FC236}">
                <a16:creationId xmlns:a16="http://schemas.microsoft.com/office/drawing/2014/main" id="{350F9F2F-BC3B-C649-A3B2-8234699B9FD2}"/>
              </a:ext>
            </a:extLst>
          </p:cNvPr>
          <p:cNvSpPr>
            <a:spLocks noGrp="1"/>
          </p:cNvSpPr>
          <p:nvPr>
            <p:ph sz="quarter" idx="12"/>
          </p:nvPr>
        </p:nvSpPr>
        <p:spPr/>
        <p:txBody>
          <a:bodyPr/>
          <a:lstStyle/>
          <a:p>
            <a:r>
              <a:rPr lang="fi-FI" dirty="0" err="1"/>
              <a:t>Continue</a:t>
            </a:r>
            <a:r>
              <a:rPr lang="fi-FI" dirty="0"/>
              <a:t>-käskyllä voidaan hypätä esim. </a:t>
            </a:r>
            <a:r>
              <a:rPr lang="fi-FI" dirty="0" err="1"/>
              <a:t>Switch</a:t>
            </a:r>
            <a:r>
              <a:rPr lang="fi-FI" dirty="0"/>
              <a:t>-case tai </a:t>
            </a:r>
            <a:r>
              <a:rPr lang="fi-FI" dirty="0" err="1"/>
              <a:t>while</a:t>
            </a:r>
            <a:r>
              <a:rPr lang="fi-FI" dirty="0"/>
              <a:t>-silmukan alkuun.</a:t>
            </a:r>
          </a:p>
          <a:p>
            <a:r>
              <a:rPr lang="fi-FI" dirty="0" err="1"/>
              <a:t>Break</a:t>
            </a:r>
            <a:r>
              <a:rPr lang="fi-FI" dirty="0"/>
              <a:t>-käskyllä voidaan katkaista silmukan suorittaminen ja ohjelma jatkuu silmukan jälkeiseltä riviltä</a:t>
            </a:r>
          </a:p>
          <a:p>
            <a:r>
              <a:rPr lang="fi-FI" dirty="0" err="1"/>
              <a:t>Goto</a:t>
            </a:r>
            <a:r>
              <a:rPr lang="fi-FI" dirty="0"/>
              <a:t>-käskyllä voidaan hypätä ohjelmassa toiseen merkittyyn kohtaan:</a:t>
            </a:r>
            <a:br>
              <a:rPr lang="fi-FI" dirty="0"/>
            </a:br>
            <a:r>
              <a:rPr lang="fi-FI" dirty="0"/>
              <a:t>		</a:t>
            </a:r>
            <a:r>
              <a:rPr lang="fi-FI" dirty="0" err="1"/>
              <a:t>tahan</a:t>
            </a:r>
            <a:r>
              <a:rPr lang="fi-FI" dirty="0"/>
              <a:t>:</a:t>
            </a:r>
            <a:br>
              <a:rPr lang="fi-FI" dirty="0"/>
            </a:br>
            <a:r>
              <a:rPr lang="fi-FI" dirty="0"/>
              <a:t>		// Suoritettavia lauseita</a:t>
            </a:r>
            <a:br>
              <a:rPr lang="fi-FI" dirty="0"/>
            </a:br>
            <a:r>
              <a:rPr lang="fi-FI" dirty="0"/>
              <a:t>		</a:t>
            </a:r>
            <a:r>
              <a:rPr lang="fi-FI" dirty="0" err="1"/>
              <a:t>goto</a:t>
            </a:r>
            <a:r>
              <a:rPr lang="fi-FI" dirty="0"/>
              <a:t> </a:t>
            </a:r>
            <a:r>
              <a:rPr lang="fi-FI" dirty="0" err="1"/>
              <a:t>tahan</a:t>
            </a:r>
            <a:r>
              <a:rPr lang="fi-FI" dirty="0"/>
              <a:t>;</a:t>
            </a:r>
          </a:p>
        </p:txBody>
      </p:sp>
      <p:cxnSp>
        <p:nvCxnSpPr>
          <p:cNvPr id="5" name="Kulmayhdysviiva 4">
            <a:extLst>
              <a:ext uri="{FF2B5EF4-FFF2-40B4-BE49-F238E27FC236}">
                <a16:creationId xmlns:a16="http://schemas.microsoft.com/office/drawing/2014/main" id="{C2D19DC0-6EE0-C541-9379-A93E994BC6B1}"/>
              </a:ext>
            </a:extLst>
          </p:cNvPr>
          <p:cNvCxnSpPr>
            <a:cxnSpLocks/>
          </p:cNvCxnSpPr>
          <p:nvPr/>
        </p:nvCxnSpPr>
        <p:spPr>
          <a:xfrm rot="10800000">
            <a:off x="2435088" y="3037181"/>
            <a:ext cx="735495" cy="530404"/>
          </a:xfrm>
          <a:prstGeom prst="bentConnector3">
            <a:avLst>
              <a:gd name="adj1" fmla="val -155405"/>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524057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A1BD93D6-A0E6-024F-9089-AB7A543622B3}"/>
              </a:ext>
            </a:extLst>
          </p:cNvPr>
          <p:cNvSpPr>
            <a:spLocks noGrp="1"/>
          </p:cNvSpPr>
          <p:nvPr>
            <p:ph type="title"/>
          </p:nvPr>
        </p:nvSpPr>
        <p:spPr>
          <a:xfrm>
            <a:off x="791918" y="0"/>
            <a:ext cx="5761282" cy="1440392"/>
          </a:xfrm>
        </p:spPr>
        <p:txBody>
          <a:bodyPr/>
          <a:lstStyle/>
          <a:p>
            <a:r>
              <a:rPr lang="fi-FI" dirty="0"/>
              <a:t>Taulukot - yksiulotteinen</a:t>
            </a:r>
          </a:p>
        </p:txBody>
      </p:sp>
      <p:sp>
        <p:nvSpPr>
          <p:cNvPr id="3" name="Sisällön paikkamerkki 2">
            <a:extLst>
              <a:ext uri="{FF2B5EF4-FFF2-40B4-BE49-F238E27FC236}">
                <a16:creationId xmlns:a16="http://schemas.microsoft.com/office/drawing/2014/main" id="{DD255D30-B4FA-C047-B15C-16EF4FD9C53F}"/>
              </a:ext>
            </a:extLst>
          </p:cNvPr>
          <p:cNvSpPr>
            <a:spLocks noGrp="1"/>
          </p:cNvSpPr>
          <p:nvPr>
            <p:ph sz="quarter" idx="12"/>
          </p:nvPr>
        </p:nvSpPr>
        <p:spPr>
          <a:xfrm>
            <a:off x="791918" y="1440392"/>
            <a:ext cx="5761282" cy="5119434"/>
          </a:xfrm>
        </p:spPr>
        <p:txBody>
          <a:bodyPr/>
          <a:lstStyle/>
          <a:p>
            <a:r>
              <a:rPr lang="fi-FI" dirty="0"/>
              <a:t>Taulukot voivat olla yksi- tai useampi ulotteisia</a:t>
            </a:r>
          </a:p>
          <a:p>
            <a:r>
              <a:rPr lang="fi-FI" dirty="0"/>
              <a:t>Yksiulotteisen taulukon luonti:</a:t>
            </a:r>
          </a:p>
          <a:p>
            <a:pPr lvl="1"/>
            <a:r>
              <a:rPr lang="fi-FI" dirty="0"/>
              <a:t>Tietotyyppi [] </a:t>
            </a:r>
            <a:r>
              <a:rPr lang="fi-FI" dirty="0" err="1"/>
              <a:t>taulukonNimi</a:t>
            </a:r>
            <a:r>
              <a:rPr lang="fi-FI" dirty="0"/>
              <a:t> ja sitten</a:t>
            </a:r>
            <a:br>
              <a:rPr lang="fi-FI" dirty="0"/>
            </a:br>
            <a:r>
              <a:rPr lang="fi-FI" dirty="0" err="1"/>
              <a:t>taulukonNimi</a:t>
            </a:r>
            <a:r>
              <a:rPr lang="fi-FI" dirty="0"/>
              <a:t> = </a:t>
            </a:r>
            <a:r>
              <a:rPr lang="fi-FI" dirty="0" err="1"/>
              <a:t>new</a:t>
            </a:r>
            <a:r>
              <a:rPr lang="fi-FI" dirty="0"/>
              <a:t> tietotyyppi[taulukon koko] esim.</a:t>
            </a:r>
            <a:br>
              <a:rPr lang="fi-FI" dirty="0"/>
            </a:br>
            <a:r>
              <a:rPr lang="fi-FI" dirty="0" err="1"/>
              <a:t>int</a:t>
            </a:r>
            <a:r>
              <a:rPr lang="fi-FI" dirty="0"/>
              <a:t> [] taulu;</a:t>
            </a:r>
            <a:br>
              <a:rPr lang="fi-FI" dirty="0"/>
            </a:br>
            <a:r>
              <a:rPr lang="fi-FI" dirty="0"/>
              <a:t>taulu = </a:t>
            </a:r>
            <a:r>
              <a:rPr lang="fi-FI" dirty="0" err="1"/>
              <a:t>new</a:t>
            </a:r>
            <a:r>
              <a:rPr lang="fi-FI" dirty="0"/>
              <a:t> </a:t>
            </a:r>
            <a:r>
              <a:rPr lang="fi-FI" dirty="0" err="1"/>
              <a:t>int</a:t>
            </a:r>
            <a:r>
              <a:rPr lang="fi-FI" dirty="0"/>
              <a:t> [10]; tai yhdellä lauseella:</a:t>
            </a:r>
            <a:br>
              <a:rPr lang="fi-FI" dirty="0"/>
            </a:br>
            <a:r>
              <a:rPr lang="fi-FI" dirty="0" err="1"/>
              <a:t>int</a:t>
            </a:r>
            <a:r>
              <a:rPr lang="fi-FI" dirty="0"/>
              <a:t> [] taulu = </a:t>
            </a:r>
            <a:r>
              <a:rPr lang="fi-FI" dirty="0" err="1"/>
              <a:t>new</a:t>
            </a:r>
            <a:r>
              <a:rPr lang="fi-FI" dirty="0"/>
              <a:t> </a:t>
            </a:r>
            <a:r>
              <a:rPr lang="fi-FI" dirty="0" err="1"/>
              <a:t>int</a:t>
            </a:r>
            <a:r>
              <a:rPr lang="fi-FI" dirty="0"/>
              <a:t>[10];</a:t>
            </a:r>
          </a:p>
          <a:p>
            <a:pPr lvl="1"/>
            <a:r>
              <a:rPr lang="fi-FI" dirty="0"/>
              <a:t>Taulukot voi myös alustaa esittelyn yhteydessä:</a:t>
            </a:r>
            <a:br>
              <a:rPr lang="fi-FI" dirty="0"/>
            </a:br>
            <a:r>
              <a:rPr lang="fi-FI" dirty="0" err="1"/>
              <a:t>int</a:t>
            </a:r>
            <a:r>
              <a:rPr lang="fi-FI" dirty="0"/>
              <a:t> [] arvosanat = {1, 2, 3, 4, 5};</a:t>
            </a:r>
          </a:p>
          <a:p>
            <a:pPr lvl="1"/>
            <a:r>
              <a:rPr lang="fi-FI" dirty="0"/>
              <a:t>Tai arvot voi syöttää jälkikäteen:</a:t>
            </a:r>
            <a:br>
              <a:rPr lang="fi-FI" dirty="0"/>
            </a:br>
            <a:r>
              <a:rPr lang="fi-FI" dirty="0" err="1"/>
              <a:t>string</a:t>
            </a:r>
            <a:r>
              <a:rPr lang="fi-FI" dirty="0"/>
              <a:t> [] opiskelijat = </a:t>
            </a:r>
            <a:r>
              <a:rPr lang="fi-FI" dirty="0" err="1"/>
              <a:t>new</a:t>
            </a:r>
            <a:r>
              <a:rPr lang="fi-FI" dirty="0"/>
              <a:t> </a:t>
            </a:r>
            <a:r>
              <a:rPr lang="fi-FI" dirty="0" err="1"/>
              <a:t>string</a:t>
            </a:r>
            <a:r>
              <a:rPr lang="fi-FI" dirty="0"/>
              <a:t>[19];</a:t>
            </a:r>
            <a:br>
              <a:rPr lang="fi-FI" dirty="0"/>
            </a:br>
            <a:r>
              <a:rPr lang="fi-FI" dirty="0"/>
              <a:t>opiskelijat[0] = ”Jaakko Parantainen”;</a:t>
            </a:r>
            <a:br>
              <a:rPr lang="fi-FI" dirty="0"/>
            </a:br>
            <a:r>
              <a:rPr lang="fi-FI" dirty="0"/>
              <a:t>opiskelijat[1] = ”Tytti Turvaniemi”;</a:t>
            </a:r>
            <a:br>
              <a:rPr lang="fi-FI" dirty="0"/>
            </a:br>
            <a:r>
              <a:rPr lang="fi-FI" dirty="0"/>
              <a:t>…</a:t>
            </a:r>
            <a:br>
              <a:rPr lang="fi-FI" dirty="0"/>
            </a:br>
            <a:r>
              <a:rPr lang="fi-FI" dirty="0"/>
              <a:t>opiskelijat[18] = ”Jorma Kääriäinen”; // Huom. Viimeinen taulukon jäsen (0 – 18 = 19 jäsentä)</a:t>
            </a:r>
          </a:p>
          <a:p>
            <a:pPr lvl="1"/>
            <a:r>
              <a:rPr lang="fi-FI" dirty="0" err="1"/>
              <a:t>char</a:t>
            </a:r>
            <a:r>
              <a:rPr lang="fi-FI" dirty="0"/>
              <a:t> [] vokaalit = {’</a:t>
            </a:r>
            <a:r>
              <a:rPr lang="fi-FI" dirty="0" err="1"/>
              <a:t>a’,’e’,’i’,’o’,’u’,’y’,’å’,’ä’,’ö</a:t>
            </a:r>
            <a:r>
              <a:rPr lang="fi-FI" dirty="0"/>
              <a:t>’};</a:t>
            </a:r>
            <a:br>
              <a:rPr lang="fi-FI" dirty="0"/>
            </a:br>
            <a:r>
              <a:rPr lang="fi-FI" dirty="0"/>
              <a:t>C# varaa automaattisesti muistimäärän</a:t>
            </a:r>
          </a:p>
        </p:txBody>
      </p:sp>
    </p:spTree>
    <p:extLst>
      <p:ext uri="{BB962C8B-B14F-4D97-AF65-F5344CB8AC3E}">
        <p14:creationId xmlns:p14="http://schemas.microsoft.com/office/powerpoint/2010/main" val="32831923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675FB245-AD62-184A-BCAD-7C4BE8136640}"/>
              </a:ext>
            </a:extLst>
          </p:cNvPr>
          <p:cNvSpPr>
            <a:spLocks noGrp="1"/>
          </p:cNvSpPr>
          <p:nvPr>
            <p:ph type="title"/>
          </p:nvPr>
        </p:nvSpPr>
        <p:spPr/>
        <p:txBody>
          <a:bodyPr/>
          <a:lstStyle/>
          <a:p>
            <a:r>
              <a:rPr lang="fi-FI" dirty="0"/>
              <a:t>Taulukot - moniulotteinen</a:t>
            </a:r>
          </a:p>
        </p:txBody>
      </p:sp>
      <p:sp>
        <p:nvSpPr>
          <p:cNvPr id="3" name="Sisällön paikkamerkki 2">
            <a:extLst>
              <a:ext uri="{FF2B5EF4-FFF2-40B4-BE49-F238E27FC236}">
                <a16:creationId xmlns:a16="http://schemas.microsoft.com/office/drawing/2014/main" id="{A7D32AB9-D590-9242-A56C-ABBDEBC72ABA}"/>
              </a:ext>
            </a:extLst>
          </p:cNvPr>
          <p:cNvSpPr>
            <a:spLocks noGrp="1"/>
          </p:cNvSpPr>
          <p:nvPr>
            <p:ph sz="quarter" idx="12"/>
          </p:nvPr>
        </p:nvSpPr>
        <p:spPr>
          <a:xfrm>
            <a:off x="791918" y="3123454"/>
            <a:ext cx="6443769" cy="2884487"/>
          </a:xfrm>
        </p:spPr>
        <p:txBody>
          <a:bodyPr/>
          <a:lstStyle/>
          <a:p>
            <a:r>
              <a:rPr lang="fi-FI" dirty="0"/>
              <a:t>Kaksiulotteinen taulukko on kuin koordinaatisto, jossa on korkeus ja leveys, kolmiulotteisessa mukana on vielä syvyys</a:t>
            </a:r>
          </a:p>
          <a:p>
            <a:r>
              <a:rPr lang="fi-FI" dirty="0"/>
              <a:t>Luonti tapahtuu näin:</a:t>
            </a:r>
            <a:br>
              <a:rPr lang="fi-FI" dirty="0"/>
            </a:br>
            <a:r>
              <a:rPr lang="fi-FI" dirty="0" err="1"/>
              <a:t>int</a:t>
            </a:r>
            <a:r>
              <a:rPr lang="fi-FI" dirty="0"/>
              <a:t> leveys = 10; // HUOM! taulukon koko, ei </a:t>
            </a:r>
            <a:r>
              <a:rPr lang="fi-FI" dirty="0" err="1"/>
              <a:t>vars</a:t>
            </a:r>
            <a:r>
              <a:rPr lang="fi-FI" dirty="0"/>
              <a:t>. leveys</a:t>
            </a:r>
            <a:br>
              <a:rPr lang="fi-FI" dirty="0"/>
            </a:br>
            <a:r>
              <a:rPr lang="fi-FI" dirty="0" err="1"/>
              <a:t>int</a:t>
            </a:r>
            <a:r>
              <a:rPr lang="fi-FI" dirty="0"/>
              <a:t> korkeus = 10; // HUOM! Taulukon koko, ei </a:t>
            </a:r>
            <a:r>
              <a:rPr lang="fi-FI" dirty="0" err="1"/>
              <a:t>vars</a:t>
            </a:r>
            <a:r>
              <a:rPr lang="fi-FI" dirty="0"/>
              <a:t>. korkeus</a:t>
            </a:r>
            <a:br>
              <a:rPr lang="fi-FI" dirty="0"/>
            </a:br>
            <a:r>
              <a:rPr lang="fi-FI" dirty="0" err="1"/>
              <a:t>int</a:t>
            </a:r>
            <a:r>
              <a:rPr lang="fi-FI" dirty="0"/>
              <a:t> syvyys = 10; // HUOM! Taulukon koko, ei </a:t>
            </a:r>
            <a:r>
              <a:rPr lang="fi-FI" dirty="0" err="1"/>
              <a:t>vars</a:t>
            </a:r>
            <a:r>
              <a:rPr lang="fi-FI" dirty="0"/>
              <a:t>. syvyys.</a:t>
            </a:r>
            <a:br>
              <a:rPr lang="fi-FI" dirty="0"/>
            </a:br>
            <a:r>
              <a:rPr lang="fi-FI" dirty="0"/>
              <a:t>2D: </a:t>
            </a:r>
            <a:r>
              <a:rPr lang="fi-FI" dirty="0" err="1"/>
              <a:t>int</a:t>
            </a:r>
            <a:r>
              <a:rPr lang="fi-FI" dirty="0"/>
              <a:t> [,] kaksiulotteinen = </a:t>
            </a:r>
            <a:r>
              <a:rPr lang="fi-FI" dirty="0" err="1"/>
              <a:t>new</a:t>
            </a:r>
            <a:r>
              <a:rPr lang="fi-FI" dirty="0"/>
              <a:t> </a:t>
            </a:r>
            <a:r>
              <a:rPr lang="fi-FI" dirty="0" err="1"/>
              <a:t>int</a:t>
            </a:r>
            <a:r>
              <a:rPr lang="fi-FI" dirty="0"/>
              <a:t>[leveys, korkeus];</a:t>
            </a:r>
            <a:br>
              <a:rPr lang="fi-FI" dirty="0"/>
            </a:br>
            <a:r>
              <a:rPr lang="fi-FI" dirty="0"/>
              <a:t>3D: </a:t>
            </a:r>
            <a:r>
              <a:rPr lang="fi-FI" dirty="0" err="1"/>
              <a:t>int</a:t>
            </a:r>
            <a:r>
              <a:rPr lang="fi-FI" dirty="0"/>
              <a:t> [,,] kolmiulotteinen = </a:t>
            </a:r>
            <a:r>
              <a:rPr lang="fi-FI" dirty="0" err="1"/>
              <a:t>new</a:t>
            </a:r>
            <a:r>
              <a:rPr lang="fi-FI" dirty="0"/>
              <a:t> </a:t>
            </a:r>
            <a:r>
              <a:rPr lang="fi-FI" dirty="0" err="1"/>
              <a:t>int</a:t>
            </a:r>
            <a:r>
              <a:rPr lang="fi-FI" dirty="0"/>
              <a:t>[leveys, korkeus, syvyys];</a:t>
            </a:r>
          </a:p>
        </p:txBody>
      </p:sp>
    </p:spTree>
    <p:extLst>
      <p:ext uri="{BB962C8B-B14F-4D97-AF65-F5344CB8AC3E}">
        <p14:creationId xmlns:p14="http://schemas.microsoft.com/office/powerpoint/2010/main" val="4809848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C38E4AE-5F72-FF48-B345-411CD48F9206}"/>
              </a:ext>
            </a:extLst>
          </p:cNvPr>
          <p:cNvSpPr>
            <a:spLocks noGrp="1"/>
          </p:cNvSpPr>
          <p:nvPr>
            <p:ph type="title"/>
          </p:nvPr>
        </p:nvSpPr>
        <p:spPr>
          <a:xfrm>
            <a:off x="801857" y="-433692"/>
            <a:ext cx="5761282" cy="1440392"/>
          </a:xfrm>
        </p:spPr>
        <p:txBody>
          <a:bodyPr/>
          <a:lstStyle/>
          <a:p>
            <a:r>
              <a:rPr lang="fi-FI" dirty="0"/>
              <a:t>Esimerkki</a:t>
            </a:r>
          </a:p>
        </p:txBody>
      </p:sp>
      <p:sp>
        <p:nvSpPr>
          <p:cNvPr id="3" name="Sisällön paikkamerkki 2">
            <a:extLst>
              <a:ext uri="{FF2B5EF4-FFF2-40B4-BE49-F238E27FC236}">
                <a16:creationId xmlns:a16="http://schemas.microsoft.com/office/drawing/2014/main" id="{8C457279-9BA4-D443-B46E-B6321872568D}"/>
              </a:ext>
            </a:extLst>
          </p:cNvPr>
          <p:cNvSpPr>
            <a:spLocks noGrp="1"/>
          </p:cNvSpPr>
          <p:nvPr>
            <p:ph sz="quarter" idx="12"/>
          </p:nvPr>
        </p:nvSpPr>
        <p:spPr>
          <a:xfrm>
            <a:off x="801857" y="1105810"/>
            <a:ext cx="5248647" cy="2884487"/>
          </a:xfrm>
        </p:spPr>
        <p:txBody>
          <a:bodyPr/>
          <a:lstStyle/>
          <a:p>
            <a:r>
              <a:rPr lang="fi-FI" dirty="0"/>
              <a:t>Alla esimerkki 1-ulotteisesta taulukosta (nimet) ja 2-ulotteisesta (arvioinnit)</a:t>
            </a:r>
          </a:p>
        </p:txBody>
      </p:sp>
      <p:pic>
        <p:nvPicPr>
          <p:cNvPr id="4" name="Kuva 3">
            <a:extLst>
              <a:ext uri="{FF2B5EF4-FFF2-40B4-BE49-F238E27FC236}">
                <a16:creationId xmlns:a16="http://schemas.microsoft.com/office/drawing/2014/main" id="{9DC1EE5F-738A-2C40-96E0-F259D692F624}"/>
              </a:ext>
            </a:extLst>
          </p:cNvPr>
          <p:cNvPicPr>
            <a:picLocks noChangeAspect="1"/>
          </p:cNvPicPr>
          <p:nvPr/>
        </p:nvPicPr>
        <p:blipFill>
          <a:blip r:embed="rId2"/>
          <a:stretch>
            <a:fillRect/>
          </a:stretch>
        </p:blipFill>
        <p:spPr>
          <a:xfrm>
            <a:off x="666248" y="1802571"/>
            <a:ext cx="6032500" cy="4584700"/>
          </a:xfrm>
          <a:prstGeom prst="rect">
            <a:avLst/>
          </a:prstGeom>
          <a:ln>
            <a:solidFill>
              <a:schemeClr val="accent1"/>
            </a:solidFill>
          </a:ln>
        </p:spPr>
      </p:pic>
    </p:spTree>
    <p:extLst>
      <p:ext uri="{BB962C8B-B14F-4D97-AF65-F5344CB8AC3E}">
        <p14:creationId xmlns:p14="http://schemas.microsoft.com/office/powerpoint/2010/main" val="30400643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D4220A58-EEA0-0141-BE51-5F07AF07E347}"/>
              </a:ext>
            </a:extLst>
          </p:cNvPr>
          <p:cNvSpPr>
            <a:spLocks noGrp="1"/>
          </p:cNvSpPr>
          <p:nvPr>
            <p:ph type="title"/>
          </p:nvPr>
        </p:nvSpPr>
        <p:spPr/>
        <p:txBody>
          <a:bodyPr/>
          <a:lstStyle/>
          <a:p>
            <a:r>
              <a:rPr lang="fi-FI" dirty="0"/>
              <a:t>Esimerkki jatkuu</a:t>
            </a:r>
          </a:p>
        </p:txBody>
      </p:sp>
      <p:pic>
        <p:nvPicPr>
          <p:cNvPr id="5" name="Kuva 4">
            <a:extLst>
              <a:ext uri="{FF2B5EF4-FFF2-40B4-BE49-F238E27FC236}">
                <a16:creationId xmlns:a16="http://schemas.microsoft.com/office/drawing/2014/main" id="{FEB66EAF-5629-7745-8D94-D26C39FA1800}"/>
              </a:ext>
            </a:extLst>
          </p:cNvPr>
          <p:cNvPicPr>
            <a:picLocks noChangeAspect="1"/>
          </p:cNvPicPr>
          <p:nvPr/>
        </p:nvPicPr>
        <p:blipFill>
          <a:blip r:embed="rId2"/>
          <a:stretch>
            <a:fillRect/>
          </a:stretch>
        </p:blipFill>
        <p:spPr>
          <a:xfrm>
            <a:off x="791918" y="3024344"/>
            <a:ext cx="8321018" cy="3396334"/>
          </a:xfrm>
          <a:prstGeom prst="rect">
            <a:avLst/>
          </a:prstGeom>
        </p:spPr>
      </p:pic>
    </p:spTree>
    <p:extLst>
      <p:ext uri="{BB962C8B-B14F-4D97-AF65-F5344CB8AC3E}">
        <p14:creationId xmlns:p14="http://schemas.microsoft.com/office/powerpoint/2010/main" val="2377898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15DF0C92-FD9F-6E4F-B658-1DDAF90A55CD}"/>
              </a:ext>
            </a:extLst>
          </p:cNvPr>
          <p:cNvSpPr>
            <a:spLocks noGrp="1"/>
          </p:cNvSpPr>
          <p:nvPr>
            <p:ph type="title"/>
          </p:nvPr>
        </p:nvSpPr>
        <p:spPr/>
        <p:txBody>
          <a:bodyPr/>
          <a:lstStyle/>
          <a:p>
            <a:r>
              <a:rPr lang="fi-FI" dirty="0"/>
              <a:t>Sisäkkäiset taulukot</a:t>
            </a:r>
          </a:p>
        </p:txBody>
      </p:sp>
      <p:sp>
        <p:nvSpPr>
          <p:cNvPr id="3" name="Sisällön paikkamerkki 2">
            <a:extLst>
              <a:ext uri="{FF2B5EF4-FFF2-40B4-BE49-F238E27FC236}">
                <a16:creationId xmlns:a16="http://schemas.microsoft.com/office/drawing/2014/main" id="{6F937422-5CD1-2C4A-81B5-C7EDC803005F}"/>
              </a:ext>
            </a:extLst>
          </p:cNvPr>
          <p:cNvSpPr>
            <a:spLocks noGrp="1"/>
          </p:cNvSpPr>
          <p:nvPr>
            <p:ph sz="quarter" idx="12"/>
          </p:nvPr>
        </p:nvSpPr>
        <p:spPr>
          <a:xfrm>
            <a:off x="791918" y="3123454"/>
            <a:ext cx="6662430" cy="3327042"/>
          </a:xfrm>
        </p:spPr>
        <p:txBody>
          <a:bodyPr>
            <a:normAutofit/>
          </a:bodyPr>
          <a:lstStyle/>
          <a:p>
            <a:r>
              <a:rPr lang="fi-FI" dirty="0"/>
              <a:t>Sisäkkäisissä taulukoissa on taulukot alkioina:</a:t>
            </a:r>
          </a:p>
          <a:p>
            <a:pPr lvl="1"/>
            <a:r>
              <a:rPr lang="fi-FI" dirty="0"/>
              <a:t>Tietotyyppi [][]…[] taulukon nimi = </a:t>
            </a:r>
            <a:r>
              <a:rPr lang="fi-FI" dirty="0" err="1"/>
              <a:t>new</a:t>
            </a:r>
            <a:r>
              <a:rPr lang="fi-FI" dirty="0"/>
              <a:t> tietotyyppi [i][j]….[]</a:t>
            </a:r>
          </a:p>
          <a:p>
            <a:pPr lvl="1"/>
            <a:r>
              <a:rPr lang="fi-FI" dirty="0" err="1"/>
              <a:t>String</a:t>
            </a:r>
            <a:r>
              <a:rPr lang="fi-FI" dirty="0"/>
              <a:t> [] [] arvioinnit = </a:t>
            </a:r>
            <a:r>
              <a:rPr lang="fi-FI" dirty="0" err="1"/>
              <a:t>new</a:t>
            </a:r>
            <a:r>
              <a:rPr lang="fi-FI" dirty="0"/>
              <a:t> </a:t>
            </a:r>
            <a:r>
              <a:rPr lang="fi-FI" dirty="0" err="1"/>
              <a:t>string</a:t>
            </a:r>
            <a:r>
              <a:rPr lang="fi-FI" dirty="0"/>
              <a:t> [2][];</a:t>
            </a:r>
          </a:p>
          <a:p>
            <a:pPr lvl="1"/>
            <a:r>
              <a:rPr lang="fi-FI" dirty="0"/>
              <a:t>Sisäkkäiset taulukot eroavat </a:t>
            </a:r>
            <a:r>
              <a:rPr lang="fi-FI" dirty="0" err="1"/>
              <a:t>moniuloitteisista</a:t>
            </a:r>
            <a:r>
              <a:rPr lang="fi-FI" dirty="0"/>
              <a:t> siinä, </a:t>
            </a:r>
            <a:br>
              <a:rPr lang="fi-FI" dirty="0"/>
            </a:br>
            <a:r>
              <a:rPr lang="fi-FI" dirty="0"/>
              <a:t>että moniulotteiset (</a:t>
            </a:r>
            <a:r>
              <a:rPr lang="fi-FI" dirty="0" err="1"/>
              <a:t>int</a:t>
            </a:r>
            <a:r>
              <a:rPr lang="fi-FI" dirty="0"/>
              <a:t> [,]moni = </a:t>
            </a:r>
            <a:r>
              <a:rPr lang="fi-FI" dirty="0" err="1"/>
              <a:t>new</a:t>
            </a:r>
            <a:r>
              <a:rPr lang="fi-FI" dirty="0"/>
              <a:t> </a:t>
            </a:r>
            <a:r>
              <a:rPr lang="fi-FI" dirty="0" err="1"/>
              <a:t>int</a:t>
            </a:r>
            <a:r>
              <a:rPr lang="fi-FI" dirty="0"/>
              <a:t>[3,6]) suorakaiteen muotoisia, eli kaikilla riveillä on yhtä monta saraketta</a:t>
            </a:r>
          </a:p>
          <a:p>
            <a:pPr lvl="1"/>
            <a:r>
              <a:rPr lang="fi-FI" dirty="0"/>
              <a:t>Sisäkkäisissä (</a:t>
            </a:r>
            <a:r>
              <a:rPr lang="fi-FI" dirty="0" err="1"/>
              <a:t>int</a:t>
            </a:r>
            <a:r>
              <a:rPr lang="fi-FI" dirty="0"/>
              <a:t> [][] </a:t>
            </a:r>
            <a:r>
              <a:rPr lang="fi-FI" dirty="0" err="1"/>
              <a:t>sis</a:t>
            </a:r>
            <a:r>
              <a:rPr lang="fi-FI" dirty="0"/>
              <a:t> = </a:t>
            </a:r>
            <a:r>
              <a:rPr lang="fi-FI" dirty="0" err="1"/>
              <a:t>new</a:t>
            </a:r>
            <a:r>
              <a:rPr lang="fi-FI" dirty="0"/>
              <a:t> </a:t>
            </a:r>
            <a:r>
              <a:rPr lang="fi-FI" dirty="0" err="1"/>
              <a:t>int</a:t>
            </a:r>
            <a:r>
              <a:rPr lang="fi-FI" dirty="0"/>
              <a:t>[3][]) taas voi olla eri määrä sarakkeita:</a:t>
            </a:r>
            <a:br>
              <a:rPr lang="fi-FI" dirty="0"/>
            </a:br>
            <a:r>
              <a:rPr lang="fi-FI" dirty="0" err="1"/>
              <a:t>sis</a:t>
            </a:r>
            <a:r>
              <a:rPr lang="fi-FI" dirty="0"/>
              <a:t>[0] = </a:t>
            </a:r>
            <a:r>
              <a:rPr lang="fi-FI" dirty="0" err="1"/>
              <a:t>new</a:t>
            </a:r>
            <a:r>
              <a:rPr lang="fi-FI" dirty="0"/>
              <a:t> </a:t>
            </a:r>
            <a:r>
              <a:rPr lang="fi-FI" dirty="0" err="1"/>
              <a:t>int</a:t>
            </a:r>
            <a:r>
              <a:rPr lang="fi-FI" dirty="0"/>
              <a:t>[] {25, 27};</a:t>
            </a:r>
            <a:br>
              <a:rPr lang="fi-FI" dirty="0"/>
            </a:br>
            <a:r>
              <a:rPr lang="fi-FI" dirty="0" err="1"/>
              <a:t>sis</a:t>
            </a:r>
            <a:r>
              <a:rPr lang="fi-FI" dirty="0"/>
              <a:t>[1] = </a:t>
            </a:r>
            <a:r>
              <a:rPr lang="fi-FI" dirty="0" err="1"/>
              <a:t>new</a:t>
            </a:r>
            <a:r>
              <a:rPr lang="fi-FI" dirty="0"/>
              <a:t> </a:t>
            </a:r>
            <a:r>
              <a:rPr lang="fi-FI" dirty="0" err="1"/>
              <a:t>int</a:t>
            </a:r>
            <a:r>
              <a:rPr lang="fi-FI" dirty="0"/>
              <a:t>[] {23, 25, 27, 31};</a:t>
            </a:r>
            <a:br>
              <a:rPr lang="fi-FI" dirty="0"/>
            </a:br>
            <a:r>
              <a:rPr lang="fi-FI" dirty="0" err="1"/>
              <a:t>sis</a:t>
            </a:r>
            <a:r>
              <a:rPr lang="fi-FI" dirty="0"/>
              <a:t>[2] = </a:t>
            </a:r>
            <a:r>
              <a:rPr lang="fi-FI" dirty="0" err="1"/>
              <a:t>new</a:t>
            </a:r>
            <a:r>
              <a:rPr lang="fi-FI" dirty="0"/>
              <a:t> </a:t>
            </a:r>
            <a:r>
              <a:rPr lang="fi-FI" dirty="0" err="1"/>
              <a:t>int</a:t>
            </a:r>
            <a:r>
              <a:rPr lang="fi-FI" dirty="0"/>
              <a:t>[] {23};</a:t>
            </a:r>
          </a:p>
        </p:txBody>
      </p:sp>
      <p:pic>
        <p:nvPicPr>
          <p:cNvPr id="4" name="Kuva 3">
            <a:extLst>
              <a:ext uri="{FF2B5EF4-FFF2-40B4-BE49-F238E27FC236}">
                <a16:creationId xmlns:a16="http://schemas.microsoft.com/office/drawing/2014/main" id="{8206C2CB-924D-DA46-9C94-25A8EA3DA37D}"/>
              </a:ext>
            </a:extLst>
          </p:cNvPr>
          <p:cNvPicPr>
            <a:picLocks noChangeAspect="1"/>
          </p:cNvPicPr>
          <p:nvPr/>
        </p:nvPicPr>
        <p:blipFill>
          <a:blip r:embed="rId2"/>
          <a:stretch>
            <a:fillRect/>
          </a:stretch>
        </p:blipFill>
        <p:spPr>
          <a:xfrm>
            <a:off x="6527800" y="3703983"/>
            <a:ext cx="2616200" cy="762000"/>
          </a:xfrm>
          <a:prstGeom prst="rect">
            <a:avLst/>
          </a:prstGeom>
        </p:spPr>
      </p:pic>
      <p:pic>
        <p:nvPicPr>
          <p:cNvPr id="5" name="Kuva 4">
            <a:extLst>
              <a:ext uri="{FF2B5EF4-FFF2-40B4-BE49-F238E27FC236}">
                <a16:creationId xmlns:a16="http://schemas.microsoft.com/office/drawing/2014/main" id="{18F5E221-061E-3943-AC4A-D13C44EE0454}"/>
              </a:ext>
            </a:extLst>
          </p:cNvPr>
          <p:cNvPicPr>
            <a:picLocks noChangeAspect="1"/>
          </p:cNvPicPr>
          <p:nvPr/>
        </p:nvPicPr>
        <p:blipFill>
          <a:blip r:embed="rId3"/>
          <a:stretch>
            <a:fillRect/>
          </a:stretch>
        </p:blipFill>
        <p:spPr>
          <a:xfrm>
            <a:off x="4631635" y="5349461"/>
            <a:ext cx="1778000" cy="711200"/>
          </a:xfrm>
          <a:prstGeom prst="rect">
            <a:avLst/>
          </a:prstGeom>
        </p:spPr>
      </p:pic>
    </p:spTree>
    <p:extLst>
      <p:ext uri="{BB962C8B-B14F-4D97-AF65-F5344CB8AC3E}">
        <p14:creationId xmlns:p14="http://schemas.microsoft.com/office/powerpoint/2010/main" val="40464023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A14081C2-ABC1-AD49-AD7A-B6ED61D8893F}"/>
              </a:ext>
            </a:extLst>
          </p:cNvPr>
          <p:cNvSpPr>
            <a:spLocks noGrp="1"/>
          </p:cNvSpPr>
          <p:nvPr>
            <p:ph type="title"/>
          </p:nvPr>
        </p:nvSpPr>
        <p:spPr>
          <a:xfrm>
            <a:off x="871431" y="775252"/>
            <a:ext cx="5761282" cy="1440392"/>
          </a:xfrm>
        </p:spPr>
        <p:txBody>
          <a:bodyPr/>
          <a:lstStyle/>
          <a:p>
            <a:r>
              <a:rPr lang="fi-FI" dirty="0" err="1"/>
              <a:t>String</a:t>
            </a:r>
            <a:endParaRPr lang="fi-FI" dirty="0"/>
          </a:p>
        </p:txBody>
      </p:sp>
      <p:sp>
        <p:nvSpPr>
          <p:cNvPr id="3" name="Sisällön paikkamerkki 2">
            <a:extLst>
              <a:ext uri="{FF2B5EF4-FFF2-40B4-BE49-F238E27FC236}">
                <a16:creationId xmlns:a16="http://schemas.microsoft.com/office/drawing/2014/main" id="{9066BB81-879A-E142-8F8E-56B0EC8FA9DB}"/>
              </a:ext>
            </a:extLst>
          </p:cNvPr>
          <p:cNvSpPr>
            <a:spLocks noGrp="1"/>
          </p:cNvSpPr>
          <p:nvPr>
            <p:ph sz="quarter" idx="12"/>
          </p:nvPr>
        </p:nvSpPr>
        <p:spPr>
          <a:xfrm>
            <a:off x="871431" y="2295157"/>
            <a:ext cx="6473586" cy="4562843"/>
          </a:xfrm>
        </p:spPr>
        <p:txBody>
          <a:bodyPr/>
          <a:lstStyle/>
          <a:p>
            <a:r>
              <a:rPr lang="fi-FI" dirty="0" err="1"/>
              <a:t>String</a:t>
            </a:r>
            <a:r>
              <a:rPr lang="fi-FI" dirty="0"/>
              <a:t>-lause on merkkijono, mutta käyttäytyy, kuten taulukko. </a:t>
            </a:r>
          </a:p>
          <a:p>
            <a:pPr lvl="1"/>
            <a:r>
              <a:rPr lang="fi-FI" dirty="0" err="1"/>
              <a:t>String</a:t>
            </a:r>
            <a:r>
              <a:rPr lang="fi-FI" dirty="0"/>
              <a:t> opi = ”</a:t>
            </a:r>
            <a:r>
              <a:rPr lang="fi-FI" dirty="0" err="1"/>
              <a:t>Keuda</a:t>
            </a:r>
            <a:r>
              <a:rPr lang="fi-FI" dirty="0"/>
              <a:t>”;</a:t>
            </a:r>
            <a:br>
              <a:rPr lang="fi-FI" dirty="0"/>
            </a:br>
            <a:r>
              <a:rPr lang="fi-FI" dirty="0"/>
              <a:t>opi[0] = ”K”; -- opi[1] = ”e”; -- … – opi[4] = ”a”;</a:t>
            </a:r>
          </a:p>
          <a:p>
            <a:r>
              <a:rPr lang="fi-FI" dirty="0"/>
              <a:t>Merkkijonoja voi ketjuttaa +-merkin avulla</a:t>
            </a:r>
          </a:p>
          <a:p>
            <a:pPr lvl="1"/>
            <a:r>
              <a:rPr lang="fi-FI" dirty="0" err="1"/>
              <a:t>string</a:t>
            </a:r>
            <a:r>
              <a:rPr lang="fi-FI" dirty="0"/>
              <a:t> lause = ” on paras paikka” </a:t>
            </a:r>
            <a:r>
              <a:rPr lang="fi-FI" dirty="0">
                <a:sym typeface="Wingdings" pitchFamily="2" charset="2"/>
              </a:rPr>
              <a:t></a:t>
            </a:r>
            <a:br>
              <a:rPr lang="fi-FI" dirty="0">
                <a:sym typeface="Wingdings" pitchFamily="2" charset="2"/>
              </a:rPr>
            </a:br>
            <a:r>
              <a:rPr lang="fi-FI" dirty="0" err="1">
                <a:sym typeface="Wingdings" pitchFamily="2" charset="2"/>
              </a:rPr>
              <a:t>string</a:t>
            </a:r>
            <a:r>
              <a:rPr lang="fi-FI" dirty="0">
                <a:sym typeface="Wingdings" pitchFamily="2" charset="2"/>
              </a:rPr>
              <a:t> koko = opi + lause;  ”</a:t>
            </a:r>
            <a:r>
              <a:rPr lang="fi-FI" dirty="0" err="1">
                <a:sym typeface="Wingdings" pitchFamily="2" charset="2"/>
              </a:rPr>
              <a:t>Keuda</a:t>
            </a:r>
            <a:r>
              <a:rPr lang="fi-FI" dirty="0">
                <a:sym typeface="Wingdings" pitchFamily="2" charset="2"/>
              </a:rPr>
              <a:t> on paras paikka”</a:t>
            </a:r>
          </a:p>
          <a:p>
            <a:r>
              <a:rPr lang="fi-FI" dirty="0">
                <a:sym typeface="Wingdings" pitchFamily="2" charset="2"/>
              </a:rPr>
              <a:t>Isot ja pienet kirjaimet ovat eri merkkejä:</a:t>
            </a:r>
          </a:p>
          <a:p>
            <a:pPr lvl="1"/>
            <a:r>
              <a:rPr lang="fi-FI" dirty="0">
                <a:sym typeface="Wingdings" pitchFamily="2" charset="2"/>
              </a:rPr>
              <a:t>”</a:t>
            </a:r>
            <a:r>
              <a:rPr lang="fi-FI" dirty="0" err="1">
                <a:sym typeface="Wingdings" pitchFamily="2" charset="2"/>
              </a:rPr>
              <a:t>Keuda</a:t>
            </a:r>
            <a:r>
              <a:rPr lang="fi-FI" dirty="0">
                <a:sym typeface="Wingdings" pitchFamily="2" charset="2"/>
              </a:rPr>
              <a:t>” != ”</a:t>
            </a:r>
            <a:r>
              <a:rPr lang="fi-FI" dirty="0" err="1">
                <a:sym typeface="Wingdings" pitchFamily="2" charset="2"/>
              </a:rPr>
              <a:t>keuda</a:t>
            </a:r>
            <a:r>
              <a:rPr lang="fi-FI" dirty="0">
                <a:sym typeface="Wingdings" pitchFamily="2" charset="2"/>
              </a:rPr>
              <a:t>” != ”</a:t>
            </a:r>
            <a:r>
              <a:rPr lang="fi-FI" dirty="0" err="1">
                <a:sym typeface="Wingdings" pitchFamily="2" charset="2"/>
              </a:rPr>
              <a:t>KeUda</a:t>
            </a:r>
            <a:r>
              <a:rPr lang="fi-FI" dirty="0">
                <a:sym typeface="Wingdings" pitchFamily="2" charset="2"/>
              </a:rPr>
              <a:t>” != ”</a:t>
            </a:r>
            <a:r>
              <a:rPr lang="fi-FI" dirty="0" err="1">
                <a:sym typeface="Wingdings" pitchFamily="2" charset="2"/>
              </a:rPr>
              <a:t>KeudA</a:t>
            </a:r>
            <a:r>
              <a:rPr lang="fi-FI" dirty="0">
                <a:sym typeface="Wingdings" pitchFamily="2" charset="2"/>
              </a:rPr>
              <a:t>”</a:t>
            </a:r>
          </a:p>
          <a:p>
            <a:pPr lvl="1"/>
            <a:r>
              <a:rPr lang="fi-FI" dirty="0">
                <a:sym typeface="Wingdings" pitchFamily="2" charset="2"/>
              </a:rPr>
              <a:t>Jos haluamme verrata käyttäjän syöttämiä merkki-jonoja, voimme käyttää </a:t>
            </a:r>
            <a:r>
              <a:rPr lang="fi-FI" dirty="0" err="1">
                <a:sym typeface="Wingdings" pitchFamily="2" charset="2"/>
              </a:rPr>
              <a:t>ToUpper</a:t>
            </a:r>
            <a:r>
              <a:rPr lang="fi-FI" dirty="0">
                <a:sym typeface="Wingdings" pitchFamily="2" charset="2"/>
              </a:rPr>
              <a:t>()-metodia, jolloin kirjoitusasulla ei ole merkitystä: </a:t>
            </a:r>
            <a:r>
              <a:rPr lang="fi-FI" dirty="0" err="1">
                <a:sym typeface="Wingdings" pitchFamily="2" charset="2"/>
              </a:rPr>
              <a:t>opi.ToUpper</a:t>
            </a:r>
            <a:r>
              <a:rPr lang="fi-FI" dirty="0">
                <a:sym typeface="Wingdings" pitchFamily="2" charset="2"/>
              </a:rPr>
              <a:t>()  ”KEUDA” tai vastaavasti </a:t>
            </a:r>
            <a:r>
              <a:rPr lang="fi-FI" dirty="0" err="1">
                <a:sym typeface="Wingdings" pitchFamily="2" charset="2"/>
              </a:rPr>
              <a:t>ToLower</a:t>
            </a:r>
            <a:r>
              <a:rPr lang="fi-FI" dirty="0">
                <a:sym typeface="Wingdings" pitchFamily="2" charset="2"/>
              </a:rPr>
              <a:t>()-metodia  </a:t>
            </a:r>
            <a:r>
              <a:rPr lang="fi-FI" dirty="0" err="1">
                <a:sym typeface="Wingdings" pitchFamily="2" charset="2"/>
              </a:rPr>
              <a:t>opi.ToLower</a:t>
            </a:r>
            <a:r>
              <a:rPr lang="fi-FI" dirty="0">
                <a:sym typeface="Wingdings" pitchFamily="2" charset="2"/>
              </a:rPr>
              <a:t>()  ”</a:t>
            </a:r>
            <a:r>
              <a:rPr lang="fi-FI" dirty="0" err="1">
                <a:sym typeface="Wingdings" pitchFamily="2" charset="2"/>
              </a:rPr>
              <a:t>keuda</a:t>
            </a:r>
            <a:r>
              <a:rPr lang="fi-FI" dirty="0">
                <a:sym typeface="Wingdings" pitchFamily="2" charset="2"/>
              </a:rPr>
              <a:t>”</a:t>
            </a:r>
          </a:p>
          <a:p>
            <a:pPr lvl="1"/>
            <a:r>
              <a:rPr lang="fi-FI" dirty="0">
                <a:sym typeface="Wingdings" pitchFamily="2" charset="2"/>
              </a:rPr>
              <a:t>Yksi merkkijonon tarkastelussa hyödyllinen käsky </a:t>
            </a:r>
            <a:br>
              <a:rPr lang="fi-FI" dirty="0">
                <a:sym typeface="Wingdings" pitchFamily="2" charset="2"/>
              </a:rPr>
            </a:br>
            <a:r>
              <a:rPr lang="fi-FI" dirty="0">
                <a:sym typeface="Wingdings" pitchFamily="2" charset="2"/>
              </a:rPr>
              <a:t>on </a:t>
            </a:r>
            <a:r>
              <a:rPr lang="fi-FI" dirty="0" err="1">
                <a:sym typeface="Wingdings" pitchFamily="2" charset="2"/>
              </a:rPr>
              <a:t>Length</a:t>
            </a:r>
            <a:r>
              <a:rPr lang="fi-FI" dirty="0">
                <a:sym typeface="Wingdings" pitchFamily="2" charset="2"/>
              </a:rPr>
              <a:t>: </a:t>
            </a:r>
            <a:r>
              <a:rPr lang="fi-FI" dirty="0" err="1">
                <a:sym typeface="Wingdings" pitchFamily="2" charset="2"/>
              </a:rPr>
              <a:t>opi.Length</a:t>
            </a:r>
            <a:r>
              <a:rPr lang="fi-FI" dirty="0">
                <a:sym typeface="Wingdings" pitchFamily="2" charset="2"/>
              </a:rPr>
              <a:t> = 5;</a:t>
            </a:r>
          </a:p>
          <a:p>
            <a:endParaRPr lang="fi-FI" dirty="0"/>
          </a:p>
        </p:txBody>
      </p:sp>
    </p:spTree>
    <p:extLst>
      <p:ext uri="{BB962C8B-B14F-4D97-AF65-F5344CB8AC3E}">
        <p14:creationId xmlns:p14="http://schemas.microsoft.com/office/powerpoint/2010/main" val="27380544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417F38C3-D49A-EA43-BF3E-3A48A85439BF}"/>
              </a:ext>
            </a:extLst>
          </p:cNvPr>
          <p:cNvSpPr>
            <a:spLocks noGrp="1"/>
          </p:cNvSpPr>
          <p:nvPr>
            <p:ph type="title"/>
          </p:nvPr>
        </p:nvSpPr>
        <p:spPr/>
        <p:txBody>
          <a:bodyPr/>
          <a:lstStyle/>
          <a:p>
            <a:r>
              <a:rPr lang="fi-FI" dirty="0" err="1"/>
              <a:t>Char</a:t>
            </a:r>
            <a:endParaRPr lang="fi-FI" dirty="0"/>
          </a:p>
        </p:txBody>
      </p:sp>
      <p:sp>
        <p:nvSpPr>
          <p:cNvPr id="3" name="Sisällön paikkamerkki 2">
            <a:extLst>
              <a:ext uri="{FF2B5EF4-FFF2-40B4-BE49-F238E27FC236}">
                <a16:creationId xmlns:a16="http://schemas.microsoft.com/office/drawing/2014/main" id="{774B26C7-6318-1B46-A82F-5045002F6544}"/>
              </a:ext>
            </a:extLst>
          </p:cNvPr>
          <p:cNvSpPr>
            <a:spLocks noGrp="1"/>
          </p:cNvSpPr>
          <p:nvPr>
            <p:ph sz="quarter" idx="12"/>
          </p:nvPr>
        </p:nvSpPr>
        <p:spPr>
          <a:xfrm>
            <a:off x="791917" y="3123454"/>
            <a:ext cx="6523283" cy="3366798"/>
          </a:xfrm>
        </p:spPr>
        <p:txBody>
          <a:bodyPr>
            <a:normAutofit/>
          </a:bodyPr>
          <a:lstStyle/>
          <a:p>
            <a:r>
              <a:rPr lang="fi-FI" dirty="0" err="1"/>
              <a:t>char</a:t>
            </a:r>
            <a:r>
              <a:rPr lang="fi-FI" dirty="0"/>
              <a:t>-tietotyypillä käsitellään yhtä merkkiä. Merkki voi olla kirjain, numero, erikoismerkki tai koodi</a:t>
            </a:r>
          </a:p>
          <a:p>
            <a:pPr lvl="1"/>
            <a:r>
              <a:rPr lang="fi-FI" dirty="0" err="1"/>
              <a:t>char</a:t>
            </a:r>
            <a:r>
              <a:rPr lang="fi-FI" dirty="0"/>
              <a:t> merkki = ’k’;</a:t>
            </a:r>
          </a:p>
          <a:p>
            <a:pPr lvl="1"/>
            <a:r>
              <a:rPr lang="fi-FI" dirty="0" err="1"/>
              <a:t>char</a:t>
            </a:r>
            <a:r>
              <a:rPr lang="fi-FI" dirty="0"/>
              <a:t> merkki = ’9’;</a:t>
            </a:r>
          </a:p>
          <a:p>
            <a:pPr lvl="1"/>
            <a:r>
              <a:rPr lang="fi-FI" dirty="0" err="1"/>
              <a:t>char</a:t>
            </a:r>
            <a:r>
              <a:rPr lang="fi-FI" dirty="0"/>
              <a:t> merkki = ’&amp;’;</a:t>
            </a:r>
          </a:p>
          <a:p>
            <a:pPr lvl="1"/>
            <a:r>
              <a:rPr lang="fi-FI" dirty="0" err="1"/>
              <a:t>char</a:t>
            </a:r>
            <a:r>
              <a:rPr lang="fi-FI" dirty="0"/>
              <a:t> merkki = ’\u006E’ // </a:t>
            </a:r>
            <a:r>
              <a:rPr lang="fi-FI" dirty="0" err="1"/>
              <a:t>unicodekoodi</a:t>
            </a:r>
            <a:r>
              <a:rPr lang="fi-FI" dirty="0"/>
              <a:t> n-kirjaimelle</a:t>
            </a:r>
            <a:br>
              <a:rPr lang="fi-FI" dirty="0"/>
            </a:br>
            <a:r>
              <a:rPr lang="fi-FI" dirty="0"/>
              <a:t>kts. </a:t>
            </a:r>
            <a:r>
              <a:rPr lang="fi-FI" dirty="0" err="1">
                <a:hlinkClick r:id="rId2"/>
              </a:rPr>
              <a:t>https</a:t>
            </a:r>
            <a:r>
              <a:rPr lang="fi-FI" dirty="0">
                <a:hlinkClick r:id="rId2"/>
              </a:rPr>
              <a:t>://</a:t>
            </a:r>
            <a:r>
              <a:rPr lang="fi-FI" dirty="0" err="1">
                <a:hlinkClick r:id="rId2"/>
              </a:rPr>
              <a:t>en.wikipedia.org</a:t>
            </a:r>
            <a:r>
              <a:rPr lang="fi-FI" dirty="0">
                <a:hlinkClick r:id="rId2"/>
              </a:rPr>
              <a:t>/wiki/</a:t>
            </a:r>
            <a:r>
              <a:rPr lang="fi-FI" dirty="0" err="1">
                <a:hlinkClick r:id="rId2"/>
              </a:rPr>
              <a:t>List_of_Unicode_characters</a:t>
            </a:r>
            <a:endParaRPr lang="fi-FI" dirty="0"/>
          </a:p>
          <a:p>
            <a:r>
              <a:rPr lang="fi-FI" dirty="0"/>
              <a:t>Voimme toki tehdä </a:t>
            </a:r>
            <a:r>
              <a:rPr lang="fi-FI" dirty="0" err="1"/>
              <a:t>char</a:t>
            </a:r>
            <a:r>
              <a:rPr lang="fi-FI" dirty="0"/>
              <a:t>-tyyppisen taulukon:</a:t>
            </a:r>
          </a:p>
          <a:p>
            <a:pPr lvl="1"/>
            <a:r>
              <a:rPr lang="fi-FI" dirty="0" err="1"/>
              <a:t>Char</a:t>
            </a:r>
            <a:r>
              <a:rPr lang="fi-FI" dirty="0"/>
              <a:t> [] vokaalit = {’</a:t>
            </a:r>
            <a:r>
              <a:rPr lang="fi-FI" dirty="0" err="1"/>
              <a:t>a’,’e’,’i’,’o’,’u’,’y’,’å’,’ä’,’ö</a:t>
            </a:r>
            <a:r>
              <a:rPr lang="fi-FI" dirty="0"/>
              <a:t>’};</a:t>
            </a:r>
          </a:p>
          <a:p>
            <a:r>
              <a:rPr lang="fi-FI" dirty="0" err="1"/>
              <a:t>Huom</a:t>
            </a:r>
            <a:r>
              <a:rPr lang="fi-FI" dirty="0"/>
              <a:t>! </a:t>
            </a:r>
            <a:r>
              <a:rPr lang="fi-FI" dirty="0" err="1"/>
              <a:t>Stringin</a:t>
            </a:r>
            <a:r>
              <a:rPr lang="fi-FI" dirty="0"/>
              <a:t> kanssa ”, </a:t>
            </a:r>
            <a:r>
              <a:rPr lang="fi-FI" dirty="0" err="1"/>
              <a:t>charin</a:t>
            </a:r>
            <a:r>
              <a:rPr lang="fi-FI" dirty="0"/>
              <a:t> kanssa ’</a:t>
            </a:r>
          </a:p>
        </p:txBody>
      </p:sp>
    </p:spTree>
    <p:extLst>
      <p:ext uri="{BB962C8B-B14F-4D97-AF65-F5344CB8AC3E}">
        <p14:creationId xmlns:p14="http://schemas.microsoft.com/office/powerpoint/2010/main" val="32176243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1A908380-7A8A-6B45-A597-8D394754E030}"/>
              </a:ext>
            </a:extLst>
          </p:cNvPr>
          <p:cNvSpPr>
            <a:spLocks noGrp="1"/>
          </p:cNvSpPr>
          <p:nvPr>
            <p:ph type="title"/>
          </p:nvPr>
        </p:nvSpPr>
        <p:spPr>
          <a:xfrm>
            <a:off x="722344" y="0"/>
            <a:ext cx="4225652" cy="1479560"/>
          </a:xfrm>
        </p:spPr>
        <p:txBody>
          <a:bodyPr/>
          <a:lstStyle/>
          <a:p>
            <a:r>
              <a:rPr lang="fi-FI" dirty="0"/>
              <a:t>Ohjausmerkit</a:t>
            </a:r>
          </a:p>
        </p:txBody>
      </p:sp>
      <p:sp>
        <p:nvSpPr>
          <p:cNvPr id="3" name="Sisällön paikkamerkki 2">
            <a:extLst>
              <a:ext uri="{FF2B5EF4-FFF2-40B4-BE49-F238E27FC236}">
                <a16:creationId xmlns:a16="http://schemas.microsoft.com/office/drawing/2014/main" id="{49E9A449-7D30-DF40-BCD1-6104C19DA707}"/>
              </a:ext>
            </a:extLst>
          </p:cNvPr>
          <p:cNvSpPr>
            <a:spLocks noGrp="1"/>
          </p:cNvSpPr>
          <p:nvPr>
            <p:ph sz="quarter" idx="12"/>
          </p:nvPr>
        </p:nvSpPr>
        <p:spPr>
          <a:xfrm>
            <a:off x="722345" y="1539502"/>
            <a:ext cx="3319568" cy="3807750"/>
          </a:xfrm>
        </p:spPr>
        <p:txBody>
          <a:bodyPr/>
          <a:lstStyle/>
          <a:p>
            <a:r>
              <a:rPr lang="fi-FI" dirty="0"/>
              <a:t>Kun tulostamme tekstiä, voimme antaa tiettyjä ohjausmerkkejä, joiden avulla syötämme sellaisia komentoja (esim. tabulaattorin painallus), jota ei ole suoraan näppäimistössä. Tämän lisäksi jos haluamme heitto- tai lainausmerkin näkyviin, käytämme ohjausmerkkiä</a:t>
            </a:r>
          </a:p>
          <a:p>
            <a:endParaRPr lang="fi-FI" dirty="0"/>
          </a:p>
        </p:txBody>
      </p:sp>
      <p:graphicFrame>
        <p:nvGraphicFramePr>
          <p:cNvPr id="4" name="Taulukko 3">
            <a:extLst>
              <a:ext uri="{FF2B5EF4-FFF2-40B4-BE49-F238E27FC236}">
                <a16:creationId xmlns:a16="http://schemas.microsoft.com/office/drawing/2014/main" id="{D39BB41C-7DFF-794F-AC3C-94DB5858691B}"/>
              </a:ext>
            </a:extLst>
          </p:cNvPr>
          <p:cNvGraphicFramePr>
            <a:graphicFrameLocks noGrp="1"/>
          </p:cNvGraphicFramePr>
          <p:nvPr/>
        </p:nvGraphicFramePr>
        <p:xfrm>
          <a:off x="4041913" y="897172"/>
          <a:ext cx="5032513" cy="4450080"/>
        </p:xfrm>
        <a:graphic>
          <a:graphicData uri="http://schemas.openxmlformats.org/drawingml/2006/table">
            <a:tbl>
              <a:tblPr firstRow="1" bandRow="1">
                <a:tableStyleId>{5C22544A-7EE6-4342-B048-85BDC9FD1C3A}</a:tableStyleId>
              </a:tblPr>
              <a:tblGrid>
                <a:gridCol w="1544250">
                  <a:extLst>
                    <a:ext uri="{9D8B030D-6E8A-4147-A177-3AD203B41FA5}">
                      <a16:colId xmlns:a16="http://schemas.microsoft.com/office/drawing/2014/main" val="4268768700"/>
                    </a:ext>
                  </a:extLst>
                </a:gridCol>
                <a:gridCol w="3488263">
                  <a:extLst>
                    <a:ext uri="{9D8B030D-6E8A-4147-A177-3AD203B41FA5}">
                      <a16:colId xmlns:a16="http://schemas.microsoft.com/office/drawing/2014/main" val="2060044328"/>
                    </a:ext>
                  </a:extLst>
                </a:gridCol>
              </a:tblGrid>
              <a:tr h="370840">
                <a:tc>
                  <a:txBody>
                    <a:bodyPr/>
                    <a:lstStyle/>
                    <a:p>
                      <a:r>
                        <a:rPr lang="fi-FI" dirty="0"/>
                        <a:t>Ohjausmerkki</a:t>
                      </a:r>
                    </a:p>
                  </a:txBody>
                  <a:tcPr/>
                </a:tc>
                <a:tc>
                  <a:txBody>
                    <a:bodyPr/>
                    <a:lstStyle/>
                    <a:p>
                      <a:r>
                        <a:rPr lang="fi-FI" dirty="0"/>
                        <a:t>Kuvaus</a:t>
                      </a:r>
                    </a:p>
                  </a:txBody>
                  <a:tcPr/>
                </a:tc>
                <a:extLst>
                  <a:ext uri="{0D108BD9-81ED-4DB2-BD59-A6C34878D82A}">
                    <a16:rowId xmlns:a16="http://schemas.microsoft.com/office/drawing/2014/main" val="1463189098"/>
                  </a:ext>
                </a:extLst>
              </a:tr>
              <a:tr h="370840">
                <a:tc>
                  <a:txBody>
                    <a:bodyPr/>
                    <a:lstStyle/>
                    <a:p>
                      <a:r>
                        <a:rPr lang="fi-FI" dirty="0"/>
                        <a:t>\’</a:t>
                      </a:r>
                    </a:p>
                  </a:txBody>
                  <a:tcPr/>
                </a:tc>
                <a:tc>
                  <a:txBody>
                    <a:bodyPr/>
                    <a:lstStyle/>
                    <a:p>
                      <a:r>
                        <a:rPr lang="fi-FI" dirty="0"/>
                        <a:t>Heittomerkki tulostukseen</a:t>
                      </a:r>
                    </a:p>
                  </a:txBody>
                  <a:tcPr/>
                </a:tc>
                <a:extLst>
                  <a:ext uri="{0D108BD9-81ED-4DB2-BD59-A6C34878D82A}">
                    <a16:rowId xmlns:a16="http://schemas.microsoft.com/office/drawing/2014/main" val="73073592"/>
                  </a:ext>
                </a:extLst>
              </a:tr>
              <a:tr h="370840">
                <a:tc>
                  <a:txBody>
                    <a:bodyPr/>
                    <a:lstStyle/>
                    <a:p>
                      <a:r>
                        <a:rPr lang="fi-FI" dirty="0"/>
                        <a:t>\”</a:t>
                      </a:r>
                    </a:p>
                  </a:txBody>
                  <a:tcPr/>
                </a:tc>
                <a:tc>
                  <a:txBody>
                    <a:bodyPr/>
                    <a:lstStyle/>
                    <a:p>
                      <a:r>
                        <a:rPr lang="fi-FI" dirty="0"/>
                        <a:t>Lainausmerkki tulostukseen</a:t>
                      </a:r>
                    </a:p>
                  </a:txBody>
                  <a:tcPr/>
                </a:tc>
                <a:extLst>
                  <a:ext uri="{0D108BD9-81ED-4DB2-BD59-A6C34878D82A}">
                    <a16:rowId xmlns:a16="http://schemas.microsoft.com/office/drawing/2014/main" val="392151431"/>
                  </a:ext>
                </a:extLst>
              </a:tr>
              <a:tr h="370840">
                <a:tc>
                  <a:txBody>
                    <a:bodyPr/>
                    <a:lstStyle/>
                    <a:p>
                      <a:r>
                        <a:rPr lang="fi-FI" dirty="0"/>
                        <a:t>\\</a:t>
                      </a:r>
                    </a:p>
                  </a:txBody>
                  <a:tcPr/>
                </a:tc>
                <a:tc>
                  <a:txBody>
                    <a:bodyPr/>
                    <a:lstStyle/>
                    <a:p>
                      <a:r>
                        <a:rPr lang="fi-FI" dirty="0"/>
                        <a:t>Kenoviiva tulostukseen</a:t>
                      </a:r>
                    </a:p>
                  </a:txBody>
                  <a:tcPr/>
                </a:tc>
                <a:extLst>
                  <a:ext uri="{0D108BD9-81ED-4DB2-BD59-A6C34878D82A}">
                    <a16:rowId xmlns:a16="http://schemas.microsoft.com/office/drawing/2014/main" val="1385057034"/>
                  </a:ext>
                </a:extLst>
              </a:tr>
              <a:tr h="370840">
                <a:tc>
                  <a:txBody>
                    <a:bodyPr/>
                    <a:lstStyle/>
                    <a:p>
                      <a:r>
                        <a:rPr lang="fi-FI" dirty="0"/>
                        <a:t>\0</a:t>
                      </a:r>
                    </a:p>
                  </a:txBody>
                  <a:tcPr/>
                </a:tc>
                <a:tc>
                  <a:txBody>
                    <a:bodyPr/>
                    <a:lstStyle/>
                    <a:p>
                      <a:r>
                        <a:rPr lang="fi-FI" dirty="0" err="1"/>
                        <a:t>Null</a:t>
                      </a:r>
                      <a:r>
                        <a:rPr lang="fi-FI" dirty="0"/>
                        <a:t>-merkki != C# </a:t>
                      </a:r>
                      <a:r>
                        <a:rPr lang="fi-FI" dirty="0" err="1"/>
                        <a:t>null</a:t>
                      </a:r>
                      <a:endParaRPr lang="fi-FI" dirty="0"/>
                    </a:p>
                  </a:txBody>
                  <a:tcPr/>
                </a:tc>
                <a:extLst>
                  <a:ext uri="{0D108BD9-81ED-4DB2-BD59-A6C34878D82A}">
                    <a16:rowId xmlns:a16="http://schemas.microsoft.com/office/drawing/2014/main" val="528857977"/>
                  </a:ext>
                </a:extLst>
              </a:tr>
              <a:tr h="370840">
                <a:tc>
                  <a:txBody>
                    <a:bodyPr/>
                    <a:lstStyle/>
                    <a:p>
                      <a:r>
                        <a:rPr lang="fi-FI" dirty="0"/>
                        <a:t>\a</a:t>
                      </a:r>
                    </a:p>
                  </a:txBody>
                  <a:tcPr/>
                </a:tc>
                <a:tc>
                  <a:txBody>
                    <a:bodyPr/>
                    <a:lstStyle/>
                    <a:p>
                      <a:r>
                        <a:rPr lang="fi-FI" dirty="0"/>
                        <a:t>Varoitus (</a:t>
                      </a:r>
                      <a:r>
                        <a:rPr lang="fi-FI" dirty="0" err="1"/>
                        <a:t>Alert</a:t>
                      </a:r>
                      <a:r>
                        <a:rPr lang="fi-FI" dirty="0"/>
                        <a:t>)</a:t>
                      </a:r>
                    </a:p>
                  </a:txBody>
                  <a:tcPr/>
                </a:tc>
                <a:extLst>
                  <a:ext uri="{0D108BD9-81ED-4DB2-BD59-A6C34878D82A}">
                    <a16:rowId xmlns:a16="http://schemas.microsoft.com/office/drawing/2014/main" val="3472435771"/>
                  </a:ext>
                </a:extLst>
              </a:tr>
              <a:tr h="370840">
                <a:tc>
                  <a:txBody>
                    <a:bodyPr/>
                    <a:lstStyle/>
                    <a:p>
                      <a:r>
                        <a:rPr lang="fi-FI" dirty="0"/>
                        <a:t>\b</a:t>
                      </a:r>
                    </a:p>
                  </a:txBody>
                  <a:tcPr/>
                </a:tc>
                <a:tc>
                  <a:txBody>
                    <a:bodyPr/>
                    <a:lstStyle/>
                    <a:p>
                      <a:r>
                        <a:rPr lang="fi-FI" dirty="0"/>
                        <a:t>Askelpalautus</a:t>
                      </a:r>
                    </a:p>
                  </a:txBody>
                  <a:tcPr/>
                </a:tc>
                <a:extLst>
                  <a:ext uri="{0D108BD9-81ED-4DB2-BD59-A6C34878D82A}">
                    <a16:rowId xmlns:a16="http://schemas.microsoft.com/office/drawing/2014/main" val="3781424731"/>
                  </a:ext>
                </a:extLst>
              </a:tr>
              <a:tr h="370840">
                <a:tc>
                  <a:txBody>
                    <a:bodyPr/>
                    <a:lstStyle/>
                    <a:p>
                      <a:r>
                        <a:rPr lang="fi-FI" dirty="0"/>
                        <a:t>\f</a:t>
                      </a:r>
                    </a:p>
                  </a:txBody>
                  <a:tcPr/>
                </a:tc>
                <a:tc>
                  <a:txBody>
                    <a:bodyPr/>
                    <a:lstStyle/>
                    <a:p>
                      <a:r>
                        <a:rPr lang="fi-FI" dirty="0"/>
                        <a:t>Sivun kelaus (</a:t>
                      </a:r>
                      <a:r>
                        <a:rPr lang="fi-FI" dirty="0" err="1"/>
                        <a:t>form</a:t>
                      </a:r>
                      <a:r>
                        <a:rPr lang="fi-FI" dirty="0"/>
                        <a:t> </a:t>
                      </a:r>
                      <a:r>
                        <a:rPr lang="fi-FI" dirty="0" err="1"/>
                        <a:t>feed</a:t>
                      </a:r>
                      <a:r>
                        <a:rPr lang="fi-FI" dirty="0"/>
                        <a:t>)</a:t>
                      </a:r>
                    </a:p>
                  </a:txBody>
                  <a:tcPr/>
                </a:tc>
                <a:extLst>
                  <a:ext uri="{0D108BD9-81ED-4DB2-BD59-A6C34878D82A}">
                    <a16:rowId xmlns:a16="http://schemas.microsoft.com/office/drawing/2014/main" val="2673151658"/>
                  </a:ext>
                </a:extLst>
              </a:tr>
              <a:tr h="370840">
                <a:tc>
                  <a:txBody>
                    <a:bodyPr/>
                    <a:lstStyle/>
                    <a:p>
                      <a:r>
                        <a:rPr lang="fi-FI" dirty="0"/>
                        <a:t>\n</a:t>
                      </a:r>
                    </a:p>
                  </a:txBody>
                  <a:tcPr/>
                </a:tc>
                <a:tc>
                  <a:txBody>
                    <a:bodyPr/>
                    <a:lstStyle/>
                    <a:p>
                      <a:r>
                        <a:rPr lang="fi-FI" dirty="0"/>
                        <a:t>Rivin vaihto</a:t>
                      </a:r>
                    </a:p>
                  </a:txBody>
                  <a:tcPr/>
                </a:tc>
                <a:extLst>
                  <a:ext uri="{0D108BD9-81ED-4DB2-BD59-A6C34878D82A}">
                    <a16:rowId xmlns:a16="http://schemas.microsoft.com/office/drawing/2014/main" val="5626339"/>
                  </a:ext>
                </a:extLst>
              </a:tr>
              <a:tr h="370840">
                <a:tc>
                  <a:txBody>
                    <a:bodyPr/>
                    <a:lstStyle/>
                    <a:p>
                      <a:r>
                        <a:rPr lang="fi-FI" dirty="0"/>
                        <a:t>\r</a:t>
                      </a:r>
                    </a:p>
                  </a:txBody>
                  <a:tcPr/>
                </a:tc>
                <a:tc>
                  <a:txBody>
                    <a:bodyPr/>
                    <a:lstStyle/>
                    <a:p>
                      <a:r>
                        <a:rPr lang="fi-FI" dirty="0"/>
                        <a:t>Toinen rivinvaihto (</a:t>
                      </a:r>
                      <a:r>
                        <a:rPr lang="fi-FI" dirty="0" err="1"/>
                        <a:t>Carriage</a:t>
                      </a:r>
                      <a:r>
                        <a:rPr lang="fi-FI" dirty="0"/>
                        <a:t> </a:t>
                      </a:r>
                      <a:r>
                        <a:rPr lang="fi-FI" dirty="0" err="1"/>
                        <a:t>return</a:t>
                      </a:r>
                      <a:r>
                        <a:rPr lang="fi-FI" dirty="0"/>
                        <a:t>)</a:t>
                      </a:r>
                    </a:p>
                  </a:txBody>
                  <a:tcPr/>
                </a:tc>
                <a:extLst>
                  <a:ext uri="{0D108BD9-81ED-4DB2-BD59-A6C34878D82A}">
                    <a16:rowId xmlns:a16="http://schemas.microsoft.com/office/drawing/2014/main" val="971964439"/>
                  </a:ext>
                </a:extLst>
              </a:tr>
              <a:tr h="370840">
                <a:tc>
                  <a:txBody>
                    <a:bodyPr/>
                    <a:lstStyle/>
                    <a:p>
                      <a:r>
                        <a:rPr lang="fi-FI" dirty="0"/>
                        <a:t>\t</a:t>
                      </a:r>
                    </a:p>
                  </a:txBody>
                  <a:tcPr/>
                </a:tc>
                <a:tc>
                  <a:txBody>
                    <a:bodyPr/>
                    <a:lstStyle/>
                    <a:p>
                      <a:r>
                        <a:rPr lang="fi-FI" dirty="0"/>
                        <a:t>Tabulaattorin painallus</a:t>
                      </a:r>
                    </a:p>
                  </a:txBody>
                  <a:tcPr/>
                </a:tc>
                <a:extLst>
                  <a:ext uri="{0D108BD9-81ED-4DB2-BD59-A6C34878D82A}">
                    <a16:rowId xmlns:a16="http://schemas.microsoft.com/office/drawing/2014/main" val="3185712253"/>
                  </a:ext>
                </a:extLst>
              </a:tr>
              <a:tr h="370840">
                <a:tc>
                  <a:txBody>
                    <a:bodyPr/>
                    <a:lstStyle/>
                    <a:p>
                      <a:r>
                        <a:rPr lang="fi-FI" dirty="0"/>
                        <a:t>\v</a:t>
                      </a:r>
                    </a:p>
                  </a:txBody>
                  <a:tcPr/>
                </a:tc>
                <a:tc>
                  <a:txBody>
                    <a:bodyPr/>
                    <a:lstStyle/>
                    <a:p>
                      <a:r>
                        <a:rPr lang="fi-FI" dirty="0"/>
                        <a:t>Pystysarkain</a:t>
                      </a:r>
                    </a:p>
                  </a:txBody>
                  <a:tcPr/>
                </a:tc>
                <a:extLst>
                  <a:ext uri="{0D108BD9-81ED-4DB2-BD59-A6C34878D82A}">
                    <a16:rowId xmlns:a16="http://schemas.microsoft.com/office/drawing/2014/main" val="3098358634"/>
                  </a:ext>
                </a:extLst>
              </a:tr>
            </a:tbl>
          </a:graphicData>
        </a:graphic>
      </p:graphicFrame>
      <p:pic>
        <p:nvPicPr>
          <p:cNvPr id="5" name="Kuva 4">
            <a:extLst>
              <a:ext uri="{FF2B5EF4-FFF2-40B4-BE49-F238E27FC236}">
                <a16:creationId xmlns:a16="http://schemas.microsoft.com/office/drawing/2014/main" id="{8D2D8D00-1767-7840-8AC6-35CCBD0C8812}"/>
              </a:ext>
            </a:extLst>
          </p:cNvPr>
          <p:cNvPicPr>
            <a:picLocks noChangeAspect="1"/>
          </p:cNvPicPr>
          <p:nvPr/>
        </p:nvPicPr>
        <p:blipFill>
          <a:blip r:embed="rId2"/>
          <a:stretch>
            <a:fillRect/>
          </a:stretch>
        </p:blipFill>
        <p:spPr>
          <a:xfrm>
            <a:off x="571500" y="5485020"/>
            <a:ext cx="8001000" cy="241300"/>
          </a:xfrm>
          <a:prstGeom prst="rect">
            <a:avLst/>
          </a:prstGeom>
          <a:ln>
            <a:solidFill>
              <a:schemeClr val="accent1"/>
            </a:solidFill>
          </a:ln>
        </p:spPr>
      </p:pic>
      <p:pic>
        <p:nvPicPr>
          <p:cNvPr id="6" name="Kuva 5">
            <a:extLst>
              <a:ext uri="{FF2B5EF4-FFF2-40B4-BE49-F238E27FC236}">
                <a16:creationId xmlns:a16="http://schemas.microsoft.com/office/drawing/2014/main" id="{3488EEF0-3601-2943-A05E-E08D79D14CDB}"/>
              </a:ext>
            </a:extLst>
          </p:cNvPr>
          <p:cNvPicPr>
            <a:picLocks noChangeAspect="1"/>
          </p:cNvPicPr>
          <p:nvPr/>
        </p:nvPicPr>
        <p:blipFill>
          <a:blip r:embed="rId3"/>
          <a:stretch>
            <a:fillRect/>
          </a:stretch>
        </p:blipFill>
        <p:spPr>
          <a:xfrm>
            <a:off x="571500" y="5824332"/>
            <a:ext cx="2616200" cy="685800"/>
          </a:xfrm>
          <a:prstGeom prst="rect">
            <a:avLst/>
          </a:prstGeom>
          <a:ln>
            <a:solidFill>
              <a:schemeClr val="accent1"/>
            </a:solidFill>
          </a:ln>
        </p:spPr>
      </p:pic>
    </p:spTree>
    <p:extLst>
      <p:ext uri="{BB962C8B-B14F-4D97-AF65-F5344CB8AC3E}">
        <p14:creationId xmlns:p14="http://schemas.microsoft.com/office/powerpoint/2010/main" val="16906232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429B18E1-DE82-4530-958B-C0472B318600}"/>
              </a:ext>
            </a:extLst>
          </p:cNvPr>
          <p:cNvSpPr>
            <a:spLocks noGrp="1"/>
          </p:cNvSpPr>
          <p:nvPr>
            <p:ph type="title"/>
          </p:nvPr>
        </p:nvSpPr>
        <p:spPr/>
        <p:txBody>
          <a:bodyPr/>
          <a:lstStyle/>
          <a:p>
            <a:r>
              <a:rPr lang="fi-FI" dirty="0"/>
              <a:t>Algoritmit</a:t>
            </a:r>
          </a:p>
        </p:txBody>
      </p:sp>
      <p:sp>
        <p:nvSpPr>
          <p:cNvPr id="3" name="Sisällön paikkamerkki 2">
            <a:extLst>
              <a:ext uri="{FF2B5EF4-FFF2-40B4-BE49-F238E27FC236}">
                <a16:creationId xmlns:a16="http://schemas.microsoft.com/office/drawing/2014/main" id="{40A56265-91D3-4A55-AFB9-D431FC16C0D5}"/>
              </a:ext>
            </a:extLst>
          </p:cNvPr>
          <p:cNvSpPr>
            <a:spLocks noGrp="1"/>
          </p:cNvSpPr>
          <p:nvPr>
            <p:ph sz="quarter" idx="12"/>
          </p:nvPr>
        </p:nvSpPr>
        <p:spPr/>
        <p:txBody>
          <a:bodyPr>
            <a:normAutofit/>
          </a:bodyPr>
          <a:lstStyle/>
          <a:p>
            <a:r>
              <a:rPr lang="en-US" b="0" i="1" dirty="0">
                <a:solidFill>
                  <a:srgbClr val="000000"/>
                </a:solidFill>
                <a:effectLst/>
                <a:latin typeface="Verdana" panose="020B0604030504040204" pitchFamily="34" charset="0"/>
              </a:rPr>
              <a:t>“First, solve the problem. Then, write the code.” - John Johnson</a:t>
            </a:r>
          </a:p>
          <a:p>
            <a:r>
              <a:rPr lang="fi-FI" b="0" i="0" dirty="0">
                <a:solidFill>
                  <a:srgbClr val="000000"/>
                </a:solidFill>
                <a:effectLst/>
                <a:latin typeface="Verdana" panose="020B0604030504040204" pitchFamily="34" charset="0"/>
              </a:rPr>
              <a:t>Pyrittäessä kirjoittamaan koneelle kelpaavia ohjeita joudutaan suoritettavana oleva toimenpide kirjaamaan sarjana yksinkertaisia toimenpiteitä. </a:t>
            </a:r>
          </a:p>
          <a:p>
            <a:r>
              <a:rPr lang="fi-FI" b="0" i="0" dirty="0">
                <a:solidFill>
                  <a:srgbClr val="000000"/>
                </a:solidFill>
                <a:effectLst/>
                <a:latin typeface="Verdana" panose="020B0604030504040204" pitchFamily="34" charset="0"/>
              </a:rPr>
              <a:t>Toimenpidesarjan tulee olla yksikäsitteinen, eli sen tulee joka tilanteessa tarjota yksi ja vain yksi tapa toimia, eikä siinä saa esiintyä ristiriitaisuuksia. </a:t>
            </a:r>
          </a:p>
          <a:p>
            <a:r>
              <a:rPr lang="fi-FI" b="0" i="0" dirty="0">
                <a:solidFill>
                  <a:srgbClr val="000000"/>
                </a:solidFill>
                <a:effectLst/>
                <a:latin typeface="Verdana" panose="020B0604030504040204" pitchFamily="34" charset="0"/>
              </a:rPr>
              <a:t>Yksikäsitteistä kuvausta tehtävän ratkaisuun tarvittavista toimenpiteistä kutsutaan algoritmiksi.</a:t>
            </a:r>
            <a:endParaRPr lang="fi-FI" dirty="0"/>
          </a:p>
        </p:txBody>
      </p:sp>
    </p:spTree>
    <p:extLst>
      <p:ext uri="{BB962C8B-B14F-4D97-AF65-F5344CB8AC3E}">
        <p14:creationId xmlns:p14="http://schemas.microsoft.com/office/powerpoint/2010/main" val="42546732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425F05F0-DC24-4293-A24E-92984CCD5A7F}"/>
              </a:ext>
            </a:extLst>
          </p:cNvPr>
          <p:cNvSpPr>
            <a:spLocks noGrp="1"/>
          </p:cNvSpPr>
          <p:nvPr>
            <p:ph type="title"/>
          </p:nvPr>
        </p:nvSpPr>
        <p:spPr>
          <a:xfrm>
            <a:off x="791918" y="1748939"/>
            <a:ext cx="5761282" cy="1440392"/>
          </a:xfrm>
        </p:spPr>
        <p:txBody>
          <a:bodyPr/>
          <a:lstStyle/>
          <a:p>
            <a:r>
              <a:rPr lang="fi-FI" dirty="0"/>
              <a:t>Algoritmit - esimerkki</a:t>
            </a:r>
          </a:p>
        </p:txBody>
      </p:sp>
      <p:sp>
        <p:nvSpPr>
          <p:cNvPr id="3" name="Sisällön paikkamerkki 2">
            <a:extLst>
              <a:ext uri="{FF2B5EF4-FFF2-40B4-BE49-F238E27FC236}">
                <a16:creationId xmlns:a16="http://schemas.microsoft.com/office/drawing/2014/main" id="{CAC7F822-FDB6-40A3-9F9A-604A02C0FAF7}"/>
              </a:ext>
            </a:extLst>
          </p:cNvPr>
          <p:cNvSpPr>
            <a:spLocks noGrp="1"/>
          </p:cNvSpPr>
          <p:nvPr>
            <p:ph sz="quarter" idx="12"/>
          </p:nvPr>
        </p:nvSpPr>
        <p:spPr>
          <a:xfrm>
            <a:off x="791918" y="3313650"/>
            <a:ext cx="5248647" cy="2694291"/>
          </a:xfrm>
        </p:spPr>
        <p:txBody>
          <a:bodyPr/>
          <a:lstStyle/>
          <a:p>
            <a:r>
              <a:rPr lang="fi-FI" b="0" i="0" dirty="0">
                <a:solidFill>
                  <a:srgbClr val="000000"/>
                </a:solidFill>
                <a:effectLst/>
                <a:latin typeface="Verdana" panose="020B0604030504040204" pitchFamily="34" charset="0"/>
              </a:rPr>
              <a:t>Ohjelman kirjoittaminen voidaan aloittaa hahmottelemalla tarvittavat algoritmit eli kirjaamalla lista niistä toimenpiteistä, joita tehtävän suoritukseen tarvitaan:</a:t>
            </a:r>
          </a:p>
          <a:p>
            <a:r>
              <a:rPr lang="fi-FI" dirty="0"/>
              <a:t>Kahvin keittäminen:</a:t>
            </a:r>
            <a:br>
              <a:rPr lang="fi-FI" dirty="0"/>
            </a:br>
            <a:r>
              <a:rPr lang="fi-FI" dirty="0"/>
              <a:t>1.  Täytä pannu vedellä.</a:t>
            </a:r>
            <a:br>
              <a:rPr lang="fi-FI" dirty="0"/>
            </a:br>
            <a:r>
              <a:rPr lang="fi-FI" dirty="0"/>
              <a:t>2.  Keitä vesi.</a:t>
            </a:r>
            <a:br>
              <a:rPr lang="fi-FI" dirty="0"/>
            </a:br>
            <a:r>
              <a:rPr lang="fi-FI" dirty="0"/>
              <a:t>3.  Lisää kahvijauhot.</a:t>
            </a:r>
            <a:br>
              <a:rPr lang="fi-FI" dirty="0"/>
            </a:br>
            <a:r>
              <a:rPr lang="fi-FI" dirty="0"/>
              <a:t>4.  Anna tasaantua.</a:t>
            </a:r>
            <a:br>
              <a:rPr lang="fi-FI" dirty="0"/>
            </a:br>
            <a:r>
              <a:rPr lang="fi-FI" dirty="0"/>
              <a:t>5.  Tarjoile kahvi.</a:t>
            </a:r>
          </a:p>
        </p:txBody>
      </p:sp>
    </p:spTree>
    <p:extLst>
      <p:ext uri="{BB962C8B-B14F-4D97-AF65-F5344CB8AC3E}">
        <p14:creationId xmlns:p14="http://schemas.microsoft.com/office/powerpoint/2010/main" val="28015860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BA1678DD-D9E4-4CAD-8863-DA43ED3A7E65}"/>
              </a:ext>
            </a:extLst>
          </p:cNvPr>
          <p:cNvSpPr>
            <a:spLocks noGrp="1"/>
          </p:cNvSpPr>
          <p:nvPr>
            <p:ph type="title"/>
          </p:nvPr>
        </p:nvSpPr>
        <p:spPr>
          <a:xfrm>
            <a:off x="791918" y="528507"/>
            <a:ext cx="5761282" cy="1440392"/>
          </a:xfrm>
        </p:spPr>
        <p:txBody>
          <a:bodyPr/>
          <a:lstStyle/>
          <a:p>
            <a:r>
              <a:rPr lang="fi-FI" dirty="0"/>
              <a:t>Algoritmit - esimerkki</a:t>
            </a:r>
          </a:p>
        </p:txBody>
      </p:sp>
      <p:sp>
        <p:nvSpPr>
          <p:cNvPr id="3" name="Sisällön paikkamerkki 2">
            <a:extLst>
              <a:ext uri="{FF2B5EF4-FFF2-40B4-BE49-F238E27FC236}">
                <a16:creationId xmlns:a16="http://schemas.microsoft.com/office/drawing/2014/main" id="{0C40EECD-6BA9-483E-A760-78B5A28ADB1F}"/>
              </a:ext>
            </a:extLst>
          </p:cNvPr>
          <p:cNvSpPr>
            <a:spLocks noGrp="1"/>
          </p:cNvSpPr>
          <p:nvPr>
            <p:ph sz="quarter" idx="12"/>
          </p:nvPr>
        </p:nvSpPr>
        <p:spPr>
          <a:xfrm>
            <a:off x="791918" y="2063692"/>
            <a:ext cx="6825286" cy="4370664"/>
          </a:xfrm>
        </p:spPr>
        <p:txBody>
          <a:bodyPr>
            <a:normAutofit/>
          </a:bodyPr>
          <a:lstStyle/>
          <a:p>
            <a:pPr marL="0" indent="0">
              <a:buNone/>
            </a:pPr>
            <a:r>
              <a:rPr lang="fi-FI" dirty="0"/>
              <a:t>Kahvinkeitto:</a:t>
            </a:r>
          </a:p>
          <a:p>
            <a:pPr>
              <a:lnSpc>
                <a:spcPct val="100000"/>
              </a:lnSpc>
              <a:spcBef>
                <a:spcPts val="0"/>
              </a:spcBef>
              <a:buFont typeface="+mj-lt"/>
              <a:buAutoNum type="arabicPeriod"/>
            </a:pPr>
            <a:r>
              <a:rPr lang="fi-FI" dirty="0"/>
              <a:t>Täytä pannu vedellä:</a:t>
            </a:r>
          </a:p>
          <a:p>
            <a:pPr lvl="1">
              <a:lnSpc>
                <a:spcPct val="100000"/>
              </a:lnSpc>
              <a:spcBef>
                <a:spcPts val="0"/>
              </a:spcBef>
            </a:pPr>
            <a:r>
              <a:rPr lang="fi-FI" dirty="0"/>
              <a:t>Pistä pannu hanan alle</a:t>
            </a:r>
          </a:p>
          <a:p>
            <a:pPr lvl="1">
              <a:lnSpc>
                <a:spcPct val="100000"/>
              </a:lnSpc>
              <a:spcBef>
                <a:spcPts val="0"/>
              </a:spcBef>
            </a:pPr>
            <a:r>
              <a:rPr lang="fi-FI" dirty="0"/>
              <a:t>Avaa hana</a:t>
            </a:r>
          </a:p>
          <a:p>
            <a:pPr lvl="1">
              <a:lnSpc>
                <a:spcPct val="100000"/>
              </a:lnSpc>
              <a:spcBef>
                <a:spcPts val="0"/>
              </a:spcBef>
            </a:pPr>
            <a:r>
              <a:rPr lang="fi-FI" dirty="0"/>
              <a:t>Anna veden valua, kunnes vettä on riittävästi</a:t>
            </a:r>
          </a:p>
          <a:p>
            <a:pPr>
              <a:lnSpc>
                <a:spcPct val="100000"/>
              </a:lnSpc>
              <a:spcBef>
                <a:spcPts val="0"/>
              </a:spcBef>
              <a:buFont typeface="+mj-lt"/>
              <a:buAutoNum type="arabicPeriod"/>
            </a:pPr>
            <a:r>
              <a:rPr lang="fi-FI" dirty="0"/>
              <a:t>Keitä vesi:</a:t>
            </a:r>
          </a:p>
          <a:p>
            <a:pPr lvl="1">
              <a:lnSpc>
                <a:spcPct val="100000"/>
              </a:lnSpc>
              <a:spcBef>
                <a:spcPts val="0"/>
              </a:spcBef>
            </a:pPr>
            <a:r>
              <a:rPr lang="fi-FI" dirty="0"/>
              <a:t>Aseta pannu hellalle</a:t>
            </a:r>
          </a:p>
          <a:p>
            <a:pPr lvl="1">
              <a:lnSpc>
                <a:spcPct val="100000"/>
              </a:lnSpc>
              <a:spcBef>
                <a:spcPts val="0"/>
              </a:spcBef>
            </a:pPr>
            <a:r>
              <a:rPr lang="fi-FI" dirty="0"/>
              <a:t>Kytke virta keittolevyyn</a:t>
            </a:r>
          </a:p>
          <a:p>
            <a:pPr lvl="1">
              <a:lnSpc>
                <a:spcPct val="100000"/>
              </a:lnSpc>
              <a:spcBef>
                <a:spcPts val="0"/>
              </a:spcBef>
            </a:pPr>
            <a:r>
              <a:rPr lang="fi-FI" dirty="0"/>
              <a:t>Anna lämmetä, kunnes vesi kiehuu.</a:t>
            </a:r>
          </a:p>
          <a:p>
            <a:pPr marL="400050">
              <a:lnSpc>
                <a:spcPct val="100000"/>
              </a:lnSpc>
              <a:spcBef>
                <a:spcPts val="0"/>
              </a:spcBef>
              <a:buFont typeface="+mj-lt"/>
              <a:buAutoNum type="arabicPeriod"/>
            </a:pPr>
            <a:r>
              <a:rPr lang="fi-FI" dirty="0"/>
              <a:t>Lisää kahvinporot:</a:t>
            </a:r>
          </a:p>
          <a:p>
            <a:pPr marL="800100" lvl="1">
              <a:lnSpc>
                <a:spcPct val="100000"/>
              </a:lnSpc>
              <a:spcBef>
                <a:spcPts val="0"/>
              </a:spcBef>
            </a:pPr>
            <a:r>
              <a:rPr lang="fi-FI" dirty="0"/>
              <a:t>Mittaa kahvinporot</a:t>
            </a:r>
          </a:p>
          <a:p>
            <a:pPr marL="800100" lvl="1">
              <a:lnSpc>
                <a:spcPct val="100000"/>
              </a:lnSpc>
              <a:spcBef>
                <a:spcPts val="0"/>
              </a:spcBef>
            </a:pPr>
            <a:r>
              <a:rPr lang="fi-FI" dirty="0"/>
              <a:t>Sekoita kahvinporot kiehuvaan veteen</a:t>
            </a:r>
          </a:p>
          <a:p>
            <a:pPr marL="457200">
              <a:lnSpc>
                <a:spcPct val="100000"/>
              </a:lnSpc>
              <a:spcBef>
                <a:spcPts val="0"/>
              </a:spcBef>
              <a:buFont typeface="+mj-lt"/>
              <a:buAutoNum type="arabicPeriod"/>
            </a:pPr>
            <a:r>
              <a:rPr lang="fi-FI" dirty="0"/>
              <a:t>Anna tasaantua:</a:t>
            </a:r>
          </a:p>
          <a:p>
            <a:pPr marL="800100" lvl="1">
              <a:lnSpc>
                <a:spcPct val="100000"/>
              </a:lnSpc>
              <a:spcBef>
                <a:spcPts val="0"/>
              </a:spcBef>
            </a:pPr>
            <a:r>
              <a:rPr lang="fi-FI" dirty="0"/>
              <a:t>Odota, kunnes suurin osa valmiista kahvista on vajonnut pannun pohjalle</a:t>
            </a:r>
          </a:p>
          <a:p>
            <a:pPr marL="457200">
              <a:lnSpc>
                <a:spcPct val="100000"/>
              </a:lnSpc>
              <a:spcBef>
                <a:spcPts val="0"/>
              </a:spcBef>
              <a:buFont typeface="+mj-lt"/>
              <a:buAutoNum type="arabicPeriod"/>
            </a:pPr>
            <a:r>
              <a:rPr lang="fi-FI" dirty="0"/>
              <a:t>Tarjoile kahvi:</a:t>
            </a:r>
          </a:p>
          <a:p>
            <a:pPr marL="857250" lvl="1">
              <a:lnSpc>
                <a:spcPct val="100000"/>
              </a:lnSpc>
              <a:spcBef>
                <a:spcPts val="0"/>
              </a:spcBef>
            </a:pPr>
            <a:r>
              <a:rPr lang="fi-FI" dirty="0"/>
              <a:t>Tämä sitten onkin jo oma tarinansa...</a:t>
            </a:r>
          </a:p>
        </p:txBody>
      </p:sp>
    </p:spTree>
    <p:extLst>
      <p:ext uri="{BB962C8B-B14F-4D97-AF65-F5344CB8AC3E}">
        <p14:creationId xmlns:p14="http://schemas.microsoft.com/office/powerpoint/2010/main" val="28548853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6D400474-9FD0-400A-A352-EB8E6B775518}"/>
              </a:ext>
            </a:extLst>
          </p:cNvPr>
          <p:cNvSpPr>
            <a:spLocks noGrp="1"/>
          </p:cNvSpPr>
          <p:nvPr>
            <p:ph type="title"/>
          </p:nvPr>
        </p:nvSpPr>
        <p:spPr/>
        <p:txBody>
          <a:bodyPr/>
          <a:lstStyle/>
          <a:p>
            <a:r>
              <a:rPr lang="fi-FI" dirty="0"/>
              <a:t>Algoritmit – esimerkki jatkuu</a:t>
            </a:r>
          </a:p>
        </p:txBody>
      </p:sp>
      <p:sp>
        <p:nvSpPr>
          <p:cNvPr id="3" name="Sisällön paikkamerkki 2">
            <a:extLst>
              <a:ext uri="{FF2B5EF4-FFF2-40B4-BE49-F238E27FC236}">
                <a16:creationId xmlns:a16="http://schemas.microsoft.com/office/drawing/2014/main" id="{34659EF6-9587-4C36-9FF1-295AECBE8826}"/>
              </a:ext>
            </a:extLst>
          </p:cNvPr>
          <p:cNvSpPr>
            <a:spLocks noGrp="1"/>
          </p:cNvSpPr>
          <p:nvPr>
            <p:ph sz="quarter" idx="12"/>
          </p:nvPr>
        </p:nvSpPr>
        <p:spPr/>
        <p:txBody>
          <a:bodyPr>
            <a:normAutofit/>
          </a:bodyPr>
          <a:lstStyle/>
          <a:p>
            <a:r>
              <a:rPr lang="fi-FI" b="0" i="0" dirty="0">
                <a:solidFill>
                  <a:srgbClr val="000000"/>
                </a:solidFill>
                <a:effectLst/>
                <a:latin typeface="Verdana" panose="020B0604030504040204" pitchFamily="34" charset="0"/>
              </a:rPr>
              <a:t>Edellä esitetyn kahvinkeitto-ongelman ratkaisu esitettiin jakamalla ratkaisu viiteen osavaiheeseen. </a:t>
            </a:r>
          </a:p>
          <a:p>
            <a:r>
              <a:rPr lang="fi-FI" b="0" i="0" dirty="0">
                <a:solidFill>
                  <a:srgbClr val="000000"/>
                </a:solidFill>
                <a:effectLst/>
                <a:latin typeface="Verdana" panose="020B0604030504040204" pitchFamily="34" charset="0"/>
              </a:rPr>
              <a:t>Ratkaisun algoritmi sisältää viisi toteutettavaa lausetta. Kun näitä viittä lausetta tarkastellaan lähemmin, osoittautuu, että niistä kukin on edelleen jaettavissa osavaiheisiin, eli ratkaisun pääalgoritmi voidaan jakaa edelleen alialgoritmeiksi, joissa askel askeleelta esitetään, kuinka kukin osatehtävä ratkaistaan.</a:t>
            </a:r>
            <a:endParaRPr lang="fi-FI" dirty="0"/>
          </a:p>
        </p:txBody>
      </p:sp>
    </p:spTree>
    <p:extLst>
      <p:ext uri="{BB962C8B-B14F-4D97-AF65-F5344CB8AC3E}">
        <p14:creationId xmlns:p14="http://schemas.microsoft.com/office/powerpoint/2010/main" val="7817304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BA87C7FE-B0E1-784C-A280-458D52FBE0C2}"/>
              </a:ext>
            </a:extLst>
          </p:cNvPr>
          <p:cNvSpPr>
            <a:spLocks noGrp="1"/>
          </p:cNvSpPr>
          <p:nvPr>
            <p:ph type="title"/>
          </p:nvPr>
        </p:nvSpPr>
        <p:spPr/>
        <p:txBody>
          <a:bodyPr/>
          <a:lstStyle/>
          <a:p>
            <a:r>
              <a:rPr lang="fi-FI" dirty="0"/>
              <a:t>Koodin lukeminen</a:t>
            </a:r>
          </a:p>
        </p:txBody>
      </p:sp>
      <p:sp>
        <p:nvSpPr>
          <p:cNvPr id="3" name="Sisällön paikkamerkki 2">
            <a:extLst>
              <a:ext uri="{FF2B5EF4-FFF2-40B4-BE49-F238E27FC236}">
                <a16:creationId xmlns:a16="http://schemas.microsoft.com/office/drawing/2014/main" id="{7C959DA0-B402-C346-B5E0-043747C5EA03}"/>
              </a:ext>
            </a:extLst>
          </p:cNvPr>
          <p:cNvSpPr>
            <a:spLocks noGrp="1"/>
          </p:cNvSpPr>
          <p:nvPr>
            <p:ph sz="quarter" idx="12"/>
          </p:nvPr>
        </p:nvSpPr>
        <p:spPr/>
        <p:txBody>
          <a:bodyPr/>
          <a:lstStyle/>
          <a:p>
            <a:r>
              <a:rPr lang="fi-FI" dirty="0"/>
              <a:t>Kuten edellä olevassa reseptissä ja muissakin ihmisille kirjoitetuissa ohjeissa, niin myös tietokoneelle esitetyt ohjeet luetaan ylhäältä alaspäin, ellei muuta ilmoiteta.</a:t>
            </a:r>
          </a:p>
          <a:p>
            <a:r>
              <a:rPr lang="fi-FI" dirty="0"/>
              <a:t>Mutta silmukat, ehtolauseet, metodit, aliohjelmat yms. voivat muuttaa lukujärjestystä radikaalisti, joten yllä oleva ohje on vain yleistys, ei kiveen kirjoitettu totuus</a:t>
            </a:r>
          </a:p>
        </p:txBody>
      </p:sp>
    </p:spTree>
    <p:extLst>
      <p:ext uri="{BB962C8B-B14F-4D97-AF65-F5344CB8AC3E}">
        <p14:creationId xmlns:p14="http://schemas.microsoft.com/office/powerpoint/2010/main" val="24781538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70DD259E-30C4-024E-986F-9BF451C1D970}"/>
              </a:ext>
            </a:extLst>
          </p:cNvPr>
          <p:cNvSpPr>
            <a:spLocks noGrp="1"/>
          </p:cNvSpPr>
          <p:nvPr>
            <p:ph type="title"/>
          </p:nvPr>
        </p:nvSpPr>
        <p:spPr>
          <a:xfrm>
            <a:off x="791918" y="0"/>
            <a:ext cx="5761282" cy="1440392"/>
          </a:xfrm>
        </p:spPr>
        <p:txBody>
          <a:bodyPr/>
          <a:lstStyle/>
          <a:p>
            <a:r>
              <a:rPr lang="fi-FI" dirty="0"/>
              <a:t>Koodin kääntäminen</a:t>
            </a:r>
          </a:p>
        </p:txBody>
      </p:sp>
      <p:sp>
        <p:nvSpPr>
          <p:cNvPr id="3" name="Sisällön paikkamerkki 2">
            <a:extLst>
              <a:ext uri="{FF2B5EF4-FFF2-40B4-BE49-F238E27FC236}">
                <a16:creationId xmlns:a16="http://schemas.microsoft.com/office/drawing/2014/main" id="{475C70D4-3187-F94A-B236-956F69D294DE}"/>
              </a:ext>
            </a:extLst>
          </p:cNvPr>
          <p:cNvSpPr>
            <a:spLocks noGrp="1"/>
          </p:cNvSpPr>
          <p:nvPr>
            <p:ph sz="quarter" idx="12"/>
          </p:nvPr>
        </p:nvSpPr>
        <p:spPr>
          <a:xfrm>
            <a:off x="791918" y="1440392"/>
            <a:ext cx="5936873" cy="5695903"/>
          </a:xfrm>
        </p:spPr>
        <p:txBody>
          <a:bodyPr/>
          <a:lstStyle/>
          <a:p>
            <a:r>
              <a:rPr lang="fi-FI" dirty="0"/>
              <a:t>Tarkastellaan nyt tarkemmin kuinka C#-lähdekoodi muuttuu lopulta prosessorin ymmärtämään muotoon. </a:t>
            </a:r>
          </a:p>
          <a:p>
            <a:r>
              <a:rPr lang="fi-FI" dirty="0"/>
              <a:t>Kun ohjelmoija luo ohjelman lähdekoodin, joka käyttää </a:t>
            </a:r>
            <a:r>
              <a:rPr lang="fi-FI" i="1" dirty="0"/>
              <a:t>.NET Framework</a:t>
            </a:r>
            <a:r>
              <a:rPr lang="fi-FI" dirty="0"/>
              <a:t> -ympäristöä, tapahtuu kääntäminen sisäisesti kahdessa vaiheessa: Ohjelma käännetään ensin eräänlaiselle välikielelle, </a:t>
            </a:r>
            <a:r>
              <a:rPr lang="fi-FI" i="1" dirty="0" err="1"/>
              <a:t>MSIL</a:t>
            </a:r>
            <a:r>
              <a:rPr lang="fi-FI" dirty="0" err="1"/>
              <a:t>:lle</a:t>
            </a:r>
            <a:r>
              <a:rPr lang="fi-FI" dirty="0"/>
              <a:t> (Microsoft </a:t>
            </a:r>
            <a:r>
              <a:rPr lang="fi-FI" dirty="0" err="1"/>
              <a:t>Intermediate</a:t>
            </a:r>
            <a:r>
              <a:rPr lang="fi-FI" dirty="0"/>
              <a:t> Language), joka ei ole vielä suoritettavissa millään käyttöjärjestelmällä. Tästä välivaiheen koodista käännetään ajon aikana valmis ohjelma halutulle käyttöjärjestelmälle, kuten Mac </a:t>
            </a:r>
            <a:r>
              <a:rPr lang="fi-FI" dirty="0" err="1"/>
              <a:t>Os</a:t>
            </a:r>
            <a:r>
              <a:rPr lang="fi-FI" dirty="0"/>
              <a:t> X:lle tai Linuxille, niin sanotulla </a:t>
            </a:r>
            <a:r>
              <a:rPr lang="fi-FI" i="1" dirty="0"/>
              <a:t>JIT-kääntäjällä</a:t>
            </a:r>
            <a:r>
              <a:rPr lang="fi-FI" dirty="0"/>
              <a:t> (Just-In-Time). JIT-kääntäjä muuntaa välivaiheen koodin juuri halutulle käyttöjärjestelmälle sopivaksi koodiksi nimenomaan ohjelmaa ajettaessa - tästä tulee nimi ”just-in-</a:t>
            </a:r>
            <a:r>
              <a:rPr lang="fi-FI" dirty="0" err="1"/>
              <a:t>time</a:t>
            </a:r>
            <a:r>
              <a:rPr lang="fi-FI" dirty="0"/>
              <a:t>”.</a:t>
            </a:r>
          </a:p>
          <a:p>
            <a:r>
              <a:rPr lang="fi-FI" dirty="0"/>
              <a:t>Ennen ensimmäistä kääntämistä kääntäjä tarkastaa, että koodi on syntaksiltaan oikein. </a:t>
            </a:r>
          </a:p>
          <a:p>
            <a:r>
              <a:rPr lang="fi-FI" dirty="0"/>
              <a:t>Kääntäminen ja </a:t>
            </a:r>
            <a:r>
              <a:rPr lang="fi-FI" dirty="0" err="1"/>
              <a:t>Debuggaus</a:t>
            </a:r>
            <a:r>
              <a:rPr lang="fi-FI" dirty="0"/>
              <a:t> (tarkastus) tapahtuu F5-painikkeella</a:t>
            </a:r>
          </a:p>
          <a:p>
            <a:endParaRPr lang="fi-FI" dirty="0"/>
          </a:p>
        </p:txBody>
      </p:sp>
    </p:spTree>
    <p:extLst>
      <p:ext uri="{BB962C8B-B14F-4D97-AF65-F5344CB8AC3E}">
        <p14:creationId xmlns:p14="http://schemas.microsoft.com/office/powerpoint/2010/main" val="5362138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B3C2C6E1-D553-AF4C-A859-0F7C3E280F5B}"/>
              </a:ext>
            </a:extLst>
          </p:cNvPr>
          <p:cNvSpPr>
            <a:spLocks noGrp="1"/>
          </p:cNvSpPr>
          <p:nvPr>
            <p:ph type="title"/>
          </p:nvPr>
        </p:nvSpPr>
        <p:spPr>
          <a:xfrm>
            <a:off x="791918" y="0"/>
            <a:ext cx="5761282" cy="1440392"/>
          </a:xfrm>
        </p:spPr>
        <p:txBody>
          <a:bodyPr/>
          <a:lstStyle/>
          <a:p>
            <a:r>
              <a:rPr lang="fi-FI" dirty="0"/>
              <a:t>Koodin suorittaminen</a:t>
            </a:r>
          </a:p>
        </p:txBody>
      </p:sp>
      <p:sp>
        <p:nvSpPr>
          <p:cNvPr id="3" name="Sisällön paikkamerkki 2">
            <a:extLst>
              <a:ext uri="{FF2B5EF4-FFF2-40B4-BE49-F238E27FC236}">
                <a16:creationId xmlns:a16="http://schemas.microsoft.com/office/drawing/2014/main" id="{FF60E4F4-6867-0D4E-878C-1129B448F00C}"/>
              </a:ext>
            </a:extLst>
          </p:cNvPr>
          <p:cNvSpPr>
            <a:spLocks noGrp="1"/>
          </p:cNvSpPr>
          <p:nvPr>
            <p:ph sz="quarter" idx="12"/>
          </p:nvPr>
        </p:nvSpPr>
        <p:spPr>
          <a:xfrm>
            <a:off x="791918" y="1440391"/>
            <a:ext cx="6354317" cy="5228765"/>
          </a:xfrm>
        </p:spPr>
        <p:txBody>
          <a:bodyPr>
            <a:normAutofit/>
          </a:bodyPr>
          <a:lstStyle/>
          <a:p>
            <a:r>
              <a:rPr lang="fi-FI" dirty="0"/>
              <a:t>C#:n tuottaa siis lähdekoodista suoritettavan (tai ”ajettavan”) tiedoston. </a:t>
            </a:r>
          </a:p>
          <a:p>
            <a:r>
              <a:rPr lang="fi-FI" dirty="0"/>
              <a:t>Tämä tiedosto on käyttöjärjestelmäriippuvainen, ja suoritettavissa vain sillä alustalla, johon käännös on tehty. </a:t>
            </a:r>
          </a:p>
          <a:p>
            <a:r>
              <a:rPr lang="fi-FI" dirty="0"/>
              <a:t>Toisin sanoen, Windows-ympäristössä käännetyt ohjelmat eivät ole ajettavissa OS X -käyttöjärjestelmässä, ja toisin päin.</a:t>
            </a:r>
          </a:p>
          <a:p>
            <a:r>
              <a:rPr lang="fi-FI" dirty="0"/>
              <a:t>Toisin kuin C#, eräät toiset ohjelmointikielet tuottavat </a:t>
            </a:r>
            <a:r>
              <a:rPr lang="fi-FI" dirty="0" err="1"/>
              <a:t>käyttöjärjes-telmäriippumatonta</a:t>
            </a:r>
            <a:r>
              <a:rPr lang="fi-FI" dirty="0"/>
              <a:t> koodia. Esimerkiksi </a:t>
            </a:r>
            <a:r>
              <a:rPr lang="fi-FI" i="1" dirty="0"/>
              <a:t>Java</a:t>
            </a:r>
            <a:r>
              <a:rPr lang="fi-FI" dirty="0"/>
              <a:t>-kielessä kääntäjän tuottama tiedosto on niin sanottua </a:t>
            </a:r>
            <a:r>
              <a:rPr lang="fi-FI" i="1" dirty="0"/>
              <a:t>tavukoodia</a:t>
            </a:r>
            <a:r>
              <a:rPr lang="fi-FI" dirty="0"/>
              <a:t>, joka on käyttöjärjestelmäriippumatonta koodia. </a:t>
            </a:r>
          </a:p>
          <a:p>
            <a:r>
              <a:rPr lang="fi-FI" dirty="0"/>
              <a:t>Tavukoodin suorittamiseen tarvitaan Java-virtuaalikone (Java Virtual Machine). </a:t>
            </a:r>
          </a:p>
          <a:p>
            <a:r>
              <a:rPr lang="fi-FI" dirty="0"/>
              <a:t>Java-virtuaalikone on oikeaa tietokonetta matkiva ohjelma, joka tulkkaa tavukoodia ja suorittaa sitä sitten kohdekoneen prosessorilla. </a:t>
            </a:r>
          </a:p>
          <a:p>
            <a:r>
              <a:rPr lang="fi-FI" dirty="0"/>
              <a:t>Tässä on merkittävä ero perinteisiin käännettäviin kieliin (esimerkiksi C ja C++), joissa käännös on tehtävä erikseen jokaiselle eri laitealustalle. </a:t>
            </a:r>
          </a:p>
          <a:p>
            <a:endParaRPr lang="fi-FI" dirty="0"/>
          </a:p>
        </p:txBody>
      </p:sp>
    </p:spTree>
    <p:extLst>
      <p:ext uri="{BB962C8B-B14F-4D97-AF65-F5344CB8AC3E}">
        <p14:creationId xmlns:p14="http://schemas.microsoft.com/office/powerpoint/2010/main" val="38835540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75643FC2-EAD5-E64F-9789-45C535A2AECC}"/>
              </a:ext>
            </a:extLst>
          </p:cNvPr>
          <p:cNvSpPr>
            <a:spLocks noGrp="1"/>
          </p:cNvSpPr>
          <p:nvPr>
            <p:ph type="title"/>
          </p:nvPr>
        </p:nvSpPr>
        <p:spPr>
          <a:xfrm>
            <a:off x="791918" y="850059"/>
            <a:ext cx="5761282" cy="1440392"/>
          </a:xfrm>
        </p:spPr>
        <p:txBody>
          <a:bodyPr/>
          <a:lstStyle/>
          <a:p>
            <a:r>
              <a:rPr lang="fi-FI" dirty="0"/>
              <a:t>Muuttujat</a:t>
            </a:r>
          </a:p>
        </p:txBody>
      </p:sp>
      <p:sp>
        <p:nvSpPr>
          <p:cNvPr id="3" name="Sisällön paikkamerkki 2">
            <a:extLst>
              <a:ext uri="{FF2B5EF4-FFF2-40B4-BE49-F238E27FC236}">
                <a16:creationId xmlns:a16="http://schemas.microsoft.com/office/drawing/2014/main" id="{621C7A49-CDB8-384D-AD1C-F2110600B92B}"/>
              </a:ext>
            </a:extLst>
          </p:cNvPr>
          <p:cNvSpPr>
            <a:spLocks noGrp="1"/>
          </p:cNvSpPr>
          <p:nvPr>
            <p:ph sz="quarter" idx="12"/>
          </p:nvPr>
        </p:nvSpPr>
        <p:spPr>
          <a:xfrm>
            <a:off x="791918" y="2290452"/>
            <a:ext cx="5248647" cy="3717490"/>
          </a:xfrm>
        </p:spPr>
        <p:txBody>
          <a:bodyPr>
            <a:normAutofit/>
          </a:bodyPr>
          <a:lstStyle/>
          <a:p>
            <a:r>
              <a:rPr lang="fi-FI" dirty="0"/>
              <a:t>Jotta tietokoneella voi </a:t>
            </a:r>
            <a:r>
              <a:rPr lang="fi-FI" dirty="0" err="1"/>
              <a:t>teettäa</a:t>
            </a:r>
            <a:r>
              <a:rPr lang="fi-FI" dirty="0"/>
              <a:t>̈ laskutoimituksia, on ohjelmoijan </a:t>
            </a:r>
            <a:r>
              <a:rPr lang="fi-FI" dirty="0" err="1"/>
              <a:t>nimettäva</a:t>
            </a:r>
            <a:r>
              <a:rPr lang="fi-FI" dirty="0"/>
              <a:t>̈ muistipaikat, joihin kone sijoittaa operandit ja lopputulokset (</a:t>
            </a:r>
            <a:r>
              <a:rPr lang="fi-FI" dirty="0" err="1"/>
              <a:t>tehdään</a:t>
            </a:r>
            <a:r>
              <a:rPr lang="fi-FI" dirty="0"/>
              <a:t> tilanvaraus). </a:t>
            </a:r>
          </a:p>
          <a:p>
            <a:r>
              <a:rPr lang="fi-FI" dirty="0" err="1"/>
              <a:t>Näita</a:t>
            </a:r>
            <a:r>
              <a:rPr lang="fi-FI" dirty="0"/>
              <a:t>̈ muistipaikkoja kutsutaan muuttujiksi. </a:t>
            </a:r>
          </a:p>
          <a:p>
            <a:r>
              <a:rPr lang="fi-FI" dirty="0"/>
              <a:t>Voidaan siis </a:t>
            </a:r>
            <a:r>
              <a:rPr lang="fi-FI" dirty="0" err="1"/>
              <a:t>määritella</a:t>
            </a:r>
            <a:r>
              <a:rPr lang="fi-FI" dirty="0"/>
              <a:t>̈, </a:t>
            </a:r>
            <a:r>
              <a:rPr lang="fi-FI" dirty="0" err="1"/>
              <a:t>etta</a:t>
            </a:r>
            <a:r>
              <a:rPr lang="fi-FI" dirty="0"/>
              <a:t>̈ </a:t>
            </a:r>
            <a:r>
              <a:rPr lang="fi-FI" dirty="0" err="1"/>
              <a:t>käytetään</a:t>
            </a:r>
            <a:r>
              <a:rPr lang="fi-FI" dirty="0"/>
              <a:t> muuttujia, joiden nimet ovat </a:t>
            </a:r>
            <a:r>
              <a:rPr lang="fi-FI" b="1" dirty="0"/>
              <a:t>eka</a:t>
            </a:r>
            <a:r>
              <a:rPr lang="fi-FI" dirty="0"/>
              <a:t> ja </a:t>
            </a:r>
            <a:r>
              <a:rPr lang="fi-FI" b="1" dirty="0" err="1"/>
              <a:t>toka</a:t>
            </a:r>
            <a:r>
              <a:rPr lang="fi-FI" dirty="0"/>
              <a:t> ja </a:t>
            </a:r>
            <a:r>
              <a:rPr lang="fi-FI" dirty="0" err="1"/>
              <a:t>näiden</a:t>
            </a:r>
            <a:r>
              <a:rPr lang="fi-FI" dirty="0"/>
              <a:t> summaa varten </a:t>
            </a:r>
            <a:r>
              <a:rPr lang="fi-FI" dirty="0" err="1"/>
              <a:t>määritellään</a:t>
            </a:r>
            <a:r>
              <a:rPr lang="fi-FI" dirty="0"/>
              <a:t> muuttuja </a:t>
            </a:r>
            <a:r>
              <a:rPr lang="fi-FI" b="1" dirty="0"/>
              <a:t>summa</a:t>
            </a:r>
            <a:r>
              <a:rPr lang="fi-FI" dirty="0"/>
              <a:t>. </a:t>
            </a:r>
          </a:p>
          <a:p>
            <a:r>
              <a:rPr lang="fi-FI" dirty="0"/>
              <a:t>Annetaan </a:t>
            </a:r>
            <a:r>
              <a:rPr lang="fi-FI" dirty="0" err="1"/>
              <a:t>ekalle</a:t>
            </a:r>
            <a:r>
              <a:rPr lang="fi-FI" dirty="0"/>
              <a:t> ja tokalle arvot. </a:t>
            </a:r>
            <a:r>
              <a:rPr lang="fi-FI" dirty="0" err="1"/>
              <a:t>Tämän</a:t>
            </a:r>
            <a:r>
              <a:rPr lang="fi-FI" dirty="0"/>
              <a:t> </a:t>
            </a:r>
            <a:r>
              <a:rPr lang="fi-FI" dirty="0" err="1"/>
              <a:t>jälkeen</a:t>
            </a:r>
            <a:r>
              <a:rPr lang="fi-FI" dirty="0"/>
              <a:t> voidaankin </a:t>
            </a:r>
            <a:r>
              <a:rPr lang="fi-FI" dirty="0" err="1"/>
              <a:t>käskea</a:t>
            </a:r>
            <a:r>
              <a:rPr lang="fi-FI" dirty="0"/>
              <a:t>̈ koneen laskemaan </a:t>
            </a:r>
            <a:r>
              <a:rPr lang="fi-FI" dirty="0" err="1"/>
              <a:t>ekan</a:t>
            </a:r>
            <a:r>
              <a:rPr lang="fi-FI" dirty="0"/>
              <a:t> ja tokan summan lauseella: </a:t>
            </a:r>
          </a:p>
          <a:p>
            <a:r>
              <a:rPr lang="fi-FI" dirty="0"/>
              <a:t>summa = eka + </a:t>
            </a:r>
            <a:r>
              <a:rPr lang="fi-FI" dirty="0" err="1"/>
              <a:t>toka</a:t>
            </a:r>
            <a:r>
              <a:rPr lang="fi-FI" dirty="0"/>
              <a:t>; </a:t>
            </a:r>
          </a:p>
          <a:p>
            <a:endParaRPr lang="fi-FI" dirty="0"/>
          </a:p>
        </p:txBody>
      </p:sp>
    </p:spTree>
    <p:extLst>
      <p:ext uri="{BB962C8B-B14F-4D97-AF65-F5344CB8AC3E}">
        <p14:creationId xmlns:p14="http://schemas.microsoft.com/office/powerpoint/2010/main" val="33890736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267F1A4-8ED4-D845-8055-31B57CBA1531}"/>
              </a:ext>
            </a:extLst>
          </p:cNvPr>
          <p:cNvSpPr>
            <a:spLocks noGrp="1"/>
          </p:cNvSpPr>
          <p:nvPr>
            <p:ph type="title"/>
          </p:nvPr>
        </p:nvSpPr>
        <p:spPr/>
        <p:txBody>
          <a:bodyPr/>
          <a:lstStyle/>
          <a:p>
            <a:r>
              <a:rPr lang="fi-FI" dirty="0"/>
              <a:t>Muuttujien määrittelyt</a:t>
            </a:r>
          </a:p>
        </p:txBody>
      </p:sp>
      <p:sp>
        <p:nvSpPr>
          <p:cNvPr id="3" name="Sisällön paikkamerkki 2">
            <a:extLst>
              <a:ext uri="{FF2B5EF4-FFF2-40B4-BE49-F238E27FC236}">
                <a16:creationId xmlns:a16="http://schemas.microsoft.com/office/drawing/2014/main" id="{52842968-EC8F-CA42-A714-63CAFA202876}"/>
              </a:ext>
            </a:extLst>
          </p:cNvPr>
          <p:cNvSpPr>
            <a:spLocks noGrp="1"/>
          </p:cNvSpPr>
          <p:nvPr>
            <p:ph sz="quarter" idx="12"/>
          </p:nvPr>
        </p:nvSpPr>
        <p:spPr/>
        <p:txBody>
          <a:bodyPr/>
          <a:lstStyle/>
          <a:p>
            <a:r>
              <a:rPr lang="fi-FI" dirty="0"/>
              <a:t>Aivan </a:t>
            </a:r>
            <a:r>
              <a:rPr lang="fi-FI" dirty="0" err="1"/>
              <a:t>näin</a:t>
            </a:r>
            <a:r>
              <a:rPr lang="fi-FI" dirty="0"/>
              <a:t> yksinkertainen tilanne ei kuitenkaan ole. </a:t>
            </a:r>
          </a:p>
          <a:p>
            <a:r>
              <a:rPr lang="fi-FI" dirty="0" err="1"/>
              <a:t>Myös</a:t>
            </a:r>
            <a:r>
              <a:rPr lang="fi-FI" dirty="0"/>
              <a:t> muuttujien tyyppi on </a:t>
            </a:r>
            <a:r>
              <a:rPr lang="fi-FI" dirty="0" err="1"/>
              <a:t>määriteltäva</a:t>
            </a:r>
            <a:r>
              <a:rPr lang="fi-FI" dirty="0"/>
              <a:t>̈ </a:t>
            </a:r>
            <a:r>
              <a:rPr lang="fi-FI" dirty="0" err="1"/>
              <a:t>etukäteen</a:t>
            </a:r>
            <a:r>
              <a:rPr lang="fi-FI" dirty="0"/>
              <a:t>. </a:t>
            </a:r>
          </a:p>
          <a:p>
            <a:r>
              <a:rPr lang="fi-FI" dirty="0"/>
              <a:t>Tyyppi tarkoittaa, </a:t>
            </a:r>
            <a:r>
              <a:rPr lang="fi-FI" dirty="0" err="1"/>
              <a:t>minkälaista</a:t>
            </a:r>
            <a:r>
              <a:rPr lang="fi-FI" dirty="0"/>
              <a:t> tietoa muuttujaan aiotaan sijoittaa. </a:t>
            </a:r>
          </a:p>
          <a:p>
            <a:r>
              <a:rPr lang="fi-FI" dirty="0"/>
              <a:t>Erilaisia </a:t>
            </a:r>
            <a:r>
              <a:rPr lang="fi-FI" dirty="0" err="1"/>
              <a:t>tyyppeja</a:t>
            </a:r>
            <a:r>
              <a:rPr lang="fi-FI" dirty="0"/>
              <a:t>̈ ovat esimerkiksi kokonaisluku, liukuluku (desimaaliluku) ja merkkijono. </a:t>
            </a:r>
          </a:p>
          <a:p>
            <a:endParaRPr lang="fi-FI" dirty="0"/>
          </a:p>
          <a:p>
            <a:endParaRPr lang="fi-FI" dirty="0"/>
          </a:p>
        </p:txBody>
      </p:sp>
    </p:spTree>
    <p:extLst>
      <p:ext uri="{BB962C8B-B14F-4D97-AF65-F5344CB8AC3E}">
        <p14:creationId xmlns:p14="http://schemas.microsoft.com/office/powerpoint/2010/main" val="18519257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C8889FC4-0FAB-054F-93E5-84F6198ECABC}"/>
              </a:ext>
            </a:extLst>
          </p:cNvPr>
          <p:cNvSpPr>
            <a:spLocks noGrp="1"/>
          </p:cNvSpPr>
          <p:nvPr>
            <p:ph type="title"/>
          </p:nvPr>
        </p:nvSpPr>
        <p:spPr>
          <a:xfrm>
            <a:off x="791918" y="88356"/>
            <a:ext cx="5761282" cy="1440392"/>
          </a:xfrm>
        </p:spPr>
        <p:txBody>
          <a:bodyPr/>
          <a:lstStyle/>
          <a:p>
            <a:r>
              <a:rPr lang="fi-FI" dirty="0"/>
              <a:t>Tietotyypit</a:t>
            </a:r>
          </a:p>
        </p:txBody>
      </p:sp>
      <p:sp>
        <p:nvSpPr>
          <p:cNvPr id="3" name="Sisällön paikkamerkki 2">
            <a:extLst>
              <a:ext uri="{FF2B5EF4-FFF2-40B4-BE49-F238E27FC236}">
                <a16:creationId xmlns:a16="http://schemas.microsoft.com/office/drawing/2014/main" id="{A0E61794-8943-3247-9849-77338162DED2}"/>
              </a:ext>
            </a:extLst>
          </p:cNvPr>
          <p:cNvSpPr>
            <a:spLocks noGrp="1"/>
          </p:cNvSpPr>
          <p:nvPr>
            <p:ph sz="quarter" idx="12"/>
          </p:nvPr>
        </p:nvSpPr>
        <p:spPr>
          <a:xfrm>
            <a:off x="791918" y="1528748"/>
            <a:ext cx="3213552" cy="4568645"/>
          </a:xfrm>
        </p:spPr>
        <p:txBody>
          <a:bodyPr/>
          <a:lstStyle/>
          <a:p>
            <a:r>
              <a:rPr lang="fi-FI" dirty="0" err="1"/>
              <a:t>bool</a:t>
            </a:r>
            <a:r>
              <a:rPr lang="fi-FI" dirty="0"/>
              <a:t> (</a:t>
            </a:r>
            <a:r>
              <a:rPr lang="fi-FI" dirty="0" err="1"/>
              <a:t>true</a:t>
            </a:r>
            <a:r>
              <a:rPr lang="fi-FI" dirty="0"/>
              <a:t> / </a:t>
            </a:r>
            <a:r>
              <a:rPr lang="fi-FI" dirty="0" err="1"/>
              <a:t>false</a:t>
            </a:r>
            <a:r>
              <a:rPr lang="fi-FI" dirty="0"/>
              <a:t>)</a:t>
            </a:r>
          </a:p>
          <a:p>
            <a:r>
              <a:rPr lang="fi-FI" dirty="0" err="1"/>
              <a:t>char</a:t>
            </a:r>
            <a:r>
              <a:rPr lang="fi-FI" dirty="0"/>
              <a:t> (merkki)</a:t>
            </a:r>
          </a:p>
          <a:p>
            <a:r>
              <a:rPr lang="fi-FI" dirty="0" err="1"/>
              <a:t>sbyte</a:t>
            </a:r>
            <a:r>
              <a:rPr lang="fi-FI" dirty="0"/>
              <a:t> (-128 – 127)</a:t>
            </a:r>
          </a:p>
          <a:p>
            <a:r>
              <a:rPr lang="fi-FI" dirty="0" err="1"/>
              <a:t>byte</a:t>
            </a:r>
            <a:r>
              <a:rPr lang="fi-FI" dirty="0"/>
              <a:t> (0 – 255)</a:t>
            </a:r>
          </a:p>
          <a:p>
            <a:r>
              <a:rPr lang="fi-FI" dirty="0" err="1"/>
              <a:t>short</a:t>
            </a:r>
            <a:r>
              <a:rPr lang="fi-FI" dirty="0"/>
              <a:t> (-32768 - 32767) </a:t>
            </a:r>
          </a:p>
          <a:p>
            <a:r>
              <a:rPr lang="fi-FI" dirty="0" err="1"/>
              <a:t>ushort</a:t>
            </a:r>
            <a:r>
              <a:rPr lang="fi-FI" dirty="0"/>
              <a:t> (0 – 65535)</a:t>
            </a:r>
          </a:p>
          <a:p>
            <a:r>
              <a:rPr lang="fi-FI" dirty="0" err="1"/>
              <a:t>int</a:t>
            </a:r>
            <a:r>
              <a:rPr lang="fi-FI" dirty="0"/>
              <a:t> (-2,147,483,648 - 2,147,483,647)</a:t>
            </a:r>
          </a:p>
          <a:p>
            <a:r>
              <a:rPr lang="fi-FI" dirty="0" err="1"/>
              <a:t>uint</a:t>
            </a:r>
            <a:r>
              <a:rPr lang="fi-FI" dirty="0"/>
              <a:t> (0 - 4,294,967,295)</a:t>
            </a:r>
          </a:p>
          <a:p>
            <a:r>
              <a:rPr lang="fi-FI" dirty="0"/>
              <a:t>long </a:t>
            </a:r>
            <a:br>
              <a:rPr lang="fi-FI" dirty="0"/>
            </a:br>
            <a:r>
              <a:rPr lang="fi-FI" dirty="0"/>
              <a:t>(-9,223,372,036,854,775,808 - 9,223,372,036,854,775,807)</a:t>
            </a:r>
          </a:p>
          <a:p>
            <a:r>
              <a:rPr lang="fi-FI" dirty="0" err="1"/>
              <a:t>ulong</a:t>
            </a:r>
            <a:r>
              <a:rPr lang="fi-FI" dirty="0"/>
              <a:t> (0 - 18,446,744,073,709,551,615)</a:t>
            </a:r>
          </a:p>
        </p:txBody>
      </p:sp>
      <p:sp>
        <p:nvSpPr>
          <p:cNvPr id="4" name="Sisällön paikkamerkki 2">
            <a:extLst>
              <a:ext uri="{FF2B5EF4-FFF2-40B4-BE49-F238E27FC236}">
                <a16:creationId xmlns:a16="http://schemas.microsoft.com/office/drawing/2014/main" id="{A0E61794-8943-3247-9849-77338162DED2}"/>
              </a:ext>
            </a:extLst>
          </p:cNvPr>
          <p:cNvSpPr>
            <a:spLocks noGrp="1"/>
          </p:cNvSpPr>
          <p:nvPr/>
        </p:nvSpPr>
        <p:spPr>
          <a:xfrm>
            <a:off x="4152951" y="3212906"/>
            <a:ext cx="3064465" cy="2884487"/>
          </a:xfrm>
          <a:prstGeom prst="rect">
            <a:avLst/>
          </a:prstGeom>
        </p:spPr>
        <p:txBody>
          <a:bodyPr>
            <a:normAutofit/>
          </a:bodyPr>
          <a:lstStyle>
            <a:lvl1pPr marL="342900" indent="-34290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1pPr>
            <a:lvl2pPr marL="742950" indent="-28575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2pPr>
            <a:lvl3pPr marL="1143000" indent="-22860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3pPr>
            <a:lvl4pPr marL="1600200" indent="-22860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4pPr>
            <a:lvl5pPr marL="2057400" indent="-22860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fi-FI"/>
          </a:p>
        </p:txBody>
      </p:sp>
      <p:sp>
        <p:nvSpPr>
          <p:cNvPr id="5" name="Sisällön paikkamerkki 2">
            <a:extLst>
              <a:ext uri="{FF2B5EF4-FFF2-40B4-BE49-F238E27FC236}">
                <a16:creationId xmlns:a16="http://schemas.microsoft.com/office/drawing/2014/main" id="{A0E61794-8943-3247-9849-77338162DED2}"/>
              </a:ext>
            </a:extLst>
          </p:cNvPr>
          <p:cNvSpPr>
            <a:spLocks noGrp="1"/>
          </p:cNvSpPr>
          <p:nvPr/>
        </p:nvSpPr>
        <p:spPr>
          <a:xfrm>
            <a:off x="4152951" y="3212906"/>
            <a:ext cx="3064465" cy="2884487"/>
          </a:xfrm>
          <a:prstGeom prst="rect">
            <a:avLst/>
          </a:prstGeom>
        </p:spPr>
        <p:txBody>
          <a:bodyPr>
            <a:normAutofit/>
          </a:bodyPr>
          <a:lstStyle>
            <a:lvl1pPr marL="342900" indent="-34290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1pPr>
            <a:lvl2pPr marL="742950" indent="-28575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2pPr>
            <a:lvl3pPr marL="1143000" indent="-22860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3pPr>
            <a:lvl4pPr marL="1600200" indent="-22860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4pPr>
            <a:lvl5pPr marL="2057400" indent="-22860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fi-FI"/>
          </a:p>
        </p:txBody>
      </p:sp>
      <p:sp>
        <p:nvSpPr>
          <p:cNvPr id="6" name="Sisällön paikkamerkki 2">
            <a:extLst>
              <a:ext uri="{FF2B5EF4-FFF2-40B4-BE49-F238E27FC236}">
                <a16:creationId xmlns:a16="http://schemas.microsoft.com/office/drawing/2014/main" id="{A0E61794-8943-3247-9849-77338162DED2}"/>
              </a:ext>
            </a:extLst>
          </p:cNvPr>
          <p:cNvSpPr>
            <a:spLocks noGrp="1"/>
          </p:cNvSpPr>
          <p:nvPr/>
        </p:nvSpPr>
        <p:spPr>
          <a:xfrm>
            <a:off x="3039767" y="1986757"/>
            <a:ext cx="3064465" cy="2884487"/>
          </a:xfrm>
          <a:prstGeom prst="rect">
            <a:avLst/>
          </a:prstGeom>
        </p:spPr>
        <p:txBody>
          <a:bodyPr>
            <a:normAutofit/>
          </a:bodyPr>
          <a:lstStyle>
            <a:lvl1pPr marL="342900" indent="-34290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1pPr>
            <a:lvl2pPr marL="742950" indent="-28575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2pPr>
            <a:lvl3pPr marL="1143000" indent="-22860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3pPr>
            <a:lvl4pPr marL="1600200" indent="-22860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4pPr>
            <a:lvl5pPr marL="2057400" indent="-22860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fi-FI"/>
          </a:p>
        </p:txBody>
      </p:sp>
      <p:sp>
        <p:nvSpPr>
          <p:cNvPr id="7" name="Tekstiruutu 6">
            <a:extLst>
              <a:ext uri="{FF2B5EF4-FFF2-40B4-BE49-F238E27FC236}">
                <a16:creationId xmlns:a16="http://schemas.microsoft.com/office/drawing/2014/main" id="{51781C54-B713-D044-9D70-F9EF8CE3B17C}"/>
              </a:ext>
            </a:extLst>
          </p:cNvPr>
          <p:cNvSpPr txBox="1"/>
          <p:nvPr/>
        </p:nvSpPr>
        <p:spPr>
          <a:xfrm>
            <a:off x="4088295" y="1531315"/>
            <a:ext cx="4340088" cy="3139321"/>
          </a:xfrm>
          <a:prstGeom prst="rect">
            <a:avLst/>
          </a:prstGeom>
          <a:noFill/>
        </p:spPr>
        <p:txBody>
          <a:bodyPr wrap="square" rtlCol="0">
            <a:spAutoFit/>
          </a:bodyPr>
          <a:lstStyle/>
          <a:p>
            <a:pPr marL="285750" indent="-285750">
              <a:buFont typeface="Arial" panose="020B0604020202020204" pitchFamily="34" charset="0"/>
              <a:buChar char="•"/>
            </a:pPr>
            <a:r>
              <a:rPr lang="fi-FI" dirty="0" err="1"/>
              <a:t>float</a:t>
            </a:r>
            <a:r>
              <a:rPr lang="fi-FI" dirty="0"/>
              <a:t> (	-3.402823e38 - 3.402823e38)</a:t>
            </a:r>
          </a:p>
          <a:p>
            <a:pPr marL="285750" indent="-285750">
              <a:buFont typeface="Arial" panose="020B0604020202020204" pitchFamily="34" charset="0"/>
              <a:buChar char="•"/>
            </a:pPr>
            <a:r>
              <a:rPr lang="fi-FI" dirty="0" err="1"/>
              <a:t>double</a:t>
            </a:r>
            <a:r>
              <a:rPr lang="fi-FI" dirty="0"/>
              <a:t> (-1.79769313486232e308 </a:t>
            </a:r>
            <a:br>
              <a:rPr lang="fi-FI" dirty="0"/>
            </a:br>
            <a:r>
              <a:rPr lang="fi-FI" dirty="0"/>
              <a:t>- 1.79769313486232e308)</a:t>
            </a:r>
          </a:p>
          <a:p>
            <a:pPr marL="285750" indent="-285750">
              <a:buFont typeface="Arial" panose="020B0604020202020204" pitchFamily="34" charset="0"/>
              <a:buChar char="•"/>
            </a:pPr>
            <a:r>
              <a:rPr lang="fi-FI" dirty="0" err="1"/>
              <a:t>decimal</a:t>
            </a:r>
            <a:r>
              <a:rPr lang="fi-FI" dirty="0"/>
              <a:t> (+ </a:t>
            </a:r>
            <a:r>
              <a:rPr lang="fi-FI" dirty="0" err="1"/>
              <a:t>or</a:t>
            </a:r>
            <a:r>
              <a:rPr lang="fi-FI" dirty="0"/>
              <a:t> -)1.0 x 10e-28 - 7.9 x 10e28</a:t>
            </a:r>
          </a:p>
          <a:p>
            <a:pPr marL="285750" indent="-285750">
              <a:buFont typeface="Arial" panose="020B0604020202020204" pitchFamily="34" charset="0"/>
              <a:buChar char="•"/>
            </a:pPr>
            <a:r>
              <a:rPr lang="fi-FI" dirty="0" err="1"/>
              <a:t>object</a:t>
            </a:r>
            <a:r>
              <a:rPr lang="fi-FI" dirty="0"/>
              <a:t> (perustyyppi muille tyypeille)</a:t>
            </a:r>
          </a:p>
          <a:p>
            <a:pPr marL="285750" indent="-285750">
              <a:buFont typeface="Arial" panose="020B0604020202020204" pitchFamily="34" charset="0"/>
              <a:buChar char="•"/>
            </a:pPr>
            <a:r>
              <a:rPr lang="fi-FI" dirty="0" err="1"/>
              <a:t>string</a:t>
            </a:r>
            <a:r>
              <a:rPr lang="fi-FI" dirty="0"/>
              <a:t> (sarja </a:t>
            </a:r>
            <a:r>
              <a:rPr lang="fi-FI" dirty="0" err="1"/>
              <a:t>unicode</a:t>
            </a:r>
            <a:r>
              <a:rPr lang="fi-FI" dirty="0"/>
              <a:t> merkkejä) </a:t>
            </a:r>
          </a:p>
          <a:p>
            <a:pPr marL="285750" indent="-285750">
              <a:buFont typeface="Arial" panose="020B0604020202020204" pitchFamily="34" charset="0"/>
              <a:buChar char="•"/>
            </a:pPr>
            <a:r>
              <a:rPr lang="fi-FI" dirty="0" err="1"/>
              <a:t>DateTime</a:t>
            </a:r>
            <a:r>
              <a:rPr lang="fi-FI" dirty="0"/>
              <a:t> (päivän ja ajan esitysmuoto)</a:t>
            </a:r>
          </a:p>
          <a:p>
            <a:pPr marL="285750" indent="-285750">
              <a:buFont typeface="Arial" panose="020B0604020202020204" pitchFamily="34" charset="0"/>
              <a:buChar char="•"/>
            </a:pPr>
            <a:endParaRPr lang="fi-FI" dirty="0"/>
          </a:p>
          <a:p>
            <a:pPr marL="285750" indent="-285750">
              <a:buFont typeface="Arial" panose="020B0604020202020204" pitchFamily="34" charset="0"/>
              <a:buChar char="•"/>
            </a:pPr>
            <a:r>
              <a:rPr lang="fi-FI" dirty="0" err="1"/>
              <a:t>enum</a:t>
            </a:r>
            <a:r>
              <a:rPr lang="fi-FI" dirty="0"/>
              <a:t> (sarja numeroita, 0, 1, 2, …)</a:t>
            </a:r>
          </a:p>
          <a:p>
            <a:pPr marL="285750" indent="-285750">
              <a:buFont typeface="Arial" panose="020B0604020202020204" pitchFamily="34" charset="0"/>
              <a:buChar char="•"/>
            </a:pPr>
            <a:r>
              <a:rPr lang="fi-FI" dirty="0" err="1"/>
              <a:t>const</a:t>
            </a:r>
            <a:r>
              <a:rPr lang="fi-FI" dirty="0"/>
              <a:t> vakioarvo (muuttumaton), </a:t>
            </a:r>
            <a:br>
              <a:rPr lang="fi-FI" dirty="0"/>
            </a:br>
            <a:r>
              <a:rPr lang="fi-FI" dirty="0"/>
              <a:t>esim. </a:t>
            </a:r>
            <a:r>
              <a:rPr lang="fi-FI" dirty="0" err="1"/>
              <a:t>const</a:t>
            </a:r>
            <a:r>
              <a:rPr lang="fi-FI" dirty="0"/>
              <a:t> </a:t>
            </a:r>
            <a:r>
              <a:rPr lang="fi-FI" dirty="0" err="1"/>
              <a:t>double</a:t>
            </a:r>
            <a:r>
              <a:rPr lang="fi-FI" dirty="0"/>
              <a:t> pii = 3.14</a:t>
            </a:r>
          </a:p>
        </p:txBody>
      </p:sp>
    </p:spTree>
    <p:extLst>
      <p:ext uri="{BB962C8B-B14F-4D97-AF65-F5344CB8AC3E}">
        <p14:creationId xmlns:p14="http://schemas.microsoft.com/office/powerpoint/2010/main" val="7703616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84F865F2-1F14-2645-BBC4-576BF1B0D676}"/>
              </a:ext>
            </a:extLst>
          </p:cNvPr>
          <p:cNvSpPr>
            <a:spLocks noGrp="1"/>
          </p:cNvSpPr>
          <p:nvPr>
            <p:ph type="title"/>
          </p:nvPr>
        </p:nvSpPr>
        <p:spPr>
          <a:xfrm>
            <a:off x="811796" y="1758554"/>
            <a:ext cx="5761282" cy="1440392"/>
          </a:xfrm>
        </p:spPr>
        <p:txBody>
          <a:bodyPr/>
          <a:lstStyle/>
          <a:p>
            <a:r>
              <a:rPr lang="fi-FI" dirty="0" err="1"/>
              <a:t>DateTimen</a:t>
            </a:r>
            <a:r>
              <a:rPr lang="fi-FI" dirty="0"/>
              <a:t> käyttö</a:t>
            </a:r>
          </a:p>
        </p:txBody>
      </p:sp>
      <p:sp>
        <p:nvSpPr>
          <p:cNvPr id="3" name="Sisällön paikkamerkki 2">
            <a:extLst>
              <a:ext uri="{FF2B5EF4-FFF2-40B4-BE49-F238E27FC236}">
                <a16:creationId xmlns:a16="http://schemas.microsoft.com/office/drawing/2014/main" id="{4CFBF724-A6BC-DE41-901B-50CCFFA6B548}"/>
              </a:ext>
            </a:extLst>
          </p:cNvPr>
          <p:cNvSpPr>
            <a:spLocks noGrp="1"/>
          </p:cNvSpPr>
          <p:nvPr>
            <p:ph sz="quarter" idx="12"/>
          </p:nvPr>
        </p:nvSpPr>
        <p:spPr>
          <a:xfrm>
            <a:off x="811796" y="3298056"/>
            <a:ext cx="7633464" cy="2884487"/>
          </a:xfrm>
        </p:spPr>
        <p:txBody>
          <a:bodyPr/>
          <a:lstStyle/>
          <a:p>
            <a:r>
              <a:rPr lang="fi-FI" dirty="0"/>
              <a:t>Yllä olevassa esimerkissä käytetään </a:t>
            </a:r>
            <a:r>
              <a:rPr lang="fi-FI" dirty="0" err="1"/>
              <a:t>DateTime</a:t>
            </a:r>
            <a:r>
              <a:rPr lang="fi-FI" dirty="0"/>
              <a:t>-luokan metodeja hyväkseen:</a:t>
            </a:r>
          </a:p>
          <a:p>
            <a:r>
              <a:rPr lang="fi-FI" dirty="0"/>
              <a:t>Lähes saman voisi tehdä:</a:t>
            </a:r>
            <a:br>
              <a:rPr lang="fi-FI" dirty="0"/>
            </a:br>
            <a:r>
              <a:rPr lang="fi-FI" sz="1800" dirty="0" err="1">
                <a:solidFill>
                  <a:srgbClr val="000000"/>
                </a:solidFill>
                <a:latin typeface="Cascadia Mono" panose="020B0609020000020004" pitchFamily="49" charset="0"/>
              </a:rPr>
              <a:t>Console.Write</a:t>
            </a:r>
            <a:r>
              <a:rPr lang="fi-FI" sz="1800" dirty="0">
                <a:solidFill>
                  <a:srgbClr val="000000"/>
                </a:solidFill>
                <a:latin typeface="Cascadia Mono" panose="020B0609020000020004" pitchFamily="49" charset="0"/>
              </a:rPr>
              <a:t>(</a:t>
            </a:r>
            <a:r>
              <a:rPr lang="fi-FI" sz="1800" dirty="0">
                <a:solidFill>
                  <a:srgbClr val="A31515"/>
                </a:solidFill>
                <a:latin typeface="Cascadia Mono" panose="020B0609020000020004" pitchFamily="49" charset="0"/>
              </a:rPr>
              <a:t>"\</a:t>
            </a:r>
            <a:r>
              <a:rPr lang="fi-FI" sz="1800" dirty="0" err="1">
                <a:solidFill>
                  <a:srgbClr val="A31515"/>
                </a:solidFill>
                <a:latin typeface="Cascadia Mono" panose="020B0609020000020004" pitchFamily="49" charset="0"/>
              </a:rPr>
              <a:t>nNyt</a:t>
            </a:r>
            <a:r>
              <a:rPr lang="fi-FI" sz="1800" dirty="0">
                <a:solidFill>
                  <a:srgbClr val="A31515"/>
                </a:solidFill>
                <a:latin typeface="Cascadia Mono" panose="020B0609020000020004" pitchFamily="49" charset="0"/>
              </a:rPr>
              <a:t> on "</a:t>
            </a:r>
            <a:r>
              <a:rPr lang="fi-FI" sz="1800" dirty="0">
                <a:solidFill>
                  <a:srgbClr val="000000"/>
                </a:solidFill>
                <a:latin typeface="Cascadia Mono" panose="020B0609020000020004" pitchFamily="49" charset="0"/>
              </a:rPr>
              <a:t> + </a:t>
            </a:r>
            <a:r>
              <a:rPr lang="fi-FI" sz="1800" dirty="0" err="1">
                <a:solidFill>
                  <a:srgbClr val="000000"/>
                </a:solidFill>
                <a:latin typeface="Cascadia Mono" panose="020B0609020000020004" pitchFamily="49" charset="0"/>
              </a:rPr>
              <a:t>DateTime.Now.ToString</a:t>
            </a:r>
            <a:r>
              <a:rPr lang="fi-FI" sz="1800" dirty="0">
                <a:solidFill>
                  <a:srgbClr val="000000"/>
                </a:solidFill>
                <a:latin typeface="Cascadia Mono" panose="020B0609020000020004" pitchFamily="49" charset="0"/>
              </a:rPr>
              <a:t>(</a:t>
            </a:r>
            <a:r>
              <a:rPr lang="fi-FI" sz="1800" dirty="0">
                <a:solidFill>
                  <a:srgbClr val="A31515"/>
                </a:solidFill>
                <a:latin typeface="Cascadia Mono" panose="020B0609020000020004" pitchFamily="49" charset="0"/>
              </a:rPr>
              <a:t>"</a:t>
            </a:r>
            <a:r>
              <a:rPr lang="fi-FI" sz="1800" dirty="0" err="1">
                <a:solidFill>
                  <a:srgbClr val="A31515"/>
                </a:solidFill>
                <a:latin typeface="Cascadia Mono" panose="020B0609020000020004" pitchFamily="49" charset="0"/>
              </a:rPr>
              <a:t>dd.MM.yyyy</a:t>
            </a:r>
            <a:r>
              <a:rPr lang="fi-FI" sz="1800" dirty="0">
                <a:solidFill>
                  <a:srgbClr val="A31515"/>
                </a:solidFill>
                <a:latin typeface="Cascadia Mono" panose="020B0609020000020004" pitchFamily="49" charset="0"/>
              </a:rPr>
              <a:t> </a:t>
            </a:r>
            <a:r>
              <a:rPr lang="fi-FI" sz="1800" dirty="0" err="1">
                <a:solidFill>
                  <a:srgbClr val="A31515"/>
                </a:solidFill>
                <a:latin typeface="Cascadia Mono" panose="020B0609020000020004" pitchFamily="49" charset="0"/>
              </a:rPr>
              <a:t>HH:mm:ss</a:t>
            </a:r>
            <a:r>
              <a:rPr lang="fi-FI" sz="1800" dirty="0">
                <a:solidFill>
                  <a:srgbClr val="A31515"/>
                </a:solidFill>
                <a:latin typeface="Cascadia Mono" panose="020B0609020000020004" pitchFamily="49" charset="0"/>
              </a:rPr>
              <a:t>"</a:t>
            </a:r>
            <a:r>
              <a:rPr lang="fi-FI" sz="1800" dirty="0">
                <a:solidFill>
                  <a:srgbClr val="000000"/>
                </a:solidFill>
                <a:latin typeface="Cascadia Mono" panose="020B0609020000020004" pitchFamily="49" charset="0"/>
              </a:rPr>
              <a:t>));</a:t>
            </a:r>
            <a:endParaRPr lang="fi-FI" dirty="0"/>
          </a:p>
        </p:txBody>
      </p:sp>
      <p:pic>
        <p:nvPicPr>
          <p:cNvPr id="4" name="Kuva 3">
            <a:extLst>
              <a:ext uri="{FF2B5EF4-FFF2-40B4-BE49-F238E27FC236}">
                <a16:creationId xmlns:a16="http://schemas.microsoft.com/office/drawing/2014/main" id="{C633CB19-FD13-DF4D-BA5A-09C38D8A41B8}"/>
              </a:ext>
            </a:extLst>
          </p:cNvPr>
          <p:cNvPicPr>
            <a:picLocks noChangeAspect="1"/>
          </p:cNvPicPr>
          <p:nvPr/>
        </p:nvPicPr>
        <p:blipFill>
          <a:blip r:embed="rId2"/>
          <a:stretch>
            <a:fillRect/>
          </a:stretch>
        </p:blipFill>
        <p:spPr>
          <a:xfrm>
            <a:off x="1220305" y="4543011"/>
            <a:ext cx="5031408" cy="1226406"/>
          </a:xfrm>
          <a:prstGeom prst="rect">
            <a:avLst/>
          </a:prstGeom>
          <a:ln>
            <a:solidFill>
              <a:schemeClr val="accent1"/>
            </a:solidFill>
          </a:ln>
        </p:spPr>
      </p:pic>
      <p:pic>
        <p:nvPicPr>
          <p:cNvPr id="5" name="Kuva 4">
            <a:extLst>
              <a:ext uri="{FF2B5EF4-FFF2-40B4-BE49-F238E27FC236}">
                <a16:creationId xmlns:a16="http://schemas.microsoft.com/office/drawing/2014/main" id="{492D170B-A22C-494F-A168-ED22317A64ED}"/>
              </a:ext>
            </a:extLst>
          </p:cNvPr>
          <p:cNvPicPr>
            <a:picLocks noChangeAspect="1"/>
          </p:cNvPicPr>
          <p:nvPr/>
        </p:nvPicPr>
        <p:blipFill>
          <a:blip r:embed="rId3"/>
          <a:stretch>
            <a:fillRect/>
          </a:stretch>
        </p:blipFill>
        <p:spPr>
          <a:xfrm>
            <a:off x="1220305" y="167350"/>
            <a:ext cx="6451600" cy="2311400"/>
          </a:xfrm>
          <a:prstGeom prst="rect">
            <a:avLst/>
          </a:prstGeom>
          <a:solidFill>
            <a:schemeClr val="accent1"/>
          </a:solidFill>
          <a:ln>
            <a:solidFill>
              <a:schemeClr val="accent1"/>
            </a:solidFill>
          </a:ln>
        </p:spPr>
      </p:pic>
      <p:pic>
        <p:nvPicPr>
          <p:cNvPr id="8" name="Kuva 7">
            <a:extLst>
              <a:ext uri="{FF2B5EF4-FFF2-40B4-BE49-F238E27FC236}">
                <a16:creationId xmlns:a16="http://schemas.microsoft.com/office/drawing/2014/main" id="{C88474D4-8D9C-BF95-4326-0C69D443496B}"/>
              </a:ext>
            </a:extLst>
          </p:cNvPr>
          <p:cNvPicPr>
            <a:picLocks noChangeAspect="1"/>
          </p:cNvPicPr>
          <p:nvPr/>
        </p:nvPicPr>
        <p:blipFill>
          <a:blip r:embed="rId4"/>
          <a:stretch>
            <a:fillRect/>
          </a:stretch>
        </p:blipFill>
        <p:spPr>
          <a:xfrm>
            <a:off x="1220305" y="5890243"/>
            <a:ext cx="5197053" cy="391410"/>
          </a:xfrm>
          <a:prstGeom prst="rect">
            <a:avLst/>
          </a:prstGeom>
        </p:spPr>
      </p:pic>
    </p:spTree>
    <p:extLst>
      <p:ext uri="{BB962C8B-B14F-4D97-AF65-F5344CB8AC3E}">
        <p14:creationId xmlns:p14="http://schemas.microsoft.com/office/powerpoint/2010/main" val="14280174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3BFDCEB-EA00-4A40-AB69-F9F9989767BD}"/>
              </a:ext>
            </a:extLst>
          </p:cNvPr>
          <p:cNvSpPr>
            <a:spLocks noGrp="1"/>
          </p:cNvSpPr>
          <p:nvPr>
            <p:ph type="title"/>
          </p:nvPr>
        </p:nvSpPr>
        <p:spPr/>
        <p:txBody>
          <a:bodyPr/>
          <a:lstStyle/>
          <a:p>
            <a:r>
              <a:rPr lang="fi-FI" dirty="0" err="1"/>
              <a:t>Bool</a:t>
            </a:r>
            <a:endParaRPr lang="fi-FI" dirty="0"/>
          </a:p>
        </p:txBody>
      </p:sp>
      <p:sp>
        <p:nvSpPr>
          <p:cNvPr id="3" name="Sisällön paikkamerkki 2">
            <a:extLst>
              <a:ext uri="{FF2B5EF4-FFF2-40B4-BE49-F238E27FC236}">
                <a16:creationId xmlns:a16="http://schemas.microsoft.com/office/drawing/2014/main" id="{967796BB-BB62-6849-A9B4-A0F9109CE578}"/>
              </a:ext>
            </a:extLst>
          </p:cNvPr>
          <p:cNvSpPr>
            <a:spLocks noGrp="1"/>
          </p:cNvSpPr>
          <p:nvPr>
            <p:ph sz="quarter" idx="12"/>
          </p:nvPr>
        </p:nvSpPr>
        <p:spPr/>
        <p:txBody>
          <a:bodyPr/>
          <a:lstStyle/>
          <a:p>
            <a:r>
              <a:rPr lang="fi-FI" dirty="0" err="1"/>
              <a:t>Bool</a:t>
            </a:r>
            <a:r>
              <a:rPr lang="fi-FI" dirty="0"/>
              <a:t> tietotyypin muuttuja saa arvoksi joko </a:t>
            </a:r>
            <a:r>
              <a:rPr lang="fi-FI" dirty="0" err="1"/>
              <a:t>true</a:t>
            </a:r>
            <a:r>
              <a:rPr lang="fi-FI" dirty="0"/>
              <a:t> (tosi) tai </a:t>
            </a:r>
            <a:r>
              <a:rPr lang="fi-FI" dirty="0" err="1"/>
              <a:t>false</a:t>
            </a:r>
            <a:r>
              <a:rPr lang="fi-FI" dirty="0"/>
              <a:t> (epätosi).</a:t>
            </a:r>
          </a:p>
          <a:p>
            <a:pPr lvl="1"/>
            <a:r>
              <a:rPr lang="fi-FI" dirty="0"/>
              <a:t>Esim. </a:t>
            </a:r>
            <a:r>
              <a:rPr lang="fi-FI" dirty="0" err="1"/>
              <a:t>bool</a:t>
            </a:r>
            <a:r>
              <a:rPr lang="fi-FI" dirty="0"/>
              <a:t> n, m;</a:t>
            </a:r>
            <a:br>
              <a:rPr lang="fi-FI" dirty="0"/>
            </a:br>
            <a:r>
              <a:rPr lang="fi-FI" dirty="0"/>
              <a:t>n = </a:t>
            </a:r>
            <a:r>
              <a:rPr lang="fi-FI" dirty="0" err="1"/>
              <a:t>true</a:t>
            </a:r>
            <a:r>
              <a:rPr lang="fi-FI" dirty="0"/>
              <a:t>;</a:t>
            </a:r>
            <a:br>
              <a:rPr lang="fi-FI" dirty="0"/>
            </a:br>
            <a:r>
              <a:rPr lang="fi-FI" dirty="0"/>
              <a:t>m = </a:t>
            </a:r>
            <a:r>
              <a:rPr lang="fi-FI" dirty="0" err="1"/>
              <a:t>false</a:t>
            </a:r>
            <a:r>
              <a:rPr lang="fi-FI" dirty="0"/>
              <a:t>;</a:t>
            </a:r>
          </a:p>
        </p:txBody>
      </p:sp>
    </p:spTree>
    <p:extLst>
      <p:ext uri="{BB962C8B-B14F-4D97-AF65-F5344CB8AC3E}">
        <p14:creationId xmlns:p14="http://schemas.microsoft.com/office/powerpoint/2010/main" val="17175182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442B9D64-E039-F942-8449-727161D5DCFF}"/>
              </a:ext>
            </a:extLst>
          </p:cNvPr>
          <p:cNvSpPr>
            <a:spLocks noGrp="1"/>
          </p:cNvSpPr>
          <p:nvPr>
            <p:ph type="title"/>
          </p:nvPr>
        </p:nvSpPr>
        <p:spPr/>
        <p:txBody>
          <a:bodyPr/>
          <a:lstStyle/>
          <a:p>
            <a:r>
              <a:rPr lang="fi-FI" dirty="0"/>
              <a:t>Nimet</a:t>
            </a:r>
          </a:p>
        </p:txBody>
      </p:sp>
      <p:sp>
        <p:nvSpPr>
          <p:cNvPr id="3" name="Sisällön paikkamerkki 2">
            <a:extLst>
              <a:ext uri="{FF2B5EF4-FFF2-40B4-BE49-F238E27FC236}">
                <a16:creationId xmlns:a16="http://schemas.microsoft.com/office/drawing/2014/main" id="{33089470-2DA6-9247-B65D-F07242EFA55F}"/>
              </a:ext>
            </a:extLst>
          </p:cNvPr>
          <p:cNvSpPr>
            <a:spLocks noGrp="1"/>
          </p:cNvSpPr>
          <p:nvPr>
            <p:ph sz="quarter" idx="12"/>
          </p:nvPr>
        </p:nvSpPr>
        <p:spPr/>
        <p:txBody>
          <a:bodyPr/>
          <a:lstStyle/>
          <a:p>
            <a:r>
              <a:rPr lang="fi-FI" dirty="0"/>
              <a:t>Nimet ovat ohjelmoijan valitsemia </a:t>
            </a:r>
            <a:r>
              <a:rPr lang="fi-FI" dirty="0" err="1"/>
              <a:t>nimia</a:t>
            </a:r>
            <a:r>
              <a:rPr lang="fi-FI" dirty="0"/>
              <a:t>̈ esimerkiksi muuttujille ja luokille. </a:t>
            </a:r>
          </a:p>
          <a:p>
            <a:r>
              <a:rPr lang="fi-FI" dirty="0"/>
              <a:t>C#-</a:t>
            </a:r>
            <a:r>
              <a:rPr lang="fi-FI" dirty="0" err="1"/>
              <a:t>kielessa</a:t>
            </a:r>
            <a:r>
              <a:rPr lang="fi-FI" dirty="0"/>
              <a:t>̈ nimet voivat </a:t>
            </a:r>
            <a:r>
              <a:rPr lang="fi-FI" dirty="0" err="1"/>
              <a:t>sisältäa</a:t>
            </a:r>
            <a:r>
              <a:rPr lang="fi-FI" dirty="0"/>
              <a:t>̈ numeroita ja kirjaimia, mutta nimen </a:t>
            </a:r>
            <a:r>
              <a:rPr lang="fi-FI" dirty="0" err="1"/>
              <a:t>pitäa</a:t>
            </a:r>
            <a:r>
              <a:rPr lang="fi-FI" dirty="0"/>
              <a:t>̈ alkaa kirjaimella. </a:t>
            </a:r>
          </a:p>
          <a:p>
            <a:r>
              <a:rPr lang="fi-FI" dirty="0"/>
              <a:t>Nimet ovat case </a:t>
            </a:r>
            <a:r>
              <a:rPr lang="fi-FI" dirty="0" err="1"/>
              <a:t>sensitive</a:t>
            </a:r>
            <a:r>
              <a:rPr lang="fi-FI" dirty="0"/>
              <a:t> eli esimerkiksi muuttuja A ja a ovat </a:t>
            </a:r>
            <a:r>
              <a:rPr lang="fi-FI" dirty="0" err="1"/>
              <a:t>erinimisia</a:t>
            </a:r>
            <a:r>
              <a:rPr lang="fi-FI" dirty="0"/>
              <a:t>̈. </a:t>
            </a:r>
          </a:p>
          <a:p>
            <a:r>
              <a:rPr lang="fi-FI" dirty="0"/>
              <a:t>Suositus on, </a:t>
            </a:r>
            <a:r>
              <a:rPr lang="fi-FI" dirty="0" err="1"/>
              <a:t>etta</a:t>
            </a:r>
            <a:r>
              <a:rPr lang="fi-FI" dirty="0"/>
              <a:t>̈ muuttujien nimet alkavat </a:t>
            </a:r>
            <a:r>
              <a:rPr lang="fi-FI" dirty="0" err="1"/>
              <a:t>pienella</a:t>
            </a:r>
            <a:r>
              <a:rPr lang="fi-FI" dirty="0"/>
              <a:t>̈ kirjaimella (</a:t>
            </a:r>
            <a:r>
              <a:rPr lang="fi-FI" dirty="0" err="1"/>
              <a:t>camel</a:t>
            </a:r>
            <a:r>
              <a:rPr lang="fi-FI" dirty="0"/>
              <a:t> </a:t>
            </a:r>
            <a:r>
              <a:rPr lang="fi-FI" dirty="0" err="1"/>
              <a:t>notation</a:t>
            </a:r>
            <a:r>
              <a:rPr lang="fi-FI" dirty="0"/>
              <a:t>) ja muut isolla kirjaimella (Pascal </a:t>
            </a:r>
            <a:r>
              <a:rPr lang="fi-FI" dirty="0" err="1"/>
              <a:t>notation</a:t>
            </a:r>
            <a:r>
              <a:rPr lang="fi-FI" dirty="0"/>
              <a:t>).</a:t>
            </a:r>
          </a:p>
        </p:txBody>
      </p:sp>
    </p:spTree>
    <p:extLst>
      <p:ext uri="{BB962C8B-B14F-4D97-AF65-F5344CB8AC3E}">
        <p14:creationId xmlns:p14="http://schemas.microsoft.com/office/powerpoint/2010/main" val="4433213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7E2F895E-2F92-7846-BD4A-01CD30F6FE82}"/>
              </a:ext>
            </a:extLst>
          </p:cNvPr>
          <p:cNvSpPr>
            <a:spLocks noGrp="1"/>
          </p:cNvSpPr>
          <p:nvPr>
            <p:ph type="title"/>
          </p:nvPr>
        </p:nvSpPr>
        <p:spPr>
          <a:xfrm>
            <a:off x="791918" y="281925"/>
            <a:ext cx="5761282" cy="1440392"/>
          </a:xfrm>
        </p:spPr>
        <p:txBody>
          <a:bodyPr/>
          <a:lstStyle/>
          <a:p>
            <a:r>
              <a:rPr lang="fi-FI" dirty="0"/>
              <a:t>Vakiot, merkkijonot</a:t>
            </a:r>
          </a:p>
        </p:txBody>
      </p:sp>
      <p:sp>
        <p:nvSpPr>
          <p:cNvPr id="3" name="Sisällön paikkamerkki 2">
            <a:extLst>
              <a:ext uri="{FF2B5EF4-FFF2-40B4-BE49-F238E27FC236}">
                <a16:creationId xmlns:a16="http://schemas.microsoft.com/office/drawing/2014/main" id="{094164F0-8AA5-8F46-93B0-6607AA435239}"/>
              </a:ext>
            </a:extLst>
          </p:cNvPr>
          <p:cNvSpPr>
            <a:spLocks noGrp="1"/>
          </p:cNvSpPr>
          <p:nvPr>
            <p:ph sz="quarter" idx="12"/>
          </p:nvPr>
        </p:nvSpPr>
        <p:spPr>
          <a:xfrm>
            <a:off x="791918" y="2196548"/>
            <a:ext cx="5248647" cy="4263887"/>
          </a:xfrm>
        </p:spPr>
        <p:txBody>
          <a:bodyPr>
            <a:normAutofit/>
          </a:bodyPr>
          <a:lstStyle/>
          <a:p>
            <a:r>
              <a:rPr lang="fi-FI" dirty="0"/>
              <a:t>Vakiot ovat koodiin kirjoitettuja muuttujan arvoja, esimerkiksi: </a:t>
            </a:r>
            <a:r>
              <a:rPr lang="fi-FI" dirty="0" err="1"/>
              <a:t>int</a:t>
            </a:r>
            <a:r>
              <a:rPr lang="fi-FI" dirty="0"/>
              <a:t> luku = 16;</a:t>
            </a:r>
          </a:p>
          <a:p>
            <a:r>
              <a:rPr lang="fi-FI" dirty="0" err="1"/>
              <a:t>string</a:t>
            </a:r>
            <a:r>
              <a:rPr lang="fi-FI" dirty="0"/>
              <a:t> vastaus = ”torstai”;</a:t>
            </a:r>
          </a:p>
          <a:p>
            <a:r>
              <a:rPr lang="fi-FI" dirty="0"/>
              <a:t>Merkkijonovakiot (eli merkkijonon ’</a:t>
            </a:r>
            <a:r>
              <a:rPr lang="fi-FI" dirty="0" err="1"/>
              <a:t>sisälto</a:t>
            </a:r>
            <a:r>
              <a:rPr lang="fi-FI" dirty="0"/>
              <a:t>̈’) kirjoitetaan aina </a:t>
            </a:r>
            <a:r>
              <a:rPr lang="fi-FI" b="1" dirty="0" err="1"/>
              <a:t>lainausmerkeissa</a:t>
            </a:r>
            <a:r>
              <a:rPr lang="fi-FI" dirty="0"/>
              <a:t>̈. </a:t>
            </a:r>
          </a:p>
          <a:p>
            <a:r>
              <a:rPr lang="fi-FI" dirty="0"/>
              <a:t>Vakioluvut kirjoitetaan sellaisenaan. Jos numeroita </a:t>
            </a:r>
            <a:r>
              <a:rPr lang="fi-FI" dirty="0" err="1"/>
              <a:t>käsitellään</a:t>
            </a:r>
            <a:r>
              <a:rPr lang="fi-FI" dirty="0"/>
              <a:t> merkkijonona, esimerkiksi postinumero (sillä ei lasketa </a:t>
            </a:r>
            <a:r>
              <a:rPr lang="fi-FI" dirty="0" err="1"/>
              <a:t>mitään</a:t>
            </a:r>
            <a:r>
              <a:rPr lang="fi-FI" dirty="0"/>
              <a:t>), sijoitetaan </a:t>
            </a:r>
            <a:r>
              <a:rPr lang="fi-FI" dirty="0" err="1"/>
              <a:t>tällainen</a:t>
            </a:r>
            <a:r>
              <a:rPr lang="fi-FI" dirty="0"/>
              <a:t> numero </a:t>
            </a:r>
            <a:r>
              <a:rPr lang="fi-FI" dirty="0" err="1"/>
              <a:t>string</a:t>
            </a:r>
            <a:r>
              <a:rPr lang="fi-FI" dirty="0"/>
              <a:t>- tyyppisen muuttujan arvoksi: </a:t>
            </a:r>
            <a:r>
              <a:rPr lang="fi-FI" dirty="0" err="1"/>
              <a:t>string</a:t>
            </a:r>
            <a:r>
              <a:rPr lang="fi-FI" dirty="0"/>
              <a:t> postinumero = ”60320”;</a:t>
            </a:r>
          </a:p>
          <a:p>
            <a:r>
              <a:rPr lang="fi-FI" dirty="0" err="1"/>
              <a:t>Myös</a:t>
            </a:r>
            <a:r>
              <a:rPr lang="fi-FI" dirty="0"/>
              <a:t> muuttuja voidaan </a:t>
            </a:r>
            <a:r>
              <a:rPr lang="fi-FI" dirty="0" err="1"/>
              <a:t>määritella</a:t>
            </a:r>
            <a:r>
              <a:rPr lang="fi-FI" dirty="0"/>
              <a:t>̈ vakioksi avainsanalla </a:t>
            </a:r>
            <a:r>
              <a:rPr lang="fi-FI" b="1" dirty="0" err="1"/>
              <a:t>const</a:t>
            </a:r>
            <a:r>
              <a:rPr lang="fi-FI" dirty="0"/>
              <a:t>, eli </a:t>
            </a:r>
            <a:r>
              <a:rPr lang="fi-FI" dirty="0" err="1"/>
              <a:t>tällaisen</a:t>
            </a:r>
            <a:r>
              <a:rPr lang="fi-FI" dirty="0"/>
              <a:t> muuttujan arvoa ei voi muuttaa: </a:t>
            </a:r>
            <a:r>
              <a:rPr lang="fi-FI" dirty="0" err="1"/>
              <a:t>const</a:t>
            </a:r>
            <a:r>
              <a:rPr lang="fi-FI" dirty="0"/>
              <a:t> </a:t>
            </a:r>
            <a:r>
              <a:rPr lang="fi-FI" dirty="0" err="1"/>
              <a:t>int</a:t>
            </a:r>
            <a:r>
              <a:rPr lang="fi-FI" dirty="0"/>
              <a:t> jouluaatto = 24;</a:t>
            </a:r>
          </a:p>
        </p:txBody>
      </p:sp>
    </p:spTree>
    <p:extLst>
      <p:ext uri="{BB962C8B-B14F-4D97-AF65-F5344CB8AC3E}">
        <p14:creationId xmlns:p14="http://schemas.microsoft.com/office/powerpoint/2010/main" val="14663903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AFC44886-EC9A-AA46-821B-B79FDD43DFDE}"/>
              </a:ext>
            </a:extLst>
          </p:cNvPr>
          <p:cNvSpPr>
            <a:spLocks noGrp="1"/>
          </p:cNvSpPr>
          <p:nvPr>
            <p:ph type="title"/>
          </p:nvPr>
        </p:nvSpPr>
        <p:spPr/>
        <p:txBody>
          <a:bodyPr/>
          <a:lstStyle/>
          <a:p>
            <a:r>
              <a:rPr lang="fi-FI" dirty="0"/>
              <a:t>Operaattorit</a:t>
            </a:r>
          </a:p>
        </p:txBody>
      </p:sp>
      <p:sp>
        <p:nvSpPr>
          <p:cNvPr id="3" name="Sisällön paikkamerkki 2">
            <a:extLst>
              <a:ext uri="{FF2B5EF4-FFF2-40B4-BE49-F238E27FC236}">
                <a16:creationId xmlns:a16="http://schemas.microsoft.com/office/drawing/2014/main" id="{871E5BFE-C1B5-4840-A4DF-9B6369CBD1A7}"/>
              </a:ext>
            </a:extLst>
          </p:cNvPr>
          <p:cNvSpPr>
            <a:spLocks noGrp="1"/>
          </p:cNvSpPr>
          <p:nvPr>
            <p:ph sz="quarter" idx="12"/>
          </p:nvPr>
        </p:nvSpPr>
        <p:spPr>
          <a:xfrm>
            <a:off x="791918" y="3123454"/>
            <a:ext cx="7179265" cy="3327042"/>
          </a:xfrm>
        </p:spPr>
        <p:txBody>
          <a:bodyPr/>
          <a:lstStyle/>
          <a:p>
            <a:r>
              <a:rPr lang="fi-FI" dirty="0"/>
              <a:t>komentoja, joilla </a:t>
            </a:r>
            <a:r>
              <a:rPr lang="fi-FI" dirty="0" err="1"/>
              <a:t>käsitellään</a:t>
            </a:r>
            <a:r>
              <a:rPr lang="fi-FI" dirty="0"/>
              <a:t> muuttujia ja vakioita</a:t>
            </a:r>
          </a:p>
          <a:p>
            <a:r>
              <a:rPr lang="fi-FI" dirty="0"/>
              <a:t>Aritmeettisia operaattoreita ovat:</a:t>
            </a:r>
          </a:p>
          <a:p>
            <a:pPr lvl="1"/>
            <a:r>
              <a:rPr lang="fi-FI" dirty="0"/>
              <a:t>+ yhteenlasku, esim. a + b;, yhdellä kasvatus ++, esim. a++ tai ++a;</a:t>
            </a:r>
          </a:p>
          <a:p>
            <a:pPr marL="457200" lvl="1" indent="0">
              <a:buNone/>
            </a:pPr>
            <a:r>
              <a:rPr lang="fi-FI" dirty="0"/>
              <a:t>	</a:t>
            </a:r>
            <a:r>
              <a:rPr lang="fi-FI" dirty="0" err="1"/>
              <a:t>Huom</a:t>
            </a:r>
            <a:r>
              <a:rPr lang="fi-FI" dirty="0"/>
              <a:t>: a += b; &lt;==&gt; a = a + b;</a:t>
            </a:r>
          </a:p>
          <a:p>
            <a:pPr lvl="1"/>
            <a:r>
              <a:rPr lang="fi-FI" dirty="0"/>
              <a:t>- vähennyslasku esim. a – b;, yhdellä vähennys --, esim. a– tai --a;</a:t>
            </a:r>
          </a:p>
          <a:p>
            <a:pPr lvl="2"/>
            <a:r>
              <a:rPr lang="fi-FI" dirty="0"/>
              <a:t>Huom. a -= b &lt;==&gt; a = a – b;</a:t>
            </a:r>
          </a:p>
          <a:p>
            <a:pPr lvl="1"/>
            <a:r>
              <a:rPr lang="fi-FI" dirty="0"/>
              <a:t>* kertolasku, esim. a * b; Huom. a *= b &lt;==&gt; a = a * b;</a:t>
            </a:r>
          </a:p>
          <a:p>
            <a:pPr lvl="1"/>
            <a:r>
              <a:rPr lang="fi-FI" dirty="0"/>
              <a:t>/ jakolasku, esim. a / b; Huom. a /= b &lt;==&gt; a = a / b;</a:t>
            </a:r>
          </a:p>
          <a:p>
            <a:pPr lvl="1"/>
            <a:r>
              <a:rPr lang="fi-FI" dirty="0"/>
              <a:t>% jakojäännös, esim. a % b; Huom. a %= b </a:t>
            </a:r>
            <a:br>
              <a:rPr lang="fi-FI" dirty="0"/>
            </a:br>
            <a:r>
              <a:rPr lang="fi-FI" dirty="0"/>
              <a:t>&lt;==&gt; a = </a:t>
            </a:r>
            <a:r>
              <a:rPr lang="fi-FI" dirty="0" err="1"/>
              <a:t>a%b</a:t>
            </a:r>
            <a:r>
              <a:rPr lang="fi-FI" dirty="0"/>
              <a:t>; </a:t>
            </a:r>
          </a:p>
        </p:txBody>
      </p:sp>
    </p:spTree>
    <p:extLst>
      <p:ext uri="{BB962C8B-B14F-4D97-AF65-F5344CB8AC3E}">
        <p14:creationId xmlns:p14="http://schemas.microsoft.com/office/powerpoint/2010/main" val="5823996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ECD5FA1-4025-1448-B2CD-1E657615DF9F}"/>
              </a:ext>
            </a:extLst>
          </p:cNvPr>
          <p:cNvSpPr>
            <a:spLocks noGrp="1"/>
          </p:cNvSpPr>
          <p:nvPr>
            <p:ph type="title"/>
          </p:nvPr>
        </p:nvSpPr>
        <p:spPr/>
        <p:txBody>
          <a:bodyPr/>
          <a:lstStyle/>
          <a:p>
            <a:r>
              <a:rPr lang="fi-FI" dirty="0"/>
              <a:t>Konsoli</a:t>
            </a:r>
          </a:p>
        </p:txBody>
      </p:sp>
      <p:sp>
        <p:nvSpPr>
          <p:cNvPr id="3" name="Sisällön paikkamerkki 2">
            <a:extLst>
              <a:ext uri="{FF2B5EF4-FFF2-40B4-BE49-F238E27FC236}">
                <a16:creationId xmlns:a16="http://schemas.microsoft.com/office/drawing/2014/main" id="{DD3F38A8-EE31-184E-AD22-4873A96E4153}"/>
              </a:ext>
            </a:extLst>
          </p:cNvPr>
          <p:cNvSpPr>
            <a:spLocks noGrp="1"/>
          </p:cNvSpPr>
          <p:nvPr>
            <p:ph sz="quarter" idx="12"/>
          </p:nvPr>
        </p:nvSpPr>
        <p:spPr/>
        <p:txBody>
          <a:bodyPr/>
          <a:lstStyle/>
          <a:p>
            <a:r>
              <a:rPr lang="fi-FI" dirty="0"/>
              <a:t>Ennen kuin tutustumme graafiseen käyttöliittymään, opettelemme lukemaan ja tulostamaan konsoliin</a:t>
            </a:r>
          </a:p>
          <a:p>
            <a:r>
              <a:rPr lang="fi-FI" dirty="0"/>
              <a:t>Luokalla Console on seuraavat metodit:</a:t>
            </a:r>
          </a:p>
          <a:p>
            <a:pPr lvl="1"/>
            <a:r>
              <a:rPr lang="fi-FI" dirty="0"/>
              <a:t>Write (kirjoittaa vaihtamatta riviä)</a:t>
            </a:r>
          </a:p>
          <a:p>
            <a:pPr lvl="1"/>
            <a:r>
              <a:rPr lang="fi-FI" dirty="0" err="1"/>
              <a:t>WriteLine</a:t>
            </a:r>
            <a:r>
              <a:rPr lang="fi-FI" dirty="0"/>
              <a:t> (kirjoittaa ja vaihtaa rivin)</a:t>
            </a:r>
          </a:p>
          <a:p>
            <a:pPr lvl="1"/>
            <a:r>
              <a:rPr lang="fi-FI" dirty="0"/>
              <a:t>Read (lukee vaihtamatta riviä)</a:t>
            </a:r>
          </a:p>
          <a:p>
            <a:pPr lvl="1"/>
            <a:r>
              <a:rPr lang="fi-FI" dirty="0" err="1"/>
              <a:t>ReadLine</a:t>
            </a:r>
            <a:r>
              <a:rPr lang="fi-FI" dirty="0"/>
              <a:t> (lukee ja vaihtaa rivin)</a:t>
            </a:r>
          </a:p>
          <a:p>
            <a:r>
              <a:rPr lang="fi-FI" dirty="0"/>
              <a:t>Esim. </a:t>
            </a:r>
            <a:r>
              <a:rPr lang="fi-FI" dirty="0" err="1"/>
              <a:t>Console.Write</a:t>
            </a:r>
            <a:r>
              <a:rPr lang="fi-FI" dirty="0"/>
              <a:t>(”Mikä on etunimesi”);</a:t>
            </a:r>
            <a:br>
              <a:rPr lang="fi-FI" dirty="0"/>
            </a:br>
            <a:r>
              <a:rPr lang="fi-FI" dirty="0" err="1"/>
              <a:t>string</a:t>
            </a:r>
            <a:r>
              <a:rPr lang="fi-FI" dirty="0"/>
              <a:t> etunimi = </a:t>
            </a:r>
            <a:r>
              <a:rPr lang="fi-FI" dirty="0" err="1"/>
              <a:t>Console.ReadLine</a:t>
            </a:r>
            <a:r>
              <a:rPr lang="fi-FI" dirty="0"/>
              <a:t>();</a:t>
            </a:r>
          </a:p>
        </p:txBody>
      </p:sp>
    </p:spTree>
    <p:extLst>
      <p:ext uri="{BB962C8B-B14F-4D97-AF65-F5344CB8AC3E}">
        <p14:creationId xmlns:p14="http://schemas.microsoft.com/office/powerpoint/2010/main" val="20036317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8D13DE1E-8B64-6A4E-8474-CC23323055D7}"/>
              </a:ext>
            </a:extLst>
          </p:cNvPr>
          <p:cNvSpPr>
            <a:spLocks noGrp="1"/>
          </p:cNvSpPr>
          <p:nvPr>
            <p:ph type="title"/>
          </p:nvPr>
        </p:nvSpPr>
        <p:spPr/>
        <p:txBody>
          <a:bodyPr/>
          <a:lstStyle/>
          <a:p>
            <a:r>
              <a:rPr lang="fi-FI" dirty="0" err="1"/>
              <a:t>Parse</a:t>
            </a:r>
            <a:r>
              <a:rPr lang="fi-FI" dirty="0"/>
              <a:t>-metodi</a:t>
            </a:r>
          </a:p>
        </p:txBody>
      </p:sp>
      <p:sp>
        <p:nvSpPr>
          <p:cNvPr id="3" name="Sisällön paikkamerkki 2">
            <a:extLst>
              <a:ext uri="{FF2B5EF4-FFF2-40B4-BE49-F238E27FC236}">
                <a16:creationId xmlns:a16="http://schemas.microsoft.com/office/drawing/2014/main" id="{90043A4F-89E9-EC4A-A2B8-76C157570880}"/>
              </a:ext>
            </a:extLst>
          </p:cNvPr>
          <p:cNvSpPr>
            <a:spLocks noGrp="1"/>
          </p:cNvSpPr>
          <p:nvPr>
            <p:ph sz="quarter" idx="12"/>
          </p:nvPr>
        </p:nvSpPr>
        <p:spPr>
          <a:xfrm>
            <a:off x="791918" y="3123454"/>
            <a:ext cx="5648639" cy="3486068"/>
          </a:xfrm>
        </p:spPr>
        <p:txBody>
          <a:bodyPr/>
          <a:lstStyle/>
          <a:p>
            <a:r>
              <a:rPr lang="fi-FI" dirty="0"/>
              <a:t>Jos käyttäjä syöttää luvun, tulee se muuttaa tekstimuodosta lukumuotoon. Riippuen luvun tyypistä, se voidaan tehdä:</a:t>
            </a:r>
          </a:p>
          <a:p>
            <a:pPr lvl="1"/>
            <a:r>
              <a:rPr lang="fi-FI" dirty="0" err="1"/>
              <a:t>int</a:t>
            </a:r>
            <a:r>
              <a:rPr lang="fi-FI" dirty="0"/>
              <a:t> kokonaisluku = </a:t>
            </a:r>
            <a:r>
              <a:rPr lang="fi-FI" dirty="0" err="1"/>
              <a:t>int.Parse</a:t>
            </a:r>
            <a:r>
              <a:rPr lang="fi-FI" dirty="0"/>
              <a:t>(</a:t>
            </a:r>
            <a:r>
              <a:rPr lang="fi-FI" dirty="0" err="1"/>
              <a:t>Console.Read</a:t>
            </a:r>
            <a:r>
              <a:rPr lang="fi-FI" dirty="0"/>
              <a:t>());</a:t>
            </a:r>
          </a:p>
          <a:p>
            <a:pPr lvl="1"/>
            <a:r>
              <a:rPr lang="fi-FI" dirty="0" err="1"/>
              <a:t>double.desimaali</a:t>
            </a:r>
            <a:r>
              <a:rPr lang="fi-FI" dirty="0"/>
              <a:t> = </a:t>
            </a:r>
            <a:r>
              <a:rPr lang="fi-FI" dirty="0" err="1"/>
              <a:t>double.Parse</a:t>
            </a:r>
            <a:r>
              <a:rPr lang="fi-FI" dirty="0"/>
              <a:t>(</a:t>
            </a:r>
            <a:r>
              <a:rPr lang="fi-FI" dirty="0" err="1"/>
              <a:t>Console.Read</a:t>
            </a:r>
            <a:r>
              <a:rPr lang="fi-FI" dirty="0"/>
              <a:t>());</a:t>
            </a:r>
          </a:p>
          <a:p>
            <a:pPr lvl="1"/>
            <a:r>
              <a:rPr lang="fi-FI" dirty="0" err="1"/>
              <a:t>byte</a:t>
            </a:r>
            <a:r>
              <a:rPr lang="fi-FI" dirty="0"/>
              <a:t> tavu = </a:t>
            </a:r>
            <a:r>
              <a:rPr lang="fi-FI" dirty="0" err="1"/>
              <a:t>byte.Parse</a:t>
            </a:r>
            <a:r>
              <a:rPr lang="fi-FI" dirty="0"/>
              <a:t>(</a:t>
            </a:r>
            <a:r>
              <a:rPr lang="fi-FI" dirty="0" err="1"/>
              <a:t>Console.ReadLine</a:t>
            </a:r>
            <a:r>
              <a:rPr lang="fi-FI" dirty="0"/>
              <a:t>());</a:t>
            </a:r>
          </a:p>
          <a:p>
            <a:pPr lvl="1"/>
            <a:r>
              <a:rPr lang="fi-FI" dirty="0" err="1"/>
              <a:t>ushort</a:t>
            </a:r>
            <a:r>
              <a:rPr lang="fi-FI" dirty="0"/>
              <a:t> lyhyt = </a:t>
            </a:r>
            <a:r>
              <a:rPr lang="fi-FI" dirty="0" err="1"/>
              <a:t>ushort.Parse</a:t>
            </a:r>
            <a:r>
              <a:rPr lang="fi-FI" dirty="0"/>
              <a:t>(</a:t>
            </a:r>
            <a:r>
              <a:rPr lang="fi-FI" dirty="0" err="1"/>
              <a:t>Console.ReadLine</a:t>
            </a:r>
            <a:r>
              <a:rPr lang="fi-FI" dirty="0"/>
              <a:t>());</a:t>
            </a:r>
          </a:p>
          <a:p>
            <a:pPr lvl="1"/>
            <a:r>
              <a:rPr lang="fi-FI" dirty="0"/>
              <a:t>Jne.</a:t>
            </a:r>
          </a:p>
          <a:p>
            <a:pPr lvl="1"/>
            <a:endParaRPr lang="fi-FI" dirty="0"/>
          </a:p>
        </p:txBody>
      </p:sp>
    </p:spTree>
    <p:extLst>
      <p:ext uri="{BB962C8B-B14F-4D97-AF65-F5344CB8AC3E}">
        <p14:creationId xmlns:p14="http://schemas.microsoft.com/office/powerpoint/2010/main" val="19356236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0A103F29-F426-7E45-8E1D-6C232839B6C4}"/>
              </a:ext>
            </a:extLst>
          </p:cNvPr>
          <p:cNvSpPr>
            <a:spLocks noGrp="1"/>
          </p:cNvSpPr>
          <p:nvPr>
            <p:ph type="title"/>
          </p:nvPr>
        </p:nvSpPr>
        <p:spPr/>
        <p:txBody>
          <a:bodyPr/>
          <a:lstStyle/>
          <a:p>
            <a:r>
              <a:rPr lang="fi-FI" dirty="0"/>
              <a:t>Muuttujien tulostus</a:t>
            </a:r>
          </a:p>
        </p:txBody>
      </p:sp>
      <p:sp>
        <p:nvSpPr>
          <p:cNvPr id="3" name="Sisällön paikkamerkki 2">
            <a:extLst>
              <a:ext uri="{FF2B5EF4-FFF2-40B4-BE49-F238E27FC236}">
                <a16:creationId xmlns:a16="http://schemas.microsoft.com/office/drawing/2014/main" id="{9BAFE325-25F3-D44E-BC07-E93985CDB2D1}"/>
              </a:ext>
            </a:extLst>
          </p:cNvPr>
          <p:cNvSpPr>
            <a:spLocks noGrp="1"/>
          </p:cNvSpPr>
          <p:nvPr>
            <p:ph sz="quarter" idx="12"/>
          </p:nvPr>
        </p:nvSpPr>
        <p:spPr/>
        <p:txBody>
          <a:bodyPr/>
          <a:lstStyle/>
          <a:p>
            <a:r>
              <a:rPr lang="fi-FI" dirty="0"/>
              <a:t>C#:</a:t>
            </a:r>
            <a:r>
              <a:rPr lang="fi-FI" dirty="0" err="1"/>
              <a:t>ssa</a:t>
            </a:r>
            <a:r>
              <a:rPr lang="fi-FI" dirty="0"/>
              <a:t> voimme tulostaa muuttujat samalla tavalla kuin JavaScriptissä, mutta C#:</a:t>
            </a:r>
            <a:r>
              <a:rPr lang="fi-FI" dirty="0" err="1"/>
              <a:t>ssa</a:t>
            </a:r>
            <a:r>
              <a:rPr lang="fi-FI" dirty="0"/>
              <a:t> on myös oman tapansa tulostaa:</a:t>
            </a:r>
          </a:p>
          <a:p>
            <a:pPr lvl="1"/>
            <a:r>
              <a:rPr lang="fi-FI" dirty="0"/>
              <a:t>…(”Nimesi on: ” + etunimi + ” ” + sukunimi);</a:t>
            </a:r>
            <a:br>
              <a:rPr lang="fi-FI" dirty="0"/>
            </a:br>
            <a:r>
              <a:rPr lang="fi-FI" dirty="0"/>
              <a:t>JavaScriptin tavalla</a:t>
            </a:r>
          </a:p>
          <a:p>
            <a:pPr lvl="1"/>
            <a:r>
              <a:rPr lang="fi-FI" dirty="0"/>
              <a:t>…(”Nimesi on: {0} {1}”, etunimi, sukunimi);</a:t>
            </a:r>
            <a:br>
              <a:rPr lang="fi-FI" dirty="0"/>
            </a:br>
            <a:r>
              <a:rPr lang="fi-FI" dirty="0"/>
              <a:t>C#:n </a:t>
            </a:r>
            <a:r>
              <a:rPr lang="fi-FI"/>
              <a:t>oma tapa</a:t>
            </a:r>
            <a:endParaRPr lang="fi-FI" dirty="0"/>
          </a:p>
        </p:txBody>
      </p:sp>
    </p:spTree>
    <p:extLst>
      <p:ext uri="{BB962C8B-B14F-4D97-AF65-F5344CB8AC3E}">
        <p14:creationId xmlns:p14="http://schemas.microsoft.com/office/powerpoint/2010/main" val="32398393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4F90F149-835F-AB41-B9BF-068F6A68342E}"/>
              </a:ext>
            </a:extLst>
          </p:cNvPr>
          <p:cNvSpPr>
            <a:spLocks noGrp="1"/>
          </p:cNvSpPr>
          <p:nvPr>
            <p:ph type="title"/>
          </p:nvPr>
        </p:nvSpPr>
        <p:spPr>
          <a:xfrm>
            <a:off x="821736" y="1384523"/>
            <a:ext cx="5761282" cy="1440392"/>
          </a:xfrm>
        </p:spPr>
        <p:txBody>
          <a:bodyPr/>
          <a:lstStyle/>
          <a:p>
            <a:r>
              <a:rPr lang="fi-FI" dirty="0"/>
              <a:t>Poikkeuksien käsittely</a:t>
            </a:r>
          </a:p>
        </p:txBody>
      </p:sp>
      <p:sp>
        <p:nvSpPr>
          <p:cNvPr id="3" name="Sisällön paikkamerkki 2">
            <a:extLst>
              <a:ext uri="{FF2B5EF4-FFF2-40B4-BE49-F238E27FC236}">
                <a16:creationId xmlns:a16="http://schemas.microsoft.com/office/drawing/2014/main" id="{BF5671FC-2615-2A4B-8D10-C8AB27C84213}"/>
              </a:ext>
            </a:extLst>
          </p:cNvPr>
          <p:cNvSpPr>
            <a:spLocks noGrp="1"/>
          </p:cNvSpPr>
          <p:nvPr>
            <p:ph sz="quarter" idx="12"/>
          </p:nvPr>
        </p:nvSpPr>
        <p:spPr>
          <a:xfrm>
            <a:off x="821736" y="2924025"/>
            <a:ext cx="6451600" cy="3589398"/>
          </a:xfrm>
        </p:spPr>
        <p:txBody>
          <a:bodyPr/>
          <a:lstStyle/>
          <a:p>
            <a:r>
              <a:rPr lang="fi-FI" dirty="0"/>
              <a:t>Ohjelmoitaessa tulee tilanteita, jossa emme voi ennustaa käyttäjän ajattelua ja siis hänen syötettään</a:t>
            </a:r>
          </a:p>
          <a:p>
            <a:r>
              <a:rPr lang="fi-FI" dirty="0"/>
              <a:t>Jotta kuitenkaan ohjelma ei kaatuisi, ohjelmoija yrittää varautua tällaisiin tilanteisiin poikkeuksien käsittelyllä, eli </a:t>
            </a:r>
            <a:r>
              <a:rPr lang="fi-FI" dirty="0" err="1"/>
              <a:t>try</a:t>
            </a:r>
            <a:r>
              <a:rPr lang="fi-FI" dirty="0"/>
              <a:t> – </a:t>
            </a:r>
            <a:r>
              <a:rPr lang="fi-FI" dirty="0" err="1"/>
              <a:t>catch</a:t>
            </a:r>
            <a:r>
              <a:rPr lang="fi-FI" dirty="0"/>
              <a:t> parilla.</a:t>
            </a:r>
          </a:p>
          <a:p>
            <a:r>
              <a:rPr lang="fi-FI" dirty="0"/>
              <a:t>Esimerkissä näkyy, kuinka käyttäjältä odotetaan kokonaislukumuuttujaa, mutta varaudutaan siihen, että käyttäjä syöttääkin jotain muuta</a:t>
            </a:r>
          </a:p>
          <a:p>
            <a:r>
              <a:rPr lang="fi-FI" dirty="0"/>
              <a:t>Kolmas osapuoli </a:t>
            </a:r>
            <a:r>
              <a:rPr lang="fi-FI" dirty="0" err="1"/>
              <a:t>try</a:t>
            </a:r>
            <a:r>
              <a:rPr lang="fi-FI" dirty="0"/>
              <a:t> – </a:t>
            </a:r>
            <a:r>
              <a:rPr lang="fi-FI" dirty="0" err="1"/>
              <a:t>catch</a:t>
            </a:r>
            <a:r>
              <a:rPr lang="fi-FI" dirty="0"/>
              <a:t> –parissa on </a:t>
            </a:r>
            <a:r>
              <a:rPr lang="fi-FI" dirty="0" err="1"/>
              <a:t>finally</a:t>
            </a:r>
            <a:r>
              <a:rPr lang="fi-FI" dirty="0"/>
              <a:t>, joka suoritetaan riippumatta siitä, tuleeko virhe vai ei. Harvoin käytössä!!!</a:t>
            </a:r>
          </a:p>
          <a:p>
            <a:r>
              <a:rPr lang="fi-FI" dirty="0"/>
              <a:t>Voimme tulostaa myös, mikä virhe on kyseessä:</a:t>
            </a:r>
            <a:br>
              <a:rPr lang="fi-FI" dirty="0"/>
            </a:br>
            <a:endParaRPr lang="fi-FI" dirty="0"/>
          </a:p>
        </p:txBody>
      </p:sp>
      <p:pic>
        <p:nvPicPr>
          <p:cNvPr id="6" name="Kuva 5">
            <a:extLst>
              <a:ext uri="{FF2B5EF4-FFF2-40B4-BE49-F238E27FC236}">
                <a16:creationId xmlns:a16="http://schemas.microsoft.com/office/drawing/2014/main" id="{1036CC50-B5FB-524D-B726-7C381EE546C1}"/>
              </a:ext>
            </a:extLst>
          </p:cNvPr>
          <p:cNvPicPr>
            <a:picLocks noChangeAspect="1"/>
          </p:cNvPicPr>
          <p:nvPr/>
        </p:nvPicPr>
        <p:blipFill>
          <a:blip r:embed="rId2"/>
          <a:stretch>
            <a:fillRect/>
          </a:stretch>
        </p:blipFill>
        <p:spPr>
          <a:xfrm>
            <a:off x="2489200" y="145148"/>
            <a:ext cx="6451600" cy="2159000"/>
          </a:xfrm>
          <a:prstGeom prst="rect">
            <a:avLst/>
          </a:prstGeom>
          <a:ln>
            <a:solidFill>
              <a:schemeClr val="accent1"/>
            </a:solidFill>
          </a:ln>
        </p:spPr>
      </p:pic>
      <p:pic>
        <p:nvPicPr>
          <p:cNvPr id="7" name="Kuva 6">
            <a:extLst>
              <a:ext uri="{FF2B5EF4-FFF2-40B4-BE49-F238E27FC236}">
                <a16:creationId xmlns:a16="http://schemas.microsoft.com/office/drawing/2014/main" id="{72704A39-7497-B94B-8B4C-34AE8A5673EC}"/>
              </a:ext>
            </a:extLst>
          </p:cNvPr>
          <p:cNvPicPr>
            <a:picLocks noChangeAspect="1"/>
          </p:cNvPicPr>
          <p:nvPr/>
        </p:nvPicPr>
        <p:blipFill>
          <a:blip r:embed="rId3"/>
          <a:stretch>
            <a:fillRect/>
          </a:stretch>
        </p:blipFill>
        <p:spPr>
          <a:xfrm>
            <a:off x="5664200" y="5593798"/>
            <a:ext cx="3276600" cy="977900"/>
          </a:xfrm>
          <a:prstGeom prst="rect">
            <a:avLst/>
          </a:prstGeom>
          <a:ln>
            <a:solidFill>
              <a:schemeClr val="accent1"/>
            </a:solidFill>
          </a:ln>
        </p:spPr>
      </p:pic>
    </p:spTree>
    <p:extLst>
      <p:ext uri="{BB962C8B-B14F-4D97-AF65-F5344CB8AC3E}">
        <p14:creationId xmlns:p14="http://schemas.microsoft.com/office/powerpoint/2010/main" val="21402868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0D703F64-AD5B-1644-90DE-0176916E8013}"/>
              </a:ext>
            </a:extLst>
          </p:cNvPr>
          <p:cNvSpPr>
            <a:spLocks noGrp="1"/>
          </p:cNvSpPr>
          <p:nvPr>
            <p:ph type="title"/>
          </p:nvPr>
        </p:nvSpPr>
        <p:spPr>
          <a:xfrm>
            <a:off x="791918" y="129863"/>
            <a:ext cx="8063670" cy="655328"/>
          </a:xfrm>
        </p:spPr>
        <p:txBody>
          <a:bodyPr/>
          <a:lstStyle/>
          <a:p>
            <a:r>
              <a:rPr lang="fi-FI" dirty="0"/>
              <a:t>Metodit</a:t>
            </a:r>
          </a:p>
        </p:txBody>
      </p:sp>
      <p:sp>
        <p:nvSpPr>
          <p:cNvPr id="3" name="Sisällön paikkamerkki 2">
            <a:extLst>
              <a:ext uri="{FF2B5EF4-FFF2-40B4-BE49-F238E27FC236}">
                <a16:creationId xmlns:a16="http://schemas.microsoft.com/office/drawing/2014/main" id="{27639358-7810-9545-BE75-6AAE94EAF9A5}"/>
              </a:ext>
            </a:extLst>
          </p:cNvPr>
          <p:cNvSpPr>
            <a:spLocks noGrp="1"/>
          </p:cNvSpPr>
          <p:nvPr>
            <p:ph sz="quarter" idx="12"/>
          </p:nvPr>
        </p:nvSpPr>
        <p:spPr>
          <a:xfrm>
            <a:off x="791918" y="785192"/>
            <a:ext cx="8193056" cy="5942946"/>
          </a:xfrm>
        </p:spPr>
        <p:txBody>
          <a:bodyPr/>
          <a:lstStyle/>
          <a:p>
            <a:r>
              <a:rPr lang="fi-FI" dirty="0"/>
              <a:t>C#:</a:t>
            </a:r>
            <a:r>
              <a:rPr lang="fi-FI" dirty="0" err="1"/>
              <a:t>ssa</a:t>
            </a:r>
            <a:r>
              <a:rPr lang="fi-FI" dirty="0"/>
              <a:t> metodit vastaavat JavaScriptissä tutuiksi tulleita funktioita. Olemme ehtineet tutustua jo yhteen metodiin, eli Main-metodiin.</a:t>
            </a:r>
          </a:p>
          <a:p>
            <a:r>
              <a:rPr lang="fi-FI" dirty="0"/>
              <a:t>Metodeita käytetään silloin, kun jotain asiaa halutaan toistaa useampaan kertaan tai kun halutaan hajottaa koodimme hallittavimpiin osiin (hajota ja hallitse)</a:t>
            </a:r>
          </a:p>
          <a:p>
            <a:r>
              <a:rPr lang="fi-FI" dirty="0"/>
              <a:t>Mikä sitten metodi on? Se on osa ohjelmaa, jonka avulla voidaan ratkaista tietty ongelma, jolle yleensä annetaan parametri tai useita ja joka palauttaa vastauksen </a:t>
            </a:r>
          </a:p>
          <a:p>
            <a:r>
              <a:rPr lang="fi-FI" dirty="0"/>
              <a:t>Metodi sisältää ohjelman logiikan – se sisältää paikan, jossa ”todellinen työ” tehdään</a:t>
            </a:r>
          </a:p>
          <a:p>
            <a:r>
              <a:rPr lang="fi-FI" dirty="0"/>
              <a:t>Alla on yksinkertainen esimerkki metodista, joka laskee suorakulmion alan</a:t>
            </a:r>
          </a:p>
          <a:p>
            <a:endParaRPr lang="fi-FI" dirty="0"/>
          </a:p>
          <a:p>
            <a:endParaRPr lang="fi-FI" dirty="0"/>
          </a:p>
          <a:p>
            <a:endParaRPr lang="fi-FI" dirty="0"/>
          </a:p>
          <a:p>
            <a:r>
              <a:rPr lang="fi-FI" dirty="0"/>
              <a:t>Miksi käyttää metodeja? Ensinnäkin, koodi on paremmin jäsennelty ja helpommin luettavissa, joten myös muut voivat ylläpitää sitä. Tutkimusten mukaan</a:t>
            </a:r>
            <a:br>
              <a:rPr lang="fi-FI" dirty="0"/>
            </a:br>
            <a:r>
              <a:rPr lang="fi-FI" dirty="0"/>
              <a:t>ohjelman elinkaaresta ainoastaan 20% menee sen luomiseen ja testaa-</a:t>
            </a:r>
            <a:br>
              <a:rPr lang="fi-FI" dirty="0"/>
            </a:br>
            <a:r>
              <a:rPr lang="fi-FI" dirty="0" err="1"/>
              <a:t>miseen</a:t>
            </a:r>
            <a:r>
              <a:rPr lang="fi-FI" dirty="0"/>
              <a:t> ja loput ajasta menee sen ylläpitämiseen ja uusien </a:t>
            </a:r>
            <a:r>
              <a:rPr lang="fi-FI" dirty="0" err="1"/>
              <a:t>ominaisuuk</a:t>
            </a:r>
            <a:r>
              <a:rPr lang="fi-FI" dirty="0"/>
              <a:t>-</a:t>
            </a:r>
            <a:br>
              <a:rPr lang="fi-FI" dirty="0"/>
            </a:br>
            <a:r>
              <a:rPr lang="fi-FI" dirty="0" err="1"/>
              <a:t>sien</a:t>
            </a:r>
            <a:r>
              <a:rPr lang="fi-FI" dirty="0"/>
              <a:t> lisäämiseen. Siksi on erittäin tärkeää, että koodi on helposti </a:t>
            </a:r>
            <a:r>
              <a:rPr lang="fi-FI" dirty="0" err="1"/>
              <a:t>ylläpi</a:t>
            </a:r>
            <a:r>
              <a:rPr lang="fi-FI" dirty="0"/>
              <a:t>-</a:t>
            </a:r>
            <a:br>
              <a:rPr lang="fi-FI" dirty="0"/>
            </a:br>
            <a:r>
              <a:rPr lang="fi-FI" dirty="0" err="1"/>
              <a:t>dettävissä</a:t>
            </a:r>
            <a:endParaRPr lang="fi-FI" dirty="0"/>
          </a:p>
          <a:p>
            <a:r>
              <a:rPr lang="fi-FI" dirty="0"/>
              <a:t>Tällä myös vältetään koodin uudelleen kirjoittamista, kun </a:t>
            </a:r>
            <a:br>
              <a:rPr lang="fi-FI" dirty="0"/>
            </a:br>
            <a:r>
              <a:rPr lang="fi-FI" dirty="0"/>
              <a:t>samaa koodia voidaan käyttää useampaan kertaan</a:t>
            </a:r>
          </a:p>
          <a:p>
            <a:endParaRPr lang="fi-FI" dirty="0"/>
          </a:p>
        </p:txBody>
      </p:sp>
      <p:pic>
        <p:nvPicPr>
          <p:cNvPr id="4" name="Kuva 3">
            <a:extLst>
              <a:ext uri="{FF2B5EF4-FFF2-40B4-BE49-F238E27FC236}">
                <a16:creationId xmlns:a16="http://schemas.microsoft.com/office/drawing/2014/main" id="{3CA82F34-2993-E748-B098-4CAF1F5668C3}"/>
              </a:ext>
            </a:extLst>
          </p:cNvPr>
          <p:cNvPicPr>
            <a:picLocks noChangeAspect="1"/>
          </p:cNvPicPr>
          <p:nvPr/>
        </p:nvPicPr>
        <p:blipFill>
          <a:blip r:embed="rId2"/>
          <a:stretch>
            <a:fillRect/>
          </a:stretch>
        </p:blipFill>
        <p:spPr>
          <a:xfrm>
            <a:off x="1165332" y="3212030"/>
            <a:ext cx="6032500" cy="927100"/>
          </a:xfrm>
          <a:prstGeom prst="rect">
            <a:avLst/>
          </a:prstGeom>
        </p:spPr>
      </p:pic>
    </p:spTree>
    <p:extLst>
      <p:ext uri="{BB962C8B-B14F-4D97-AF65-F5344CB8AC3E}">
        <p14:creationId xmlns:p14="http://schemas.microsoft.com/office/powerpoint/2010/main" val="548777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11CEC97-9714-4545-AE23-5F737D27C3E0}"/>
              </a:ext>
            </a:extLst>
          </p:cNvPr>
          <p:cNvSpPr>
            <a:spLocks noGrp="1"/>
          </p:cNvSpPr>
          <p:nvPr>
            <p:ph type="title"/>
          </p:nvPr>
        </p:nvSpPr>
        <p:spPr>
          <a:xfrm>
            <a:off x="791918" y="129863"/>
            <a:ext cx="8063670" cy="692070"/>
          </a:xfrm>
        </p:spPr>
        <p:txBody>
          <a:bodyPr/>
          <a:lstStyle/>
          <a:p>
            <a:r>
              <a:rPr lang="fi-FI" dirty="0"/>
              <a:t>Metodin määrittely, toteutus ja kutsu</a:t>
            </a:r>
          </a:p>
        </p:txBody>
      </p:sp>
      <p:sp>
        <p:nvSpPr>
          <p:cNvPr id="3" name="Sisällön paikkamerkki 2">
            <a:extLst>
              <a:ext uri="{FF2B5EF4-FFF2-40B4-BE49-F238E27FC236}">
                <a16:creationId xmlns:a16="http://schemas.microsoft.com/office/drawing/2014/main" id="{715DF40E-55D5-234E-8FB7-55088CAA4C91}"/>
              </a:ext>
            </a:extLst>
          </p:cNvPr>
          <p:cNvSpPr>
            <a:spLocks noGrp="1"/>
          </p:cNvSpPr>
          <p:nvPr>
            <p:ph sz="quarter" idx="12"/>
          </p:nvPr>
        </p:nvSpPr>
        <p:spPr>
          <a:xfrm>
            <a:off x="791918" y="821934"/>
            <a:ext cx="8063670" cy="5906204"/>
          </a:xfrm>
        </p:spPr>
        <p:txBody>
          <a:bodyPr/>
          <a:lstStyle/>
          <a:p>
            <a:r>
              <a:rPr lang="fi-FI" dirty="0"/>
              <a:t>Metodin määrittelyvaiheessa määrittelemme metodin, jotta muu ohjelma voi onnistuneesti tunnistaa sen</a:t>
            </a:r>
          </a:p>
          <a:p>
            <a:r>
              <a:rPr lang="fi-FI" dirty="0"/>
              <a:t>Toteutusvaiheessa kirjoitamme koodin, joka ratkaisee tietyn ongelman. Tämä koodi on metodin sisällä ja edustaa sen logiikkaa</a:t>
            </a:r>
          </a:p>
          <a:p>
            <a:r>
              <a:rPr lang="fi-FI" dirty="0"/>
              <a:t>Metodin kutsuvaiheessa otamme käyttöön ko. metodin. Em. Suorakaiteen alan laskemisessa sitä ei vielä missään vaiheessa otettu käyttöön, se vasta määritettiin ja sille kirjoitettiin toteutus. Jos sitä halutaan kutsua, se pitää tehdä seuraavasti:</a:t>
            </a:r>
          </a:p>
          <a:p>
            <a:endParaRPr lang="fi-FI" dirty="0"/>
          </a:p>
          <a:p>
            <a:r>
              <a:rPr lang="fi-FI" dirty="0"/>
              <a:t>Metodin määrittäminen tapahtuu seuraavasti:</a:t>
            </a:r>
            <a:br>
              <a:rPr lang="fi-FI" dirty="0"/>
            </a:br>
            <a:r>
              <a:rPr lang="fi-FI" dirty="0"/>
              <a:t>[</a:t>
            </a:r>
            <a:r>
              <a:rPr lang="fi-FI" dirty="0" err="1">
                <a:solidFill>
                  <a:srgbClr val="0010D8"/>
                </a:solidFill>
              </a:rPr>
              <a:t>static</a:t>
            </a:r>
            <a:r>
              <a:rPr lang="fi-FI" dirty="0"/>
              <a:t>] &lt;</a:t>
            </a:r>
            <a:r>
              <a:rPr lang="fi-FI" dirty="0" err="1"/>
              <a:t>palautuksen_muuttuja_tyyppi</a:t>
            </a:r>
            <a:r>
              <a:rPr lang="fi-FI" dirty="0"/>
              <a:t>&gt; &lt;</a:t>
            </a:r>
            <a:r>
              <a:rPr lang="fi-FI" dirty="0" err="1"/>
              <a:t>MetodinNimi</a:t>
            </a:r>
            <a:r>
              <a:rPr lang="fi-FI" dirty="0"/>
              <a:t>&gt;([&lt;parametrilistaus&gt;])</a:t>
            </a:r>
          </a:p>
          <a:p>
            <a:r>
              <a:rPr lang="fi-FI" dirty="0"/>
              <a:t>Muutama asia on pakollinen:</a:t>
            </a:r>
          </a:p>
          <a:p>
            <a:pPr lvl="1"/>
            <a:r>
              <a:rPr lang="fi-FI" dirty="0" err="1"/>
              <a:t>Minkätyyppisen</a:t>
            </a:r>
            <a:r>
              <a:rPr lang="fi-FI" dirty="0"/>
              <a:t> datan metodi palauttaa, voi olla myös palauttamatta</a:t>
            </a:r>
            <a:br>
              <a:rPr lang="fi-FI" dirty="0"/>
            </a:br>
            <a:r>
              <a:rPr lang="fi-FI" dirty="0"/>
              <a:t>(</a:t>
            </a:r>
            <a:r>
              <a:rPr lang="fi-FI" dirty="0" err="1"/>
              <a:t>void</a:t>
            </a:r>
            <a:r>
              <a:rPr lang="fi-FI" dirty="0"/>
              <a:t>)</a:t>
            </a:r>
          </a:p>
          <a:p>
            <a:pPr lvl="1"/>
            <a:r>
              <a:rPr lang="fi-FI" dirty="0"/>
              <a:t>Metodin nimi ja sen perässä sulut</a:t>
            </a:r>
          </a:p>
          <a:p>
            <a:pPr lvl="1"/>
            <a:r>
              <a:rPr lang="fi-FI" dirty="0"/>
              <a:t>Eli siis hakasuluissa olevat asiat ovat valinnaisia, mutta</a:t>
            </a:r>
            <a:br>
              <a:rPr lang="fi-FI" dirty="0"/>
            </a:br>
            <a:r>
              <a:rPr lang="fi-FI" dirty="0" err="1"/>
              <a:t>static</a:t>
            </a:r>
            <a:r>
              <a:rPr lang="fi-FI" dirty="0"/>
              <a:t>-sanaa tulisi käyttää pienissä metodeissa</a:t>
            </a:r>
          </a:p>
          <a:p>
            <a:r>
              <a:rPr lang="fi-FI" dirty="0"/>
              <a:t>HUOM! Kun määrittelemme muuttujan metodin sisällä,</a:t>
            </a:r>
            <a:br>
              <a:rPr lang="fi-FI" dirty="0"/>
            </a:br>
            <a:r>
              <a:rPr lang="fi-FI" dirty="0"/>
              <a:t>se on paikallinen muuttuja, eli se EI NÄY metodin </a:t>
            </a:r>
            <a:br>
              <a:rPr lang="fi-FI" dirty="0"/>
            </a:br>
            <a:r>
              <a:rPr lang="fi-FI" dirty="0"/>
              <a:t>ulkopuolelle</a:t>
            </a:r>
          </a:p>
        </p:txBody>
      </p:sp>
      <p:pic>
        <p:nvPicPr>
          <p:cNvPr id="4" name="Kuva 3">
            <a:extLst>
              <a:ext uri="{FF2B5EF4-FFF2-40B4-BE49-F238E27FC236}">
                <a16:creationId xmlns:a16="http://schemas.microsoft.com/office/drawing/2014/main" id="{05D2AF87-63F1-F748-9986-DF3640680B41}"/>
              </a:ext>
            </a:extLst>
          </p:cNvPr>
          <p:cNvPicPr>
            <a:picLocks noChangeAspect="1"/>
          </p:cNvPicPr>
          <p:nvPr/>
        </p:nvPicPr>
        <p:blipFill>
          <a:blip r:embed="rId2"/>
          <a:stretch>
            <a:fillRect/>
          </a:stretch>
        </p:blipFill>
        <p:spPr>
          <a:xfrm>
            <a:off x="1210352" y="2899809"/>
            <a:ext cx="4216400" cy="215900"/>
          </a:xfrm>
          <a:prstGeom prst="rect">
            <a:avLst/>
          </a:prstGeom>
        </p:spPr>
      </p:pic>
    </p:spTree>
    <p:extLst>
      <p:ext uri="{BB962C8B-B14F-4D97-AF65-F5344CB8AC3E}">
        <p14:creationId xmlns:p14="http://schemas.microsoft.com/office/powerpoint/2010/main" val="31280838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251476F-2921-8441-8950-42F2D06EA1B2}"/>
              </a:ext>
            </a:extLst>
          </p:cNvPr>
          <p:cNvSpPr>
            <a:spLocks noGrp="1"/>
          </p:cNvSpPr>
          <p:nvPr>
            <p:ph type="title"/>
          </p:nvPr>
        </p:nvSpPr>
        <p:spPr>
          <a:xfrm>
            <a:off x="791918" y="129863"/>
            <a:ext cx="8063670" cy="681795"/>
          </a:xfrm>
        </p:spPr>
        <p:txBody>
          <a:bodyPr/>
          <a:lstStyle/>
          <a:p>
            <a:r>
              <a:rPr lang="fi-FI" dirty="0"/>
              <a:t>Esimerkki paikallisesta muuttujasta</a:t>
            </a:r>
          </a:p>
        </p:txBody>
      </p:sp>
      <p:sp>
        <p:nvSpPr>
          <p:cNvPr id="3" name="Sisällön paikkamerkki 2">
            <a:extLst>
              <a:ext uri="{FF2B5EF4-FFF2-40B4-BE49-F238E27FC236}">
                <a16:creationId xmlns:a16="http://schemas.microsoft.com/office/drawing/2014/main" id="{AB0A4959-DC45-1B48-AC53-B477F9C7299A}"/>
              </a:ext>
            </a:extLst>
          </p:cNvPr>
          <p:cNvSpPr>
            <a:spLocks noGrp="1"/>
          </p:cNvSpPr>
          <p:nvPr>
            <p:ph sz="quarter" idx="12"/>
          </p:nvPr>
        </p:nvSpPr>
        <p:spPr>
          <a:xfrm>
            <a:off x="791918" y="3349375"/>
            <a:ext cx="8063670" cy="3378762"/>
          </a:xfrm>
        </p:spPr>
        <p:txBody>
          <a:bodyPr/>
          <a:lstStyle/>
          <a:p>
            <a:r>
              <a:rPr lang="fi-FI" dirty="0"/>
              <a:t>Edellä siis määrittelemme x:n arvoksi kymmenen</a:t>
            </a:r>
          </a:p>
          <a:p>
            <a:r>
              <a:rPr lang="fi-FI" dirty="0"/>
              <a:t>Tämän jälkeen kutsumme metodia, jossa määrittelemme x:n arvoksi 20, mutta koska tämä tapahtuu paikallisesti, eli vain tämän metodin sisällä, ei Main-metodin x muutu, vaan pysyy edelleen arvossa 10, kuten tulostuksesta näemme</a:t>
            </a:r>
          </a:p>
        </p:txBody>
      </p:sp>
      <p:pic>
        <p:nvPicPr>
          <p:cNvPr id="5" name="Kuva 4">
            <a:extLst>
              <a:ext uri="{FF2B5EF4-FFF2-40B4-BE49-F238E27FC236}">
                <a16:creationId xmlns:a16="http://schemas.microsoft.com/office/drawing/2014/main" id="{6A1E5E40-1FA8-D641-A227-95CA12441B72}"/>
              </a:ext>
            </a:extLst>
          </p:cNvPr>
          <p:cNvPicPr>
            <a:picLocks noChangeAspect="1"/>
          </p:cNvPicPr>
          <p:nvPr/>
        </p:nvPicPr>
        <p:blipFill>
          <a:blip r:embed="rId2"/>
          <a:stretch>
            <a:fillRect/>
          </a:stretch>
        </p:blipFill>
        <p:spPr>
          <a:xfrm>
            <a:off x="939800" y="811658"/>
            <a:ext cx="3632200" cy="2463800"/>
          </a:xfrm>
          <a:prstGeom prst="rect">
            <a:avLst/>
          </a:prstGeom>
        </p:spPr>
      </p:pic>
      <p:pic>
        <p:nvPicPr>
          <p:cNvPr id="7" name="Kuva 6">
            <a:extLst>
              <a:ext uri="{FF2B5EF4-FFF2-40B4-BE49-F238E27FC236}">
                <a16:creationId xmlns:a16="http://schemas.microsoft.com/office/drawing/2014/main" id="{DB28424C-19E3-2844-9B18-B697BC5180BC}"/>
              </a:ext>
            </a:extLst>
          </p:cNvPr>
          <p:cNvPicPr>
            <a:picLocks noChangeAspect="1"/>
          </p:cNvPicPr>
          <p:nvPr/>
        </p:nvPicPr>
        <p:blipFill>
          <a:blip r:embed="rId3"/>
          <a:stretch>
            <a:fillRect/>
          </a:stretch>
        </p:blipFill>
        <p:spPr>
          <a:xfrm>
            <a:off x="4904626" y="1150634"/>
            <a:ext cx="1797130" cy="1058310"/>
          </a:xfrm>
          <a:prstGeom prst="rect">
            <a:avLst/>
          </a:prstGeom>
        </p:spPr>
      </p:pic>
    </p:spTree>
    <p:extLst>
      <p:ext uri="{BB962C8B-B14F-4D97-AF65-F5344CB8AC3E}">
        <p14:creationId xmlns:p14="http://schemas.microsoft.com/office/powerpoint/2010/main" val="267932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F3876E74-CCCC-40BD-A3DF-D89D611A1C18}"/>
              </a:ext>
            </a:extLst>
          </p:cNvPr>
          <p:cNvSpPr>
            <a:spLocks noGrp="1"/>
          </p:cNvSpPr>
          <p:nvPr>
            <p:ph type="title"/>
          </p:nvPr>
        </p:nvSpPr>
        <p:spPr/>
        <p:txBody>
          <a:bodyPr/>
          <a:lstStyle/>
          <a:p>
            <a:r>
              <a:rPr lang="fi-FI" dirty="0"/>
              <a:t>C# perusteet jatkuu</a:t>
            </a:r>
          </a:p>
        </p:txBody>
      </p:sp>
      <p:sp>
        <p:nvSpPr>
          <p:cNvPr id="3" name="Sisällön paikkamerkki 2">
            <a:extLst>
              <a:ext uri="{FF2B5EF4-FFF2-40B4-BE49-F238E27FC236}">
                <a16:creationId xmlns:a16="http://schemas.microsoft.com/office/drawing/2014/main" id="{055A6F03-414B-4773-8CE7-45ACD68207C3}"/>
              </a:ext>
            </a:extLst>
          </p:cNvPr>
          <p:cNvSpPr>
            <a:spLocks noGrp="1"/>
          </p:cNvSpPr>
          <p:nvPr>
            <p:ph sz="quarter" idx="12"/>
          </p:nvPr>
        </p:nvSpPr>
        <p:spPr>
          <a:xfrm>
            <a:off x="791918" y="3123454"/>
            <a:ext cx="7580295" cy="3302513"/>
          </a:xfrm>
        </p:spPr>
        <p:txBody>
          <a:bodyPr>
            <a:normAutofit/>
          </a:bodyPr>
          <a:lstStyle/>
          <a:p>
            <a:r>
              <a:rPr lang="fi-FI" dirty="0"/>
              <a:t>Luokan edessä oleva </a:t>
            </a:r>
            <a:r>
              <a:rPr lang="fi-FI" dirty="0" err="1"/>
              <a:t>public</a:t>
            </a:r>
            <a:r>
              <a:rPr lang="fi-FI" dirty="0"/>
              <a:t>‐sana on eräs saantimääre (</a:t>
            </a:r>
            <a:r>
              <a:rPr lang="fi-FI" dirty="0" err="1"/>
              <a:t>eng</a:t>
            </a:r>
            <a:r>
              <a:rPr lang="fi-FI" dirty="0"/>
              <a:t>. </a:t>
            </a:r>
            <a:r>
              <a:rPr lang="fi-FI" dirty="0" err="1"/>
              <a:t>access</a:t>
            </a:r>
            <a:r>
              <a:rPr lang="fi-FI" dirty="0"/>
              <a:t> </a:t>
            </a:r>
            <a:r>
              <a:rPr lang="fi-FI" dirty="0" err="1"/>
              <a:t>modifier</a:t>
            </a:r>
            <a:r>
              <a:rPr lang="fi-FI" dirty="0"/>
              <a:t>). Saantimääreen avulla luokka voidaan asettaa rajoituksetta tai osittain muiden (luokkien) saataville, tai piilottaa kokonaan. Sana </a:t>
            </a:r>
            <a:r>
              <a:rPr lang="fi-FI" dirty="0" err="1"/>
              <a:t>public</a:t>
            </a:r>
            <a:r>
              <a:rPr lang="fi-FI" dirty="0"/>
              <a:t> tarkoittaa, että luokka on muiden luokkien näkökulmasta julkinen, kuten luokat useimmiten ovat. Muita saantimääreitä ovat </a:t>
            </a:r>
            <a:r>
              <a:rPr lang="fi-FI" i="1" dirty="0" err="1"/>
              <a:t>protected</a:t>
            </a:r>
            <a:r>
              <a:rPr lang="fi-FI" i="1" dirty="0"/>
              <a:t>, </a:t>
            </a:r>
            <a:r>
              <a:rPr lang="fi-FI" i="1" dirty="0" err="1"/>
              <a:t>internal</a:t>
            </a:r>
            <a:r>
              <a:rPr lang="fi-FI" i="1" dirty="0"/>
              <a:t> ja </a:t>
            </a:r>
            <a:r>
              <a:rPr lang="fi-FI" i="1" dirty="0" err="1"/>
              <a:t>private</a:t>
            </a:r>
            <a:r>
              <a:rPr lang="fi-FI" dirty="0"/>
              <a:t>.</a:t>
            </a:r>
          </a:p>
          <a:p>
            <a:r>
              <a:rPr lang="fi-FI" dirty="0"/>
              <a:t>Määreen voi myös jättää kirjoittamatta luokan eteen, jolloin luokan </a:t>
            </a:r>
            <a:br>
              <a:rPr lang="fi-FI" dirty="0"/>
            </a:br>
            <a:r>
              <a:rPr lang="fi-FI" dirty="0"/>
              <a:t>määreeksi tulee automaattisesti </a:t>
            </a:r>
            <a:r>
              <a:rPr lang="fi-FI" i="1" dirty="0" err="1"/>
              <a:t>internal</a:t>
            </a:r>
            <a:r>
              <a:rPr lang="fi-FI" dirty="0"/>
              <a:t>. Puhumme aliohjelmista </a:t>
            </a:r>
            <a:br>
              <a:rPr lang="fi-FI" dirty="0"/>
            </a:br>
            <a:r>
              <a:rPr lang="fi-FI" dirty="0"/>
              <a:t>myöhemmin, mutta mainittakoon, että vastaavasti, jos aliohjelmasta </a:t>
            </a:r>
            <a:br>
              <a:rPr lang="fi-FI" dirty="0"/>
            </a:br>
            <a:r>
              <a:rPr lang="fi-FI" dirty="0"/>
              <a:t>jättää määreen kirjoittamatta, tulee siitä </a:t>
            </a:r>
            <a:r>
              <a:rPr lang="fi-FI" i="1" dirty="0" err="1"/>
              <a:t>private</a:t>
            </a:r>
            <a:r>
              <a:rPr lang="fi-FI" dirty="0"/>
              <a:t>. Tällä kurssilla kuitenkin </a:t>
            </a:r>
            <a:br>
              <a:rPr lang="fi-FI" dirty="0"/>
            </a:br>
            <a:r>
              <a:rPr lang="fi-FI" dirty="0"/>
              <a:t>harjoitellaan kirjoittamaan julkisia luokkia (ja aliohjelmia), </a:t>
            </a:r>
            <a:br>
              <a:rPr lang="fi-FI" dirty="0"/>
            </a:br>
            <a:r>
              <a:rPr lang="fi-FI" dirty="0"/>
              <a:t>jolloin </a:t>
            </a:r>
            <a:r>
              <a:rPr lang="fi-FI" dirty="0" err="1"/>
              <a:t>public</a:t>
            </a:r>
            <a:r>
              <a:rPr lang="fi-FI" dirty="0"/>
              <a:t>-sana kirjoitetaan aina luokan ja aliohjelman </a:t>
            </a:r>
            <a:br>
              <a:rPr lang="fi-FI" dirty="0"/>
            </a:br>
            <a:r>
              <a:rPr lang="fi-FI" dirty="0"/>
              <a:t>eteen.</a:t>
            </a:r>
          </a:p>
        </p:txBody>
      </p:sp>
    </p:spTree>
    <p:extLst>
      <p:ext uri="{BB962C8B-B14F-4D97-AF65-F5344CB8AC3E}">
        <p14:creationId xmlns:p14="http://schemas.microsoft.com/office/powerpoint/2010/main" val="26849272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6F14EA43-4E6D-4915-932F-CB8C8F9B0500}"/>
              </a:ext>
            </a:extLst>
          </p:cNvPr>
          <p:cNvSpPr>
            <a:spLocks noGrp="1"/>
          </p:cNvSpPr>
          <p:nvPr>
            <p:ph type="title"/>
          </p:nvPr>
        </p:nvSpPr>
        <p:spPr/>
        <p:txBody>
          <a:bodyPr/>
          <a:lstStyle/>
          <a:p>
            <a:r>
              <a:rPr lang="fi-FI" dirty="0"/>
              <a:t>C# perusteet jatkuu</a:t>
            </a:r>
          </a:p>
        </p:txBody>
      </p:sp>
      <p:sp>
        <p:nvSpPr>
          <p:cNvPr id="3" name="Sisällön paikkamerkki 2">
            <a:extLst>
              <a:ext uri="{FF2B5EF4-FFF2-40B4-BE49-F238E27FC236}">
                <a16:creationId xmlns:a16="http://schemas.microsoft.com/office/drawing/2014/main" id="{7C2F1908-E642-49BF-BD5F-E1DABE9AABBD}"/>
              </a:ext>
            </a:extLst>
          </p:cNvPr>
          <p:cNvSpPr>
            <a:spLocks noGrp="1"/>
          </p:cNvSpPr>
          <p:nvPr>
            <p:ph sz="quarter" idx="12"/>
          </p:nvPr>
        </p:nvSpPr>
        <p:spPr/>
        <p:txBody>
          <a:bodyPr/>
          <a:lstStyle/>
          <a:p>
            <a:r>
              <a:rPr lang="fi-FI" dirty="0" err="1"/>
              <a:t>usi</a:t>
            </a:r>
            <a:r>
              <a:rPr lang="fi-FI" dirty="0"/>
              <a:t> aliohjelma nimeltä Main. Nimensä ansiosta se on tämän luokan pääohjelma. </a:t>
            </a:r>
          </a:p>
          <a:p>
            <a:r>
              <a:rPr lang="fi-FI" dirty="0"/>
              <a:t>Sanat </a:t>
            </a:r>
            <a:r>
              <a:rPr lang="fi-FI" dirty="0" err="1"/>
              <a:t>static</a:t>
            </a:r>
            <a:r>
              <a:rPr lang="fi-FI" dirty="0"/>
              <a:t> ja </a:t>
            </a:r>
            <a:r>
              <a:rPr lang="fi-FI" dirty="0" err="1"/>
              <a:t>void</a:t>
            </a:r>
            <a:r>
              <a:rPr lang="fi-FI" dirty="0"/>
              <a:t> kuuluvat aina Main-aliohjelman esittelyyn. </a:t>
            </a:r>
          </a:p>
          <a:p>
            <a:r>
              <a:rPr lang="fi-FI" dirty="0"/>
              <a:t>Paneudumme niihin tarkemmin hieman  myöhemmin, mutta sanottakoon tässä kohtaa, että </a:t>
            </a:r>
            <a:r>
              <a:rPr lang="fi-FI" dirty="0" err="1"/>
              <a:t>static</a:t>
            </a:r>
            <a:r>
              <a:rPr lang="fi-FI" dirty="0"/>
              <a:t> tarkoittaa, että aliohjelma on luokkakohtainen (vastakohtana oliokohtainen, jolloin </a:t>
            </a:r>
            <a:r>
              <a:rPr lang="fi-FI" dirty="0" err="1"/>
              <a:t>static</a:t>
            </a:r>
            <a:r>
              <a:rPr lang="fi-FI" dirty="0"/>
              <a:t>-sanaa ei kirjoiteta). Vastaavasti </a:t>
            </a:r>
            <a:r>
              <a:rPr lang="fi-FI" dirty="0" err="1"/>
              <a:t>void</a:t>
            </a:r>
            <a:r>
              <a:rPr lang="fi-FI" dirty="0"/>
              <a:t> merkitsee, ettei aliohjelma palauta mitään tietoa.</a:t>
            </a:r>
          </a:p>
        </p:txBody>
      </p:sp>
    </p:spTree>
    <p:extLst>
      <p:ext uri="{BB962C8B-B14F-4D97-AF65-F5344CB8AC3E}">
        <p14:creationId xmlns:p14="http://schemas.microsoft.com/office/powerpoint/2010/main" val="7606252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C0120625-88FA-4F4D-B655-7F47CDB123FE}"/>
              </a:ext>
            </a:extLst>
          </p:cNvPr>
          <p:cNvSpPr>
            <a:spLocks noGrp="1"/>
          </p:cNvSpPr>
          <p:nvPr>
            <p:ph type="title"/>
          </p:nvPr>
        </p:nvSpPr>
        <p:spPr/>
        <p:txBody>
          <a:bodyPr/>
          <a:lstStyle/>
          <a:p>
            <a:r>
              <a:rPr lang="fi-FI" dirty="0"/>
              <a:t>C# perusteet jatkuu</a:t>
            </a:r>
          </a:p>
        </p:txBody>
      </p:sp>
      <p:sp>
        <p:nvSpPr>
          <p:cNvPr id="3" name="Sisällön paikkamerkki 2">
            <a:extLst>
              <a:ext uri="{FF2B5EF4-FFF2-40B4-BE49-F238E27FC236}">
                <a16:creationId xmlns:a16="http://schemas.microsoft.com/office/drawing/2014/main" id="{951E2BE4-580A-4851-BEC2-980DBCA3FBF6}"/>
              </a:ext>
            </a:extLst>
          </p:cNvPr>
          <p:cNvSpPr>
            <a:spLocks noGrp="1"/>
          </p:cNvSpPr>
          <p:nvPr>
            <p:ph sz="quarter" idx="12"/>
          </p:nvPr>
        </p:nvSpPr>
        <p:spPr>
          <a:xfrm>
            <a:off x="791918" y="3123454"/>
            <a:ext cx="7009843" cy="2884487"/>
          </a:xfrm>
        </p:spPr>
        <p:txBody>
          <a:bodyPr/>
          <a:lstStyle/>
          <a:p>
            <a:r>
              <a:rPr lang="fi-FI" dirty="0"/>
              <a:t>Jokainen lause päättyy C#:</a:t>
            </a:r>
            <a:r>
              <a:rPr lang="fi-FI" dirty="0" err="1"/>
              <a:t>ssa</a:t>
            </a:r>
            <a:r>
              <a:rPr lang="fi-FI" dirty="0"/>
              <a:t> puolipisteeseen. Koska lauseen loppuminen ilmoitetaan puolipisteellä, ei C#:n syntaksissa (</a:t>
            </a:r>
            <a:r>
              <a:rPr lang="fi-FI" dirty="0" err="1"/>
              <a:t>syntax</a:t>
            </a:r>
            <a:r>
              <a:rPr lang="fi-FI" dirty="0"/>
              <a:t>) ”tyhjillä merkeillä” (white </a:t>
            </a:r>
            <a:r>
              <a:rPr lang="fi-FI" dirty="0" err="1"/>
              <a:t>space</a:t>
            </a:r>
            <a:r>
              <a:rPr lang="fi-FI" dirty="0"/>
              <a:t>), kuten rivinvaihdoilla ja välilyönneillä ole merkitystä ohjelman toiminnan kannalta. Ohjelmakoodin luettavuuden kannalta niillä on kuitenkin suuri merkitys. Huomaa, että puolipisteen unohtaminen on yksi yleisimmistä ohjelmointivirheistä ja tarkemmin sanottuna syntaksivirheistä.</a:t>
            </a:r>
          </a:p>
          <a:p>
            <a:r>
              <a:rPr lang="fi-FI" dirty="0"/>
              <a:t>Syntaksi = Tietyn ohjelmointikielen (esimerkiksi C#:n) kielioppisäännöstö.</a:t>
            </a:r>
          </a:p>
        </p:txBody>
      </p:sp>
    </p:spTree>
    <p:extLst>
      <p:ext uri="{BB962C8B-B14F-4D97-AF65-F5344CB8AC3E}">
        <p14:creationId xmlns:p14="http://schemas.microsoft.com/office/powerpoint/2010/main" val="41721952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8659488-B41C-43C8-8C8F-E090DBC04F57}"/>
              </a:ext>
            </a:extLst>
          </p:cNvPr>
          <p:cNvSpPr>
            <a:spLocks noGrp="1"/>
          </p:cNvSpPr>
          <p:nvPr>
            <p:ph type="title"/>
          </p:nvPr>
        </p:nvSpPr>
        <p:spPr>
          <a:xfrm>
            <a:off x="791918" y="40378"/>
            <a:ext cx="5761282" cy="1440392"/>
          </a:xfrm>
        </p:spPr>
        <p:txBody>
          <a:bodyPr/>
          <a:lstStyle/>
          <a:p>
            <a:r>
              <a:rPr lang="fi-FI" dirty="0"/>
              <a:t>Virhetyypit</a:t>
            </a:r>
          </a:p>
        </p:txBody>
      </p:sp>
      <p:sp>
        <p:nvSpPr>
          <p:cNvPr id="3" name="Sisällön paikkamerkki 2">
            <a:extLst>
              <a:ext uri="{FF2B5EF4-FFF2-40B4-BE49-F238E27FC236}">
                <a16:creationId xmlns:a16="http://schemas.microsoft.com/office/drawing/2014/main" id="{7021446F-8D12-4E77-8DC5-B97B746C79E7}"/>
              </a:ext>
            </a:extLst>
          </p:cNvPr>
          <p:cNvSpPr>
            <a:spLocks noGrp="1"/>
          </p:cNvSpPr>
          <p:nvPr>
            <p:ph sz="quarter" idx="12"/>
          </p:nvPr>
        </p:nvSpPr>
        <p:spPr>
          <a:xfrm>
            <a:off x="791918" y="1480770"/>
            <a:ext cx="5248647" cy="4527171"/>
          </a:xfrm>
        </p:spPr>
        <p:txBody>
          <a:bodyPr/>
          <a:lstStyle/>
          <a:p>
            <a:r>
              <a:rPr lang="fi-FI" dirty="0"/>
              <a:t>Syntaksivirhe estää ohjelman kääntymisen vaikka merkitys eli semantiikka olisikin oikein. Siksi ne huomataankin aina viimeistään ohjelmaa käännettäessä. Syntaksivirhe voi olla esimerkiksi joku kirjoitusvirhe tai puolipisteen unohtaminen lauseen lopusta. </a:t>
            </a:r>
          </a:p>
          <a:p>
            <a:r>
              <a:rPr lang="fi-FI" dirty="0"/>
              <a:t>Loogisissa virheissä semantiikka, eli merkitys, on väärin. Ne on vaikeampi huomata, sillä ohjelma kääntyy semanttisista virheistä huolimatta. Ohjelma voi jopa näyttää toimivan täysin oikein. Jos looginen virhe ei löydy testauksessakaan (</a:t>
            </a:r>
            <a:r>
              <a:rPr lang="fi-FI" dirty="0" err="1"/>
              <a:t>testing</a:t>
            </a:r>
            <a:r>
              <a:rPr lang="fi-FI" dirty="0"/>
              <a:t>), voivat seuraukset ohjelmistosta riippuen olla tuhoisia. Tässä yksi tunnettu esimerkki loogisesta virheestä:</a:t>
            </a:r>
          </a:p>
          <a:p>
            <a:r>
              <a:rPr lang="fi-FI" dirty="0">
                <a:hlinkClick r:id="rId2"/>
              </a:rPr>
              <a:t>http://money.cnn.com/magazines/fortune/fortune_archive/2000/02/07/272831/index.htm</a:t>
            </a:r>
            <a:endParaRPr lang="fi-FI" dirty="0"/>
          </a:p>
        </p:txBody>
      </p:sp>
    </p:spTree>
    <p:extLst>
      <p:ext uri="{BB962C8B-B14F-4D97-AF65-F5344CB8AC3E}">
        <p14:creationId xmlns:p14="http://schemas.microsoft.com/office/powerpoint/2010/main" val="421028974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9509FA55-BBC6-4140-BC2F-273E7042C70D}"/>
              </a:ext>
            </a:extLst>
          </p:cNvPr>
          <p:cNvSpPr>
            <a:spLocks noGrp="1"/>
          </p:cNvSpPr>
          <p:nvPr>
            <p:ph type="title"/>
          </p:nvPr>
        </p:nvSpPr>
        <p:spPr>
          <a:xfrm>
            <a:off x="791918" y="31989"/>
            <a:ext cx="5761282" cy="1440392"/>
          </a:xfrm>
        </p:spPr>
        <p:txBody>
          <a:bodyPr/>
          <a:lstStyle/>
          <a:p>
            <a:r>
              <a:rPr lang="fi-FI" dirty="0"/>
              <a:t>Kääntäjän virheilmoitusten tulkinta</a:t>
            </a:r>
          </a:p>
        </p:txBody>
      </p:sp>
      <p:sp>
        <p:nvSpPr>
          <p:cNvPr id="3" name="Sisällön paikkamerkki 2">
            <a:extLst>
              <a:ext uri="{FF2B5EF4-FFF2-40B4-BE49-F238E27FC236}">
                <a16:creationId xmlns:a16="http://schemas.microsoft.com/office/drawing/2014/main" id="{66E7206D-FE24-406F-ABF5-7EEE7ED0B56C}"/>
              </a:ext>
            </a:extLst>
          </p:cNvPr>
          <p:cNvSpPr>
            <a:spLocks noGrp="1"/>
          </p:cNvSpPr>
          <p:nvPr>
            <p:ph sz="quarter" idx="12"/>
          </p:nvPr>
        </p:nvSpPr>
        <p:spPr>
          <a:xfrm>
            <a:off x="791918" y="1472382"/>
            <a:ext cx="6691062" cy="4535560"/>
          </a:xfrm>
        </p:spPr>
        <p:txBody>
          <a:bodyPr>
            <a:normAutofit fontScale="77500" lnSpcReduction="20000"/>
          </a:bodyPr>
          <a:lstStyle/>
          <a:p>
            <a:r>
              <a:rPr lang="fi-FI" dirty="0"/>
              <a:t>Alla on esimerkki syntaksivirheestä </a:t>
            </a:r>
            <a:r>
              <a:rPr lang="fi-FI" dirty="0" err="1"/>
              <a:t>HelloWorld</a:t>
            </a:r>
            <a:r>
              <a:rPr lang="fi-FI" dirty="0"/>
              <a:t>-ohjelmassa</a:t>
            </a:r>
          </a:p>
          <a:p>
            <a:endParaRPr lang="fi-FI" dirty="0"/>
          </a:p>
          <a:p>
            <a:endParaRPr lang="fi-FI" dirty="0"/>
          </a:p>
          <a:p>
            <a:endParaRPr lang="fi-FI" dirty="0"/>
          </a:p>
          <a:p>
            <a:endParaRPr lang="fi-FI" dirty="0"/>
          </a:p>
          <a:p>
            <a:endParaRPr lang="fi-FI" dirty="0"/>
          </a:p>
          <a:p>
            <a:endParaRPr lang="fi-FI" dirty="0"/>
          </a:p>
          <a:p>
            <a:endParaRPr lang="fi-FI" dirty="0"/>
          </a:p>
          <a:p>
            <a:r>
              <a:rPr lang="fi-FI" dirty="0"/>
              <a:t>1&gt;------ </a:t>
            </a:r>
            <a:r>
              <a:rPr lang="fi-FI" dirty="0" err="1"/>
              <a:t>Build</a:t>
            </a:r>
            <a:r>
              <a:rPr lang="fi-FI" dirty="0"/>
              <a:t> </a:t>
            </a:r>
            <a:r>
              <a:rPr lang="fi-FI" dirty="0" err="1"/>
              <a:t>started</a:t>
            </a:r>
            <a:r>
              <a:rPr lang="fi-FI" dirty="0"/>
              <a:t>: Project: </a:t>
            </a:r>
            <a:r>
              <a:rPr lang="fi-FI" dirty="0" err="1"/>
              <a:t>Ensimmainen_ohjelma</a:t>
            </a:r>
            <a:r>
              <a:rPr lang="fi-FI" dirty="0"/>
              <a:t>, </a:t>
            </a:r>
            <a:r>
              <a:rPr lang="fi-FI" dirty="0" err="1"/>
              <a:t>Configuration</a:t>
            </a:r>
            <a:r>
              <a:rPr lang="fi-FI" dirty="0"/>
              <a:t>: </a:t>
            </a:r>
            <a:r>
              <a:rPr lang="fi-FI" dirty="0" err="1"/>
              <a:t>Debug</a:t>
            </a:r>
            <a:r>
              <a:rPr lang="fi-FI" dirty="0"/>
              <a:t> </a:t>
            </a:r>
            <a:r>
              <a:rPr lang="fi-FI" dirty="0" err="1"/>
              <a:t>Any</a:t>
            </a:r>
            <a:r>
              <a:rPr lang="fi-FI" dirty="0"/>
              <a:t> CPU ------1&gt;C:\</a:t>
            </a:r>
            <a:r>
              <a:rPr lang="fi-FI" dirty="0" err="1"/>
              <a:t>Users</a:t>
            </a:r>
            <a:r>
              <a:rPr lang="fi-FI" dirty="0"/>
              <a:t>\</a:t>
            </a:r>
            <a:r>
              <a:rPr lang="fi-FI" dirty="0" err="1"/>
              <a:t>jyrili</a:t>
            </a:r>
            <a:r>
              <a:rPr lang="fi-FI" dirty="0"/>
              <a:t>\</a:t>
            </a:r>
            <a:r>
              <a:rPr lang="fi-FI" dirty="0" err="1"/>
              <a:t>source</a:t>
            </a:r>
            <a:r>
              <a:rPr lang="fi-FI" dirty="0"/>
              <a:t>\</a:t>
            </a:r>
            <a:r>
              <a:rPr lang="fi-FI" dirty="0" err="1"/>
              <a:t>repos</a:t>
            </a:r>
            <a:r>
              <a:rPr lang="fi-FI" dirty="0"/>
              <a:t>\</a:t>
            </a:r>
            <a:r>
              <a:rPr lang="fi-FI" dirty="0" err="1"/>
              <a:t>Ensimmainen_ohjelma</a:t>
            </a:r>
            <a:r>
              <a:rPr lang="fi-FI" dirty="0"/>
              <a:t>\</a:t>
            </a:r>
            <a:r>
              <a:rPr lang="fi-FI" dirty="0" err="1"/>
              <a:t>Ensimmainen_ohjelma</a:t>
            </a:r>
            <a:r>
              <a:rPr lang="fi-FI" dirty="0"/>
              <a:t>\</a:t>
            </a:r>
            <a:r>
              <a:rPr lang="fi-FI" dirty="0" err="1"/>
              <a:t>Program.cs</a:t>
            </a:r>
            <a:r>
              <a:rPr lang="fi-FI" dirty="0"/>
              <a:t>(9,21,9,23): </a:t>
            </a:r>
            <a:r>
              <a:rPr lang="fi-FI" dirty="0" err="1"/>
              <a:t>error</a:t>
            </a:r>
            <a:r>
              <a:rPr lang="fi-FI" dirty="0"/>
              <a:t> CS0117</a:t>
            </a:r>
            <a:r>
              <a:rPr lang="fi-FI" dirty="0">
                <a:solidFill>
                  <a:srgbClr val="FF0000"/>
                </a:solidFill>
              </a:rPr>
              <a:t>: 'Console' </a:t>
            </a:r>
            <a:r>
              <a:rPr lang="fi-FI" dirty="0" err="1">
                <a:solidFill>
                  <a:srgbClr val="FF0000"/>
                </a:solidFill>
              </a:rPr>
              <a:t>does</a:t>
            </a:r>
            <a:r>
              <a:rPr lang="fi-FI" dirty="0">
                <a:solidFill>
                  <a:srgbClr val="FF0000"/>
                </a:solidFill>
              </a:rPr>
              <a:t> </a:t>
            </a:r>
            <a:r>
              <a:rPr lang="fi-FI" dirty="0" err="1">
                <a:solidFill>
                  <a:srgbClr val="FF0000"/>
                </a:solidFill>
              </a:rPr>
              <a:t>not</a:t>
            </a:r>
            <a:r>
              <a:rPr lang="fi-FI" dirty="0">
                <a:solidFill>
                  <a:srgbClr val="FF0000"/>
                </a:solidFill>
              </a:rPr>
              <a:t> </a:t>
            </a:r>
            <a:r>
              <a:rPr lang="fi-FI" dirty="0" err="1">
                <a:solidFill>
                  <a:srgbClr val="FF0000"/>
                </a:solidFill>
              </a:rPr>
              <a:t>contain</a:t>
            </a:r>
            <a:r>
              <a:rPr lang="fi-FI" dirty="0">
                <a:solidFill>
                  <a:srgbClr val="FF0000"/>
                </a:solidFill>
              </a:rPr>
              <a:t> a definition for 'WL’</a:t>
            </a:r>
            <a:br>
              <a:rPr lang="fi-FI" dirty="0">
                <a:solidFill>
                  <a:srgbClr val="FF0000"/>
                </a:solidFill>
              </a:rPr>
            </a:br>
            <a:r>
              <a:rPr lang="fi-FI" dirty="0"/>
              <a:t>1&gt;</a:t>
            </a:r>
            <a:r>
              <a:rPr lang="fi-FI" dirty="0" err="1"/>
              <a:t>Done</a:t>
            </a:r>
            <a:r>
              <a:rPr lang="fi-FI" dirty="0"/>
              <a:t> </a:t>
            </a:r>
            <a:r>
              <a:rPr lang="fi-FI" dirty="0" err="1"/>
              <a:t>building</a:t>
            </a:r>
            <a:r>
              <a:rPr lang="fi-FI" dirty="0"/>
              <a:t> </a:t>
            </a:r>
            <a:r>
              <a:rPr lang="fi-FI" dirty="0" err="1"/>
              <a:t>project</a:t>
            </a:r>
            <a:r>
              <a:rPr lang="fi-FI" dirty="0"/>
              <a:t> "</a:t>
            </a:r>
            <a:r>
              <a:rPr lang="fi-FI" dirty="0" err="1"/>
              <a:t>Ensimmainen_ohjelma.csproj</a:t>
            </a:r>
            <a:r>
              <a:rPr lang="fi-FI" dirty="0"/>
              <a:t>" -- FAILED.</a:t>
            </a:r>
            <a:br>
              <a:rPr lang="fi-FI" dirty="0"/>
            </a:br>
            <a:r>
              <a:rPr lang="fi-FI" dirty="0"/>
              <a:t>========== </a:t>
            </a:r>
            <a:r>
              <a:rPr lang="fi-FI" dirty="0" err="1"/>
              <a:t>Build</a:t>
            </a:r>
            <a:r>
              <a:rPr lang="fi-FI" dirty="0"/>
              <a:t>: 0 </a:t>
            </a:r>
            <a:r>
              <a:rPr lang="fi-FI" dirty="0" err="1"/>
              <a:t>succeeded</a:t>
            </a:r>
            <a:r>
              <a:rPr lang="fi-FI" dirty="0"/>
              <a:t>, 1 </a:t>
            </a:r>
            <a:r>
              <a:rPr lang="fi-FI" dirty="0" err="1"/>
              <a:t>failed</a:t>
            </a:r>
            <a:r>
              <a:rPr lang="fi-FI" dirty="0"/>
              <a:t>, 0 </a:t>
            </a:r>
            <a:r>
              <a:rPr lang="fi-FI" dirty="0" err="1"/>
              <a:t>up</a:t>
            </a:r>
            <a:r>
              <a:rPr lang="fi-FI" dirty="0"/>
              <a:t>-to-</a:t>
            </a:r>
            <a:r>
              <a:rPr lang="fi-FI" dirty="0" err="1"/>
              <a:t>date</a:t>
            </a:r>
            <a:r>
              <a:rPr lang="fi-FI" dirty="0"/>
              <a:t>, 0 </a:t>
            </a:r>
            <a:r>
              <a:rPr lang="fi-FI" dirty="0" err="1"/>
              <a:t>skipped</a:t>
            </a:r>
            <a:r>
              <a:rPr lang="fi-FI" dirty="0"/>
              <a:t> ==========</a:t>
            </a:r>
          </a:p>
          <a:p>
            <a:endParaRPr lang="fi-FI" dirty="0"/>
          </a:p>
        </p:txBody>
      </p:sp>
      <p:pic>
        <p:nvPicPr>
          <p:cNvPr id="4" name="Kuva 3">
            <a:extLst>
              <a:ext uri="{FF2B5EF4-FFF2-40B4-BE49-F238E27FC236}">
                <a16:creationId xmlns:a16="http://schemas.microsoft.com/office/drawing/2014/main" id="{6D93536F-6BD5-4257-8F7B-22F2B733E488}"/>
              </a:ext>
            </a:extLst>
          </p:cNvPr>
          <p:cNvPicPr>
            <a:picLocks noChangeAspect="1"/>
          </p:cNvPicPr>
          <p:nvPr/>
        </p:nvPicPr>
        <p:blipFill>
          <a:blip r:embed="rId2"/>
          <a:stretch>
            <a:fillRect/>
          </a:stretch>
        </p:blipFill>
        <p:spPr>
          <a:xfrm>
            <a:off x="5595924" y="2258008"/>
            <a:ext cx="3370291" cy="1266738"/>
          </a:xfrm>
          <a:prstGeom prst="rect">
            <a:avLst/>
          </a:prstGeom>
        </p:spPr>
      </p:pic>
      <p:pic>
        <p:nvPicPr>
          <p:cNvPr id="5" name="Kuva 4">
            <a:extLst>
              <a:ext uri="{FF2B5EF4-FFF2-40B4-BE49-F238E27FC236}">
                <a16:creationId xmlns:a16="http://schemas.microsoft.com/office/drawing/2014/main" id="{CB9E52B0-DE56-4F76-A2EE-59C9DA50F185}"/>
              </a:ext>
            </a:extLst>
          </p:cNvPr>
          <p:cNvPicPr>
            <a:picLocks noChangeAspect="1"/>
          </p:cNvPicPr>
          <p:nvPr/>
        </p:nvPicPr>
        <p:blipFill>
          <a:blip r:embed="rId3"/>
          <a:stretch>
            <a:fillRect/>
          </a:stretch>
        </p:blipFill>
        <p:spPr>
          <a:xfrm>
            <a:off x="1185863" y="1896655"/>
            <a:ext cx="3168024" cy="2116472"/>
          </a:xfrm>
          <a:prstGeom prst="rect">
            <a:avLst/>
          </a:prstGeom>
        </p:spPr>
      </p:pic>
    </p:spTree>
    <p:extLst>
      <p:ext uri="{BB962C8B-B14F-4D97-AF65-F5344CB8AC3E}">
        <p14:creationId xmlns:p14="http://schemas.microsoft.com/office/powerpoint/2010/main" val="30859620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8F4AD80B-4C71-7D4A-AA0F-0EC1AB87488E}"/>
              </a:ext>
            </a:extLst>
          </p:cNvPr>
          <p:cNvSpPr>
            <a:spLocks noGrp="1"/>
          </p:cNvSpPr>
          <p:nvPr>
            <p:ph type="title"/>
          </p:nvPr>
        </p:nvSpPr>
        <p:spPr>
          <a:xfrm>
            <a:off x="791918" y="129863"/>
            <a:ext cx="8063670" cy="630425"/>
          </a:xfrm>
        </p:spPr>
        <p:txBody>
          <a:bodyPr/>
          <a:lstStyle/>
          <a:p>
            <a:r>
              <a:rPr lang="fi-FI" dirty="0"/>
              <a:t>Metodin määrittelystä</a:t>
            </a:r>
          </a:p>
        </p:txBody>
      </p:sp>
      <p:sp>
        <p:nvSpPr>
          <p:cNvPr id="3" name="Sisällön paikkamerkki 2">
            <a:extLst>
              <a:ext uri="{FF2B5EF4-FFF2-40B4-BE49-F238E27FC236}">
                <a16:creationId xmlns:a16="http://schemas.microsoft.com/office/drawing/2014/main" id="{F0CE57C3-39E7-CB4B-BD81-022E9CD7489E}"/>
              </a:ext>
            </a:extLst>
          </p:cNvPr>
          <p:cNvSpPr>
            <a:spLocks noGrp="1"/>
          </p:cNvSpPr>
          <p:nvPr>
            <p:ph sz="quarter" idx="12"/>
          </p:nvPr>
        </p:nvSpPr>
        <p:spPr>
          <a:xfrm>
            <a:off x="791918" y="760288"/>
            <a:ext cx="8063670" cy="5967849"/>
          </a:xfrm>
        </p:spPr>
        <p:txBody>
          <a:bodyPr/>
          <a:lstStyle/>
          <a:p>
            <a:r>
              <a:rPr lang="fi-FI" dirty="0"/>
              <a:t>Kun metodia määritetään, metodi voi siis olla</a:t>
            </a:r>
          </a:p>
          <a:p>
            <a:pPr lvl="1"/>
            <a:r>
              <a:rPr lang="fi-FI" dirty="0" err="1"/>
              <a:t>void</a:t>
            </a:r>
            <a:r>
              <a:rPr lang="fi-FI" dirty="0"/>
              <a:t>: eli metodi ei palauta mitään</a:t>
            </a:r>
          </a:p>
          <a:p>
            <a:pPr lvl="1"/>
            <a:r>
              <a:rPr lang="fi-FI" dirty="0"/>
              <a:t>Tai jotain tyyppiä (</a:t>
            </a:r>
            <a:r>
              <a:rPr lang="fi-FI" dirty="0" err="1"/>
              <a:t>int</a:t>
            </a:r>
            <a:r>
              <a:rPr lang="fi-FI" dirty="0"/>
              <a:t>, </a:t>
            </a:r>
            <a:r>
              <a:rPr lang="fi-FI" dirty="0" err="1"/>
              <a:t>double</a:t>
            </a:r>
            <a:r>
              <a:rPr lang="fi-FI" dirty="0"/>
              <a:t>, </a:t>
            </a:r>
            <a:r>
              <a:rPr lang="fi-FI" dirty="0" err="1"/>
              <a:t>boolean</a:t>
            </a:r>
            <a:r>
              <a:rPr lang="fi-FI" dirty="0"/>
              <a:t>, </a:t>
            </a:r>
            <a:r>
              <a:rPr lang="fi-FI" dirty="0" err="1"/>
              <a:t>string</a:t>
            </a:r>
            <a:r>
              <a:rPr lang="fi-FI" dirty="0"/>
              <a:t>, </a:t>
            </a:r>
            <a:r>
              <a:rPr lang="fi-FI" dirty="0" err="1"/>
              <a:t>object</a:t>
            </a:r>
            <a:r>
              <a:rPr lang="fi-FI" dirty="0"/>
              <a:t>, </a:t>
            </a:r>
            <a:r>
              <a:rPr lang="fi-FI" dirty="0" err="1"/>
              <a:t>char</a:t>
            </a:r>
            <a:r>
              <a:rPr lang="fi-FI" dirty="0"/>
              <a:t> jne.), jolloin se palauttaa sen tyypin mukaisen tiedon </a:t>
            </a:r>
            <a:r>
              <a:rPr lang="fi-FI" dirty="0" err="1"/>
              <a:t>return</a:t>
            </a:r>
            <a:r>
              <a:rPr lang="fi-FI" dirty="0"/>
              <a:t>-komennolla, kuten näimme edellisten diojen esimerkeistä </a:t>
            </a:r>
          </a:p>
        </p:txBody>
      </p:sp>
    </p:spTree>
    <p:extLst>
      <p:ext uri="{BB962C8B-B14F-4D97-AF65-F5344CB8AC3E}">
        <p14:creationId xmlns:p14="http://schemas.microsoft.com/office/powerpoint/2010/main" val="272611040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89E28354-1E9A-0749-9D9C-A74C3A2D7E01}"/>
              </a:ext>
            </a:extLst>
          </p:cNvPr>
          <p:cNvSpPr>
            <a:spLocks noGrp="1"/>
          </p:cNvSpPr>
          <p:nvPr>
            <p:ph type="title"/>
          </p:nvPr>
        </p:nvSpPr>
        <p:spPr>
          <a:xfrm>
            <a:off x="831674" y="-849566"/>
            <a:ext cx="5761282" cy="1440392"/>
          </a:xfrm>
        </p:spPr>
        <p:txBody>
          <a:bodyPr/>
          <a:lstStyle/>
          <a:p>
            <a:r>
              <a:rPr lang="fi-FI" dirty="0"/>
              <a:t>Metodit</a:t>
            </a:r>
          </a:p>
        </p:txBody>
      </p:sp>
      <p:sp>
        <p:nvSpPr>
          <p:cNvPr id="3" name="Sisällön paikkamerkki 2">
            <a:extLst>
              <a:ext uri="{FF2B5EF4-FFF2-40B4-BE49-F238E27FC236}">
                <a16:creationId xmlns:a16="http://schemas.microsoft.com/office/drawing/2014/main" id="{3879CB2F-1D79-9049-BE16-EFCB5443FD1A}"/>
              </a:ext>
            </a:extLst>
          </p:cNvPr>
          <p:cNvSpPr>
            <a:spLocks noGrp="1"/>
          </p:cNvSpPr>
          <p:nvPr>
            <p:ph sz="quarter" idx="12"/>
          </p:nvPr>
        </p:nvSpPr>
        <p:spPr>
          <a:xfrm>
            <a:off x="831674" y="689936"/>
            <a:ext cx="8202996" cy="3335412"/>
          </a:xfrm>
        </p:spPr>
        <p:txBody>
          <a:bodyPr>
            <a:normAutofit/>
          </a:bodyPr>
          <a:lstStyle/>
          <a:p>
            <a:r>
              <a:rPr lang="fi-FI" dirty="0"/>
              <a:t>Kuten edellä olemme nähneet erilaisia esimerkkejä, ne ovat lähes poikkeuksetta olleet metodeita</a:t>
            </a:r>
          </a:p>
          <a:p>
            <a:r>
              <a:rPr lang="fi-FI" dirty="0"/>
              <a:t>Metodi on sellainen komentojoukko, jonka haluamme toistaa monta kertaa ilman, että meidän täytyy kirjoittaa koodia uudestaan.</a:t>
            </a:r>
          </a:p>
          <a:p>
            <a:r>
              <a:rPr lang="fi-FI" dirty="0"/>
              <a:t>Metodi voi olla (ts. miten siihen pääsee käsiksi – </a:t>
            </a:r>
            <a:r>
              <a:rPr lang="fi-FI" dirty="0" err="1"/>
              <a:t>access</a:t>
            </a:r>
            <a:r>
              <a:rPr lang="fi-FI" dirty="0"/>
              <a:t> </a:t>
            </a:r>
            <a:r>
              <a:rPr lang="fi-FI" dirty="0" err="1"/>
              <a:t>modifier</a:t>
            </a:r>
            <a:r>
              <a:rPr lang="fi-FI" dirty="0"/>
              <a:t>) julkinen (</a:t>
            </a:r>
            <a:r>
              <a:rPr lang="fi-FI" dirty="0" err="1"/>
              <a:t>public</a:t>
            </a:r>
            <a:r>
              <a:rPr lang="fi-FI" dirty="0"/>
              <a:t>), yksityinen (</a:t>
            </a:r>
            <a:r>
              <a:rPr lang="fi-FI" dirty="0" err="1"/>
              <a:t>private</a:t>
            </a:r>
            <a:r>
              <a:rPr lang="fi-FI" dirty="0"/>
              <a:t>), suojattu (</a:t>
            </a:r>
            <a:r>
              <a:rPr lang="fi-FI" dirty="0" err="1"/>
              <a:t>protected</a:t>
            </a:r>
            <a:r>
              <a:rPr lang="fi-FI" dirty="0"/>
              <a:t>), sisäinen (</a:t>
            </a:r>
            <a:r>
              <a:rPr lang="fi-FI" dirty="0" err="1"/>
              <a:t>internal</a:t>
            </a:r>
            <a:r>
              <a:rPr lang="fi-FI" dirty="0"/>
              <a:t>), suojattu sisäinen (</a:t>
            </a:r>
            <a:r>
              <a:rPr lang="fi-FI" dirty="0" err="1"/>
              <a:t>protected</a:t>
            </a:r>
            <a:r>
              <a:rPr lang="fi-FI" dirty="0"/>
              <a:t> </a:t>
            </a:r>
            <a:r>
              <a:rPr lang="fi-FI" dirty="0" err="1"/>
              <a:t>internal</a:t>
            </a:r>
            <a:r>
              <a:rPr lang="fi-FI" dirty="0"/>
              <a:t>) tai voimme jättää sen kokonaan pois. </a:t>
            </a:r>
          </a:p>
          <a:p>
            <a:r>
              <a:rPr lang="fi-FI" dirty="0"/>
              <a:t>Tässä vaiheessa riittää joko </a:t>
            </a:r>
            <a:r>
              <a:rPr lang="fi-FI" dirty="0" err="1"/>
              <a:t>public</a:t>
            </a:r>
            <a:r>
              <a:rPr lang="fi-FI" dirty="0"/>
              <a:t> tai </a:t>
            </a:r>
            <a:r>
              <a:rPr lang="fi-FI" dirty="0" err="1"/>
              <a:t>private</a:t>
            </a:r>
            <a:endParaRPr lang="fi-FI" dirty="0"/>
          </a:p>
          <a:p>
            <a:r>
              <a:rPr lang="fi-FI" dirty="0"/>
              <a:t>Tämän lisäksi meidän täytyy päättää, palauttaako metodi jotain, jos palauttaa, määrittelemme tietotyypin, muuten </a:t>
            </a:r>
            <a:r>
              <a:rPr lang="fi-FI" dirty="0" err="1"/>
              <a:t>void</a:t>
            </a:r>
            <a:endParaRPr lang="fi-FI" dirty="0"/>
          </a:p>
        </p:txBody>
      </p:sp>
      <p:graphicFrame>
        <p:nvGraphicFramePr>
          <p:cNvPr id="5" name="Taulukko 4">
            <a:extLst>
              <a:ext uri="{FF2B5EF4-FFF2-40B4-BE49-F238E27FC236}">
                <a16:creationId xmlns:a16="http://schemas.microsoft.com/office/drawing/2014/main" id="{3556A6EA-7CAB-7143-B67A-01876C5B4148}"/>
              </a:ext>
            </a:extLst>
          </p:cNvPr>
          <p:cNvGraphicFramePr>
            <a:graphicFrameLocks noGrp="1"/>
          </p:cNvGraphicFramePr>
          <p:nvPr/>
        </p:nvGraphicFramePr>
        <p:xfrm>
          <a:off x="109330" y="3740281"/>
          <a:ext cx="9018990" cy="2494280"/>
        </p:xfrm>
        <a:graphic>
          <a:graphicData uri="http://schemas.openxmlformats.org/drawingml/2006/table">
            <a:tbl>
              <a:tblPr firstRow="1" bandRow="1">
                <a:tableStyleId>{5C22544A-7EE6-4342-B048-85BDC9FD1C3A}</a:tableStyleId>
              </a:tblPr>
              <a:tblGrid>
                <a:gridCol w="1803798">
                  <a:extLst>
                    <a:ext uri="{9D8B030D-6E8A-4147-A177-3AD203B41FA5}">
                      <a16:colId xmlns:a16="http://schemas.microsoft.com/office/drawing/2014/main" val="2360681674"/>
                    </a:ext>
                  </a:extLst>
                </a:gridCol>
                <a:gridCol w="1803798">
                  <a:extLst>
                    <a:ext uri="{9D8B030D-6E8A-4147-A177-3AD203B41FA5}">
                      <a16:colId xmlns:a16="http://schemas.microsoft.com/office/drawing/2014/main" val="209763422"/>
                    </a:ext>
                  </a:extLst>
                </a:gridCol>
                <a:gridCol w="1803798">
                  <a:extLst>
                    <a:ext uri="{9D8B030D-6E8A-4147-A177-3AD203B41FA5}">
                      <a16:colId xmlns:a16="http://schemas.microsoft.com/office/drawing/2014/main" val="2337832566"/>
                    </a:ext>
                  </a:extLst>
                </a:gridCol>
                <a:gridCol w="1803798">
                  <a:extLst>
                    <a:ext uri="{9D8B030D-6E8A-4147-A177-3AD203B41FA5}">
                      <a16:colId xmlns:a16="http://schemas.microsoft.com/office/drawing/2014/main" val="1255993020"/>
                    </a:ext>
                  </a:extLst>
                </a:gridCol>
                <a:gridCol w="1803798">
                  <a:extLst>
                    <a:ext uri="{9D8B030D-6E8A-4147-A177-3AD203B41FA5}">
                      <a16:colId xmlns:a16="http://schemas.microsoft.com/office/drawing/2014/main" val="3372788063"/>
                    </a:ext>
                  </a:extLst>
                </a:gridCol>
              </a:tblGrid>
              <a:tr h="370840">
                <a:tc>
                  <a:txBody>
                    <a:bodyPr/>
                    <a:lstStyle/>
                    <a:p>
                      <a:r>
                        <a:rPr lang="fi-FI" dirty="0"/>
                        <a:t>Avainsana / näkyvyys</a:t>
                      </a:r>
                    </a:p>
                  </a:txBody>
                  <a:tcPr/>
                </a:tc>
                <a:tc>
                  <a:txBody>
                    <a:bodyPr/>
                    <a:lstStyle/>
                    <a:p>
                      <a:r>
                        <a:rPr lang="fi-FI" dirty="0"/>
                        <a:t>Sisältävät luokat</a:t>
                      </a:r>
                    </a:p>
                  </a:txBody>
                  <a:tcPr/>
                </a:tc>
                <a:tc>
                  <a:txBody>
                    <a:bodyPr/>
                    <a:lstStyle/>
                    <a:p>
                      <a:r>
                        <a:rPr lang="fi-FI" dirty="0"/>
                        <a:t>Johdetut luokat</a:t>
                      </a:r>
                    </a:p>
                  </a:txBody>
                  <a:tcPr/>
                </a:tc>
                <a:tc>
                  <a:txBody>
                    <a:bodyPr/>
                    <a:lstStyle/>
                    <a:p>
                      <a:r>
                        <a:rPr lang="fi-FI" dirty="0"/>
                        <a:t>Sisältävä ohjelma</a:t>
                      </a:r>
                    </a:p>
                  </a:txBody>
                  <a:tcPr/>
                </a:tc>
                <a:tc>
                  <a:txBody>
                    <a:bodyPr/>
                    <a:lstStyle/>
                    <a:p>
                      <a:r>
                        <a:rPr lang="fi-FI" dirty="0"/>
                        <a:t>Mistä tahansa ohjelman </a:t>
                      </a:r>
                      <a:r>
                        <a:rPr lang="fi-FI" dirty="0" err="1"/>
                        <a:t>ulkop</a:t>
                      </a:r>
                      <a:r>
                        <a:rPr lang="fi-FI" dirty="0"/>
                        <a:t>.</a:t>
                      </a:r>
                    </a:p>
                  </a:txBody>
                  <a:tcPr/>
                </a:tc>
                <a:extLst>
                  <a:ext uri="{0D108BD9-81ED-4DB2-BD59-A6C34878D82A}">
                    <a16:rowId xmlns:a16="http://schemas.microsoft.com/office/drawing/2014/main" val="4275017230"/>
                  </a:ext>
                </a:extLst>
              </a:tr>
              <a:tr h="370840">
                <a:tc>
                  <a:txBody>
                    <a:bodyPr/>
                    <a:lstStyle/>
                    <a:p>
                      <a:r>
                        <a:rPr lang="fi-FI" dirty="0"/>
                        <a:t>Public</a:t>
                      </a:r>
                    </a:p>
                  </a:txBody>
                  <a:tcPr/>
                </a:tc>
                <a:tc>
                  <a:txBody>
                    <a:bodyPr/>
                    <a:lstStyle/>
                    <a:p>
                      <a:pPr algn="ctr"/>
                      <a:r>
                        <a:rPr lang="fi-FI" dirty="0">
                          <a:highlight>
                            <a:srgbClr val="00FF00"/>
                          </a:highlight>
                        </a:rPr>
                        <a:t>Kyllä</a:t>
                      </a:r>
                    </a:p>
                  </a:txBody>
                  <a:tcPr/>
                </a:tc>
                <a:tc>
                  <a:txBody>
                    <a:bodyPr/>
                    <a:lstStyle/>
                    <a:p>
                      <a:pPr algn="ctr"/>
                      <a:r>
                        <a:rPr lang="fi-FI" dirty="0">
                          <a:highlight>
                            <a:srgbClr val="00FF00"/>
                          </a:highlight>
                        </a:rPr>
                        <a:t>Kyllä</a:t>
                      </a:r>
                    </a:p>
                  </a:txBody>
                  <a:tcPr/>
                </a:tc>
                <a:tc>
                  <a:txBody>
                    <a:bodyPr/>
                    <a:lstStyle/>
                    <a:p>
                      <a:pPr algn="ctr"/>
                      <a:r>
                        <a:rPr lang="fi-FI" dirty="0">
                          <a:highlight>
                            <a:srgbClr val="00FF00"/>
                          </a:highlight>
                        </a:rPr>
                        <a:t>Kyllä</a:t>
                      </a:r>
                    </a:p>
                  </a:txBody>
                  <a:tcPr/>
                </a:tc>
                <a:tc>
                  <a:txBody>
                    <a:bodyPr/>
                    <a:lstStyle/>
                    <a:p>
                      <a:pPr algn="ctr"/>
                      <a:r>
                        <a:rPr lang="fi-FI" dirty="0">
                          <a:highlight>
                            <a:srgbClr val="00FF00"/>
                          </a:highlight>
                        </a:rPr>
                        <a:t>Kyllä</a:t>
                      </a:r>
                    </a:p>
                  </a:txBody>
                  <a:tcPr/>
                </a:tc>
                <a:extLst>
                  <a:ext uri="{0D108BD9-81ED-4DB2-BD59-A6C34878D82A}">
                    <a16:rowId xmlns:a16="http://schemas.microsoft.com/office/drawing/2014/main" val="399214819"/>
                  </a:ext>
                </a:extLst>
              </a:tr>
              <a:tr h="370840">
                <a:tc>
                  <a:txBody>
                    <a:bodyPr/>
                    <a:lstStyle/>
                    <a:p>
                      <a:r>
                        <a:rPr lang="fi-FI" dirty="0"/>
                        <a:t>Private</a:t>
                      </a:r>
                    </a:p>
                  </a:txBody>
                  <a:tcPr/>
                </a:tc>
                <a:tc>
                  <a:txBody>
                    <a:bodyPr/>
                    <a:lstStyle/>
                    <a:p>
                      <a:pPr algn="ctr"/>
                      <a:r>
                        <a:rPr lang="fi-FI" dirty="0">
                          <a:highlight>
                            <a:srgbClr val="00FF00"/>
                          </a:highlight>
                        </a:rPr>
                        <a:t>Kyllä</a:t>
                      </a:r>
                    </a:p>
                  </a:txBody>
                  <a:tcPr/>
                </a:tc>
                <a:tc>
                  <a:txBody>
                    <a:bodyPr/>
                    <a:lstStyle/>
                    <a:p>
                      <a:pPr algn="ctr"/>
                      <a:r>
                        <a:rPr lang="fi-FI" dirty="0">
                          <a:highlight>
                            <a:srgbClr val="FF0000"/>
                          </a:highlight>
                        </a:rPr>
                        <a:t>Ei</a:t>
                      </a:r>
                    </a:p>
                  </a:txBody>
                  <a:tcPr/>
                </a:tc>
                <a:tc>
                  <a:txBody>
                    <a:bodyPr/>
                    <a:lstStyle/>
                    <a:p>
                      <a:pPr algn="ctr"/>
                      <a:r>
                        <a:rPr lang="fi-FI" dirty="0">
                          <a:highlight>
                            <a:srgbClr val="FF0000"/>
                          </a:highlight>
                        </a:rPr>
                        <a:t>Ei</a:t>
                      </a:r>
                    </a:p>
                  </a:txBody>
                  <a:tcPr/>
                </a:tc>
                <a:tc>
                  <a:txBody>
                    <a:bodyPr/>
                    <a:lstStyle/>
                    <a:p>
                      <a:pPr algn="ctr"/>
                      <a:r>
                        <a:rPr lang="fi-FI" dirty="0">
                          <a:highlight>
                            <a:srgbClr val="FF0000"/>
                          </a:highlight>
                        </a:rPr>
                        <a:t>Ei</a:t>
                      </a:r>
                    </a:p>
                  </a:txBody>
                  <a:tcPr/>
                </a:tc>
                <a:extLst>
                  <a:ext uri="{0D108BD9-81ED-4DB2-BD59-A6C34878D82A}">
                    <a16:rowId xmlns:a16="http://schemas.microsoft.com/office/drawing/2014/main" val="2467713834"/>
                  </a:ext>
                </a:extLst>
              </a:tr>
              <a:tr h="370840">
                <a:tc>
                  <a:txBody>
                    <a:bodyPr/>
                    <a:lstStyle/>
                    <a:p>
                      <a:r>
                        <a:rPr lang="fi-FI" dirty="0" err="1"/>
                        <a:t>Protected</a:t>
                      </a:r>
                      <a:endParaRPr lang="fi-FI" dirty="0"/>
                    </a:p>
                  </a:txBody>
                  <a:tcPr/>
                </a:tc>
                <a:tc>
                  <a:txBody>
                    <a:bodyPr/>
                    <a:lstStyle/>
                    <a:p>
                      <a:pPr algn="ctr"/>
                      <a:r>
                        <a:rPr lang="fi-FI" dirty="0">
                          <a:highlight>
                            <a:srgbClr val="00FF00"/>
                          </a:highlight>
                        </a:rPr>
                        <a:t>Kyllä</a:t>
                      </a:r>
                    </a:p>
                  </a:txBody>
                  <a:tcPr/>
                </a:tc>
                <a:tc>
                  <a:txBody>
                    <a:bodyPr/>
                    <a:lstStyle/>
                    <a:p>
                      <a:pPr algn="ctr"/>
                      <a:r>
                        <a:rPr lang="fi-FI" dirty="0">
                          <a:highlight>
                            <a:srgbClr val="00FF00"/>
                          </a:highlight>
                        </a:rPr>
                        <a:t>Kyllä</a:t>
                      </a:r>
                    </a:p>
                  </a:txBody>
                  <a:tcPr/>
                </a:tc>
                <a:tc>
                  <a:txBody>
                    <a:bodyPr/>
                    <a:lstStyle/>
                    <a:p>
                      <a:pPr algn="ctr"/>
                      <a:r>
                        <a:rPr lang="fi-FI" dirty="0">
                          <a:highlight>
                            <a:srgbClr val="FF0000"/>
                          </a:highlight>
                        </a:rPr>
                        <a:t>Ei</a:t>
                      </a:r>
                    </a:p>
                  </a:txBody>
                  <a:tcPr/>
                </a:tc>
                <a:tc>
                  <a:txBody>
                    <a:bodyPr/>
                    <a:lstStyle/>
                    <a:p>
                      <a:pPr algn="ctr"/>
                      <a:r>
                        <a:rPr lang="fi-FI" dirty="0">
                          <a:highlight>
                            <a:srgbClr val="FF0000"/>
                          </a:highlight>
                        </a:rPr>
                        <a:t>Ei</a:t>
                      </a:r>
                    </a:p>
                  </a:txBody>
                  <a:tcPr/>
                </a:tc>
                <a:extLst>
                  <a:ext uri="{0D108BD9-81ED-4DB2-BD59-A6C34878D82A}">
                    <a16:rowId xmlns:a16="http://schemas.microsoft.com/office/drawing/2014/main" val="3074066091"/>
                  </a:ext>
                </a:extLst>
              </a:tr>
              <a:tr h="370840">
                <a:tc>
                  <a:txBody>
                    <a:bodyPr/>
                    <a:lstStyle/>
                    <a:p>
                      <a:r>
                        <a:rPr lang="fi-FI" dirty="0" err="1"/>
                        <a:t>Internal</a:t>
                      </a:r>
                      <a:endParaRPr lang="fi-FI" dirty="0"/>
                    </a:p>
                  </a:txBody>
                  <a:tcPr/>
                </a:tc>
                <a:tc>
                  <a:txBody>
                    <a:bodyPr/>
                    <a:lstStyle/>
                    <a:p>
                      <a:pPr algn="ctr"/>
                      <a:r>
                        <a:rPr lang="fi-FI" dirty="0">
                          <a:highlight>
                            <a:srgbClr val="00FF00"/>
                          </a:highlight>
                        </a:rPr>
                        <a:t>Kyllä</a:t>
                      </a:r>
                    </a:p>
                  </a:txBody>
                  <a:tcPr/>
                </a:tc>
                <a:tc>
                  <a:txBody>
                    <a:bodyPr/>
                    <a:lstStyle/>
                    <a:p>
                      <a:pPr algn="ctr"/>
                      <a:r>
                        <a:rPr lang="fi-FI" dirty="0">
                          <a:highlight>
                            <a:srgbClr val="00FF00"/>
                          </a:highlight>
                        </a:rPr>
                        <a:t>Kyllä</a:t>
                      </a:r>
                    </a:p>
                  </a:txBody>
                  <a:tcPr/>
                </a:tc>
                <a:tc>
                  <a:txBody>
                    <a:bodyPr/>
                    <a:lstStyle/>
                    <a:p>
                      <a:pPr algn="ctr"/>
                      <a:r>
                        <a:rPr lang="fi-FI" dirty="0">
                          <a:highlight>
                            <a:srgbClr val="00FF00"/>
                          </a:highlight>
                        </a:rPr>
                        <a:t>Kyllä</a:t>
                      </a:r>
                    </a:p>
                  </a:txBody>
                  <a:tcPr/>
                </a:tc>
                <a:tc>
                  <a:txBody>
                    <a:bodyPr/>
                    <a:lstStyle/>
                    <a:p>
                      <a:pPr algn="ctr"/>
                      <a:r>
                        <a:rPr lang="fi-FI" dirty="0">
                          <a:highlight>
                            <a:srgbClr val="FF0000"/>
                          </a:highlight>
                        </a:rPr>
                        <a:t>Ei</a:t>
                      </a:r>
                    </a:p>
                  </a:txBody>
                  <a:tcPr/>
                </a:tc>
                <a:extLst>
                  <a:ext uri="{0D108BD9-81ED-4DB2-BD59-A6C34878D82A}">
                    <a16:rowId xmlns:a16="http://schemas.microsoft.com/office/drawing/2014/main" val="2041591452"/>
                  </a:ext>
                </a:extLst>
              </a:tr>
              <a:tr h="370840">
                <a:tc>
                  <a:txBody>
                    <a:bodyPr/>
                    <a:lstStyle/>
                    <a:p>
                      <a:r>
                        <a:rPr lang="fi-FI" dirty="0" err="1"/>
                        <a:t>Prot.Inter</a:t>
                      </a:r>
                      <a:r>
                        <a:rPr lang="fi-FI" dirty="0"/>
                        <a:t>.</a:t>
                      </a:r>
                    </a:p>
                  </a:txBody>
                  <a:tcPr/>
                </a:tc>
                <a:tc>
                  <a:txBody>
                    <a:bodyPr/>
                    <a:lstStyle/>
                    <a:p>
                      <a:pPr algn="ctr"/>
                      <a:r>
                        <a:rPr lang="fi-FI" dirty="0">
                          <a:highlight>
                            <a:srgbClr val="00FF00"/>
                          </a:highlight>
                        </a:rPr>
                        <a:t>Kyllä</a:t>
                      </a:r>
                    </a:p>
                  </a:txBody>
                  <a:tcPr/>
                </a:tc>
                <a:tc>
                  <a:txBody>
                    <a:bodyPr/>
                    <a:lstStyle/>
                    <a:p>
                      <a:pPr algn="ctr"/>
                      <a:r>
                        <a:rPr lang="fi-FI" dirty="0">
                          <a:highlight>
                            <a:srgbClr val="00FF00"/>
                          </a:highlight>
                        </a:rPr>
                        <a:t>Kyllä</a:t>
                      </a:r>
                    </a:p>
                  </a:txBody>
                  <a:tcPr/>
                </a:tc>
                <a:tc>
                  <a:txBody>
                    <a:bodyPr/>
                    <a:lstStyle/>
                    <a:p>
                      <a:pPr algn="ctr"/>
                      <a:r>
                        <a:rPr lang="fi-FI" dirty="0">
                          <a:highlight>
                            <a:srgbClr val="00FF00"/>
                          </a:highlight>
                        </a:rPr>
                        <a:t>Kyllä</a:t>
                      </a:r>
                    </a:p>
                  </a:txBody>
                  <a:tcPr/>
                </a:tc>
                <a:tc>
                  <a:txBody>
                    <a:bodyPr/>
                    <a:lstStyle/>
                    <a:p>
                      <a:pPr algn="ctr"/>
                      <a:r>
                        <a:rPr lang="fi-FI" dirty="0">
                          <a:highlight>
                            <a:srgbClr val="FF0000"/>
                          </a:highlight>
                        </a:rPr>
                        <a:t>Ei</a:t>
                      </a:r>
                    </a:p>
                  </a:txBody>
                  <a:tcPr/>
                </a:tc>
                <a:extLst>
                  <a:ext uri="{0D108BD9-81ED-4DB2-BD59-A6C34878D82A}">
                    <a16:rowId xmlns:a16="http://schemas.microsoft.com/office/drawing/2014/main" val="3920870344"/>
                  </a:ext>
                </a:extLst>
              </a:tr>
            </a:tbl>
          </a:graphicData>
        </a:graphic>
      </p:graphicFrame>
    </p:spTree>
    <p:extLst>
      <p:ext uri="{BB962C8B-B14F-4D97-AF65-F5344CB8AC3E}">
        <p14:creationId xmlns:p14="http://schemas.microsoft.com/office/powerpoint/2010/main" val="2175177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862E74BF-1C57-1E48-9591-E107658FD0D4}"/>
              </a:ext>
            </a:extLst>
          </p:cNvPr>
          <p:cNvSpPr>
            <a:spLocks noGrp="1"/>
          </p:cNvSpPr>
          <p:nvPr>
            <p:ph type="title"/>
          </p:nvPr>
        </p:nvSpPr>
        <p:spPr>
          <a:xfrm>
            <a:off x="791918" y="129863"/>
            <a:ext cx="8063670" cy="834233"/>
          </a:xfrm>
        </p:spPr>
        <p:txBody>
          <a:bodyPr/>
          <a:lstStyle/>
          <a:p>
            <a:r>
              <a:rPr lang="fi-FI" dirty="0"/>
              <a:t>Metodit jatkuvat</a:t>
            </a:r>
          </a:p>
        </p:txBody>
      </p:sp>
      <p:sp>
        <p:nvSpPr>
          <p:cNvPr id="3" name="Sisällön paikkamerkki 2">
            <a:extLst>
              <a:ext uri="{FF2B5EF4-FFF2-40B4-BE49-F238E27FC236}">
                <a16:creationId xmlns:a16="http://schemas.microsoft.com/office/drawing/2014/main" id="{D3044CD2-5665-294F-A67B-97966EE21D88}"/>
              </a:ext>
            </a:extLst>
          </p:cNvPr>
          <p:cNvSpPr>
            <a:spLocks noGrp="1"/>
          </p:cNvSpPr>
          <p:nvPr>
            <p:ph sz="quarter" idx="12"/>
          </p:nvPr>
        </p:nvSpPr>
        <p:spPr>
          <a:xfrm>
            <a:off x="791918" y="3123454"/>
            <a:ext cx="6344378" cy="3615276"/>
          </a:xfrm>
        </p:spPr>
        <p:txBody>
          <a:bodyPr>
            <a:normAutofit/>
          </a:bodyPr>
          <a:lstStyle/>
          <a:p>
            <a:r>
              <a:rPr lang="fi-FI" dirty="0"/>
              <a:t>Kun olemme määritelleet, miten metodiin pääsee käsiksi ja sen, palauttaako se jotain, on vuoro antaa metodin nimi ja tavalliset sulut perään. Mikäli metodille syötetään arvoja, nämä arvot tulee määritellä metodin sulkujen sisällä:</a:t>
            </a:r>
          </a:p>
          <a:p>
            <a:pPr lvl="1"/>
            <a:r>
              <a:rPr lang="fi-FI" dirty="0" err="1"/>
              <a:t>public</a:t>
            </a:r>
            <a:r>
              <a:rPr lang="fi-FI" dirty="0"/>
              <a:t> </a:t>
            </a:r>
            <a:r>
              <a:rPr lang="fi-FI" dirty="0" err="1"/>
              <a:t>void</a:t>
            </a:r>
            <a:r>
              <a:rPr lang="fi-FI" dirty="0"/>
              <a:t> </a:t>
            </a:r>
            <a:r>
              <a:rPr lang="fi-FI" dirty="0" err="1"/>
              <a:t>laskeYhteen</a:t>
            </a:r>
            <a:r>
              <a:rPr lang="fi-FI" dirty="0"/>
              <a:t>(</a:t>
            </a:r>
            <a:r>
              <a:rPr lang="fi-FI" dirty="0" err="1"/>
              <a:t>int</a:t>
            </a:r>
            <a:r>
              <a:rPr lang="fi-FI" dirty="0"/>
              <a:t> eka, </a:t>
            </a:r>
            <a:r>
              <a:rPr lang="fi-FI" dirty="0" err="1"/>
              <a:t>int</a:t>
            </a:r>
            <a:r>
              <a:rPr lang="fi-FI" dirty="0"/>
              <a:t> </a:t>
            </a:r>
            <a:r>
              <a:rPr lang="fi-FI" dirty="0" err="1"/>
              <a:t>toka</a:t>
            </a:r>
            <a:r>
              <a:rPr lang="fi-FI" dirty="0"/>
              <a:t>)</a:t>
            </a:r>
          </a:p>
          <a:p>
            <a:pPr lvl="1"/>
            <a:r>
              <a:rPr lang="fi-FI" dirty="0"/>
              <a:t>Ja metodin kutsu: </a:t>
            </a:r>
            <a:r>
              <a:rPr lang="fi-FI" dirty="0" err="1"/>
              <a:t>laskeYhteen</a:t>
            </a:r>
            <a:r>
              <a:rPr lang="fi-FI" dirty="0"/>
              <a:t>(3,5);</a:t>
            </a:r>
          </a:p>
          <a:p>
            <a:pPr lvl="1"/>
            <a:r>
              <a:rPr lang="fi-FI" dirty="0"/>
              <a:t>Yllä olevassa esimerkissä olen tehnyt asian hieman mutkikkaammin, eli annan käyttäjän syöttää arvot</a:t>
            </a:r>
          </a:p>
          <a:p>
            <a:r>
              <a:rPr lang="fi-FI" dirty="0"/>
              <a:t>Itse metodi (</a:t>
            </a:r>
            <a:r>
              <a:rPr lang="fi-FI" dirty="0" err="1"/>
              <a:t>laskeYhteen</a:t>
            </a:r>
            <a:r>
              <a:rPr lang="fi-FI" dirty="0"/>
              <a:t>) on 4 ensimmäistä riviä ja loput on pääohjelman puolella</a:t>
            </a:r>
          </a:p>
        </p:txBody>
      </p:sp>
      <p:pic>
        <p:nvPicPr>
          <p:cNvPr id="4" name="Kuva 3">
            <a:extLst>
              <a:ext uri="{FF2B5EF4-FFF2-40B4-BE49-F238E27FC236}">
                <a16:creationId xmlns:a16="http://schemas.microsoft.com/office/drawing/2014/main" id="{3414FAF1-E57F-104A-8599-88C036FCB161}"/>
              </a:ext>
            </a:extLst>
          </p:cNvPr>
          <p:cNvPicPr>
            <a:picLocks noChangeAspect="1"/>
          </p:cNvPicPr>
          <p:nvPr/>
        </p:nvPicPr>
        <p:blipFill>
          <a:blip r:embed="rId2"/>
          <a:stretch>
            <a:fillRect/>
          </a:stretch>
        </p:blipFill>
        <p:spPr>
          <a:xfrm>
            <a:off x="2824093" y="1140002"/>
            <a:ext cx="6159500" cy="1943100"/>
          </a:xfrm>
          <a:prstGeom prst="rect">
            <a:avLst/>
          </a:prstGeom>
          <a:ln>
            <a:solidFill>
              <a:schemeClr val="accent1"/>
            </a:solidFill>
          </a:ln>
        </p:spPr>
      </p:pic>
      <p:pic>
        <p:nvPicPr>
          <p:cNvPr id="5" name="Kuva 4">
            <a:extLst>
              <a:ext uri="{FF2B5EF4-FFF2-40B4-BE49-F238E27FC236}">
                <a16:creationId xmlns:a16="http://schemas.microsoft.com/office/drawing/2014/main" id="{F50AFB5D-B16E-DA43-A4CF-D35FC7367FB0}"/>
              </a:ext>
            </a:extLst>
          </p:cNvPr>
          <p:cNvPicPr>
            <a:picLocks noChangeAspect="1"/>
          </p:cNvPicPr>
          <p:nvPr/>
        </p:nvPicPr>
        <p:blipFill>
          <a:blip r:embed="rId3"/>
          <a:stretch>
            <a:fillRect/>
          </a:stretch>
        </p:blipFill>
        <p:spPr>
          <a:xfrm>
            <a:off x="3230769" y="5991038"/>
            <a:ext cx="5831242" cy="707340"/>
          </a:xfrm>
          <a:prstGeom prst="rect">
            <a:avLst/>
          </a:prstGeom>
          <a:ln>
            <a:solidFill>
              <a:schemeClr val="accent1"/>
            </a:solidFill>
          </a:ln>
        </p:spPr>
      </p:pic>
    </p:spTree>
    <p:extLst>
      <p:ext uri="{BB962C8B-B14F-4D97-AF65-F5344CB8AC3E}">
        <p14:creationId xmlns:p14="http://schemas.microsoft.com/office/powerpoint/2010/main" val="41738541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4A7815E2-66D3-2E4F-ABBF-735443925704}"/>
              </a:ext>
            </a:extLst>
          </p:cNvPr>
          <p:cNvSpPr>
            <a:spLocks noGrp="1"/>
          </p:cNvSpPr>
          <p:nvPr>
            <p:ph type="title"/>
          </p:nvPr>
        </p:nvSpPr>
        <p:spPr/>
        <p:txBody>
          <a:bodyPr/>
          <a:lstStyle/>
          <a:p>
            <a:r>
              <a:rPr lang="fi-FI" dirty="0"/>
              <a:t>Metodit jatkuvat</a:t>
            </a:r>
          </a:p>
        </p:txBody>
      </p:sp>
      <p:sp>
        <p:nvSpPr>
          <p:cNvPr id="3" name="Sisällön paikkamerkki 2">
            <a:extLst>
              <a:ext uri="{FF2B5EF4-FFF2-40B4-BE49-F238E27FC236}">
                <a16:creationId xmlns:a16="http://schemas.microsoft.com/office/drawing/2014/main" id="{AF50B0B8-8BE2-0640-97CD-B15553B2BD5F}"/>
              </a:ext>
            </a:extLst>
          </p:cNvPr>
          <p:cNvSpPr>
            <a:spLocks noGrp="1"/>
          </p:cNvSpPr>
          <p:nvPr>
            <p:ph sz="quarter" idx="12"/>
          </p:nvPr>
        </p:nvSpPr>
        <p:spPr/>
        <p:txBody>
          <a:bodyPr/>
          <a:lstStyle/>
          <a:p>
            <a:r>
              <a:rPr lang="fi-FI" dirty="0"/>
              <a:t>Vielä esimerkki metodista, joka palauttaa arvon</a:t>
            </a:r>
          </a:p>
          <a:p>
            <a:r>
              <a:rPr lang="fi-FI" dirty="0"/>
              <a:t>Silloin </a:t>
            </a:r>
            <a:r>
              <a:rPr lang="fi-FI" dirty="0" err="1"/>
              <a:t>void:n</a:t>
            </a:r>
            <a:r>
              <a:rPr lang="fi-FI" dirty="0"/>
              <a:t> tilalla tulee olla se tietotyyppi, jonka tyyppinen arvo palautetaan</a:t>
            </a:r>
          </a:p>
          <a:p>
            <a:r>
              <a:rPr lang="fi-FI" dirty="0"/>
              <a:t>Palautettaessa käytetään </a:t>
            </a:r>
            <a:r>
              <a:rPr lang="fi-FI" dirty="0" err="1"/>
              <a:t>return</a:t>
            </a:r>
            <a:r>
              <a:rPr lang="fi-FI" dirty="0"/>
              <a:t>-komentoa ja sen jälkeen arvo, joka palautetaan</a:t>
            </a:r>
          </a:p>
        </p:txBody>
      </p:sp>
      <p:pic>
        <p:nvPicPr>
          <p:cNvPr id="4" name="Kuva 3">
            <a:extLst>
              <a:ext uri="{FF2B5EF4-FFF2-40B4-BE49-F238E27FC236}">
                <a16:creationId xmlns:a16="http://schemas.microsoft.com/office/drawing/2014/main" id="{C154CEBC-DC94-F34E-865B-3371A053585A}"/>
              </a:ext>
            </a:extLst>
          </p:cNvPr>
          <p:cNvPicPr>
            <a:picLocks noChangeAspect="1"/>
          </p:cNvPicPr>
          <p:nvPr/>
        </p:nvPicPr>
        <p:blipFill>
          <a:blip r:embed="rId2"/>
          <a:stretch>
            <a:fillRect/>
          </a:stretch>
        </p:blipFill>
        <p:spPr>
          <a:xfrm>
            <a:off x="1382920" y="2758108"/>
            <a:ext cx="6159500" cy="2057400"/>
          </a:xfrm>
          <a:prstGeom prst="rect">
            <a:avLst/>
          </a:prstGeom>
          <a:ln>
            <a:solidFill>
              <a:schemeClr val="accent1"/>
            </a:solidFill>
          </a:ln>
        </p:spPr>
      </p:pic>
      <p:pic>
        <p:nvPicPr>
          <p:cNvPr id="5" name="Kuva 4">
            <a:extLst>
              <a:ext uri="{FF2B5EF4-FFF2-40B4-BE49-F238E27FC236}">
                <a16:creationId xmlns:a16="http://schemas.microsoft.com/office/drawing/2014/main" id="{20934C97-DCE1-2A44-BFA2-477B27089529}"/>
              </a:ext>
            </a:extLst>
          </p:cNvPr>
          <p:cNvPicPr>
            <a:picLocks noChangeAspect="1"/>
          </p:cNvPicPr>
          <p:nvPr/>
        </p:nvPicPr>
        <p:blipFill>
          <a:blip r:embed="rId3"/>
          <a:stretch>
            <a:fillRect/>
          </a:stretch>
        </p:blipFill>
        <p:spPr>
          <a:xfrm>
            <a:off x="1184137" y="5122287"/>
            <a:ext cx="7609532" cy="984763"/>
          </a:xfrm>
          <a:prstGeom prst="rect">
            <a:avLst/>
          </a:prstGeom>
          <a:ln>
            <a:solidFill>
              <a:schemeClr val="accent1"/>
            </a:solidFill>
          </a:ln>
        </p:spPr>
      </p:pic>
    </p:spTree>
    <p:extLst>
      <p:ext uri="{BB962C8B-B14F-4D97-AF65-F5344CB8AC3E}">
        <p14:creationId xmlns:p14="http://schemas.microsoft.com/office/powerpoint/2010/main" val="23567584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C737D732-1420-2247-91DC-13C007A2E351}"/>
              </a:ext>
            </a:extLst>
          </p:cNvPr>
          <p:cNvSpPr>
            <a:spLocks noGrp="1"/>
          </p:cNvSpPr>
          <p:nvPr>
            <p:ph type="title"/>
          </p:nvPr>
        </p:nvSpPr>
        <p:spPr>
          <a:xfrm>
            <a:off x="791918" y="129863"/>
            <a:ext cx="8063670" cy="650973"/>
          </a:xfrm>
        </p:spPr>
        <p:txBody>
          <a:bodyPr/>
          <a:lstStyle/>
          <a:p>
            <a:r>
              <a:rPr lang="fi-FI" dirty="0"/>
              <a:t>Harjoituksia</a:t>
            </a:r>
          </a:p>
        </p:txBody>
      </p:sp>
      <p:sp>
        <p:nvSpPr>
          <p:cNvPr id="3" name="Sisällön paikkamerkki 2">
            <a:extLst>
              <a:ext uri="{FF2B5EF4-FFF2-40B4-BE49-F238E27FC236}">
                <a16:creationId xmlns:a16="http://schemas.microsoft.com/office/drawing/2014/main" id="{7BBD525A-0E17-044C-9387-124A6AF5C58E}"/>
              </a:ext>
            </a:extLst>
          </p:cNvPr>
          <p:cNvSpPr>
            <a:spLocks noGrp="1"/>
          </p:cNvSpPr>
          <p:nvPr>
            <p:ph sz="quarter" idx="12"/>
          </p:nvPr>
        </p:nvSpPr>
        <p:spPr>
          <a:xfrm>
            <a:off x="791918" y="780836"/>
            <a:ext cx="8063670" cy="5947301"/>
          </a:xfrm>
        </p:spPr>
        <p:txBody>
          <a:bodyPr/>
          <a:lstStyle/>
          <a:p>
            <a:pPr>
              <a:buFont typeface="+mj-lt"/>
              <a:buAutoNum type="arabicPeriod"/>
            </a:pPr>
            <a:r>
              <a:rPr lang="fi-FI" dirty="0"/>
              <a:t>Kirjoita ohjelma, joka laskee kaksi numeroa yhteen. Esim. yhteenlasku(3,5) </a:t>
            </a:r>
            <a:r>
              <a:rPr lang="fi-FI" dirty="0">
                <a:sym typeface="Wingdings" pitchFamily="2" charset="2"/>
              </a:rPr>
              <a:t></a:t>
            </a:r>
            <a:r>
              <a:rPr lang="fi-FI" dirty="0"/>
              <a:t> 8</a:t>
            </a:r>
          </a:p>
          <a:p>
            <a:pPr lvl="0">
              <a:buFont typeface="+mj-lt"/>
              <a:buAutoNum type="arabicPeriod"/>
            </a:pPr>
            <a:r>
              <a:rPr lang="fi-FI" dirty="0"/>
              <a:t>Kirjoita ohjelma, joka muuttaa Celsius-asteet </a:t>
            </a:r>
            <a:r>
              <a:rPr lang="fi-FI" dirty="0" err="1"/>
              <a:t>Fahrenheiteiksi</a:t>
            </a:r>
            <a:r>
              <a:rPr lang="fi-FI" dirty="0"/>
              <a:t> (Celsius-asteet kerrotaan 1,8:lla ja lisätään 32). Esim. </a:t>
            </a:r>
            <a:r>
              <a:rPr lang="fi-FI" dirty="0" err="1"/>
              <a:t>fahrenheit</a:t>
            </a:r>
            <a:r>
              <a:rPr lang="fi-FI" dirty="0"/>
              <a:t>(10) </a:t>
            </a:r>
            <a:r>
              <a:rPr lang="fi-FI" dirty="0">
                <a:sym typeface="Wingdings" pitchFamily="2" charset="2"/>
              </a:rPr>
              <a:t></a:t>
            </a:r>
            <a:r>
              <a:rPr lang="fi-FI" dirty="0"/>
              <a:t> 50 </a:t>
            </a:r>
          </a:p>
          <a:p>
            <a:pPr lvl="0">
              <a:buFont typeface="+mj-lt"/>
              <a:buAutoNum type="arabicPeriod"/>
            </a:pPr>
            <a:r>
              <a:rPr lang="fi-FI" dirty="0"/>
              <a:t>Kirjoita ohjelma, joka tekee kaikki 4 peruslaskutoimitusta annetuille luvuille. Esim. perus(8,5) </a:t>
            </a:r>
            <a:r>
              <a:rPr lang="fi-FI" dirty="0">
                <a:sym typeface="Wingdings" pitchFamily="2" charset="2"/>
              </a:rPr>
              <a:t></a:t>
            </a:r>
            <a:r>
              <a:rPr lang="fi-FI" dirty="0"/>
              <a:t> 13 / 3 / 40 / 1,6</a:t>
            </a:r>
          </a:p>
          <a:p>
            <a:pPr lvl="0">
              <a:buFont typeface="+mj-lt"/>
              <a:buAutoNum type="arabicPeriod"/>
            </a:pPr>
            <a:r>
              <a:rPr lang="fi-FI" dirty="0"/>
              <a:t>Kirjoita ohjelma, joka palauttaa jakojäännöksen. Esim. </a:t>
            </a:r>
            <a:r>
              <a:rPr lang="fi-FI" dirty="0" err="1"/>
              <a:t>jakoj</a:t>
            </a:r>
            <a:r>
              <a:rPr lang="fi-FI" dirty="0"/>
              <a:t>(5,2) </a:t>
            </a:r>
            <a:r>
              <a:rPr lang="fi-FI" dirty="0">
                <a:sym typeface="Wingdings" pitchFamily="2" charset="2"/>
              </a:rPr>
              <a:t></a:t>
            </a:r>
            <a:r>
              <a:rPr lang="fi-FI" dirty="0"/>
              <a:t> 1</a:t>
            </a:r>
          </a:p>
          <a:p>
            <a:pPr lvl="0">
              <a:buFont typeface="+mj-lt"/>
              <a:buAutoNum type="arabicPeriod"/>
            </a:pPr>
            <a:r>
              <a:rPr lang="fi-FI" dirty="0"/>
              <a:t>Kirjoita ohjelma, joka pyytää käyttäjän nimeä ja palauttaa viestin: ”Hei Jyri” (Jyri tässä annettu käyttäjä)</a:t>
            </a:r>
          </a:p>
          <a:p>
            <a:pPr lvl="0">
              <a:buFont typeface="+mj-lt"/>
              <a:buAutoNum type="arabicPeriod"/>
            </a:pPr>
            <a:r>
              <a:rPr lang="fi-FI" dirty="0"/>
              <a:t>Kirjoita tehtävä 1 uudelleen siten, että käyttäjä voi antaa ko. numerot</a:t>
            </a:r>
          </a:p>
          <a:p>
            <a:pPr lvl="0">
              <a:buFont typeface="+mj-lt"/>
              <a:buAutoNum type="arabicPeriod"/>
            </a:pPr>
            <a:r>
              <a:rPr lang="fi-FI" dirty="0"/>
              <a:t>Kirjoita tehtävä 2 uudelleen siten, että käyttäjä voi antaa Celsius arvon.</a:t>
            </a:r>
          </a:p>
          <a:p>
            <a:pPr lvl="0">
              <a:buFont typeface="+mj-lt"/>
              <a:buAutoNum type="arabicPeriod"/>
            </a:pPr>
            <a:r>
              <a:rPr lang="fi-FI" dirty="0"/>
              <a:t>Kirjoita tehtävä 3 uudelleen siten, että käyttäjä voi antaa ko. numerot</a:t>
            </a:r>
          </a:p>
          <a:p>
            <a:pPr lvl="0">
              <a:buFont typeface="+mj-lt"/>
              <a:buAutoNum type="arabicPeriod"/>
            </a:pPr>
            <a:r>
              <a:rPr lang="fi-FI" dirty="0"/>
              <a:t>Kirjoita tehtävä 4 uudelleen siten, että käyttäjä voi antaa ko. numerot</a:t>
            </a:r>
          </a:p>
          <a:p>
            <a:pPr>
              <a:buFont typeface="+mj-lt"/>
              <a:buAutoNum type="arabicPeriod"/>
            </a:pPr>
            <a:r>
              <a:rPr lang="fi-FI" dirty="0"/>
              <a:t>Kirjoita ohjelma, joka kysyy käyttäjältä kokonaislukua välillä 1 – 10 ja </a:t>
            </a:r>
            <a:br>
              <a:rPr lang="fi-FI" dirty="0"/>
            </a:br>
            <a:r>
              <a:rPr lang="fi-FI" dirty="0"/>
              <a:t>tulostaa sitten ko. luvun kertotaulun (käytä silmukkaa hyväksesi). </a:t>
            </a:r>
            <a:br>
              <a:rPr lang="fi-FI" dirty="0"/>
            </a:br>
            <a:r>
              <a:rPr lang="fi-FI" dirty="0" err="1"/>
              <a:t>Esim</a:t>
            </a:r>
            <a:r>
              <a:rPr lang="fi-FI" dirty="0"/>
              <a:t>, jos luku on 5, tulostus on: </a:t>
            </a:r>
            <a:br>
              <a:rPr lang="fi-FI" dirty="0"/>
            </a:br>
            <a:r>
              <a:rPr lang="fi-FI" dirty="0"/>
              <a:t>	5 x 1 =   5</a:t>
            </a:r>
            <a:br>
              <a:rPr lang="fi-FI" dirty="0"/>
            </a:br>
            <a:r>
              <a:rPr lang="fi-FI" dirty="0"/>
              <a:t>  5 x 2 = 10</a:t>
            </a:r>
            <a:br>
              <a:rPr lang="fi-FI" dirty="0"/>
            </a:br>
            <a:r>
              <a:rPr lang="fi-FI" dirty="0"/>
              <a:t>  ….</a:t>
            </a:r>
            <a:br>
              <a:rPr lang="fi-FI" dirty="0"/>
            </a:br>
            <a:r>
              <a:rPr lang="fi-FI" dirty="0"/>
              <a:t>  5 x 10 = 50 </a:t>
            </a:r>
          </a:p>
          <a:p>
            <a:pPr>
              <a:buFont typeface="+mj-lt"/>
              <a:buAutoNum type="arabicPeriod"/>
            </a:pPr>
            <a:endParaRPr lang="fi-FI" dirty="0"/>
          </a:p>
        </p:txBody>
      </p:sp>
    </p:spTree>
    <p:extLst>
      <p:ext uri="{BB962C8B-B14F-4D97-AF65-F5344CB8AC3E}">
        <p14:creationId xmlns:p14="http://schemas.microsoft.com/office/powerpoint/2010/main" val="43891339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6CDF06A-670E-CF4A-8295-E7E84D0E7117}"/>
              </a:ext>
            </a:extLst>
          </p:cNvPr>
          <p:cNvSpPr>
            <a:spLocks noGrp="1"/>
          </p:cNvSpPr>
          <p:nvPr>
            <p:ph type="title"/>
          </p:nvPr>
        </p:nvSpPr>
        <p:spPr>
          <a:xfrm>
            <a:off x="791918" y="129863"/>
            <a:ext cx="8063670" cy="681795"/>
          </a:xfrm>
        </p:spPr>
        <p:txBody>
          <a:bodyPr/>
          <a:lstStyle/>
          <a:p>
            <a:r>
              <a:rPr lang="fi-FI" dirty="0"/>
              <a:t>Harjoituksia</a:t>
            </a:r>
          </a:p>
        </p:txBody>
      </p:sp>
      <p:sp>
        <p:nvSpPr>
          <p:cNvPr id="3" name="Sisällön paikkamerkki 2">
            <a:extLst>
              <a:ext uri="{FF2B5EF4-FFF2-40B4-BE49-F238E27FC236}">
                <a16:creationId xmlns:a16="http://schemas.microsoft.com/office/drawing/2014/main" id="{A19B3C01-4889-8742-8A51-89DE721E2C1F}"/>
              </a:ext>
            </a:extLst>
          </p:cNvPr>
          <p:cNvSpPr>
            <a:spLocks noGrp="1"/>
          </p:cNvSpPr>
          <p:nvPr>
            <p:ph sz="quarter" idx="12"/>
          </p:nvPr>
        </p:nvSpPr>
        <p:spPr>
          <a:xfrm>
            <a:off x="791918" y="811658"/>
            <a:ext cx="8063670" cy="5916479"/>
          </a:xfrm>
          <a:solidFill>
            <a:schemeClr val="bg1">
              <a:alpha val="96433"/>
            </a:schemeClr>
          </a:solidFill>
        </p:spPr>
        <p:txBody>
          <a:bodyPr/>
          <a:lstStyle/>
          <a:p>
            <a:pPr lvl="0">
              <a:buFont typeface="+mj-lt"/>
              <a:buAutoNum type="arabicPeriod" startAt="11"/>
            </a:pPr>
            <a:r>
              <a:rPr lang="fi-FI" dirty="0"/>
              <a:t>Kirjoita ohjelma, joka kysyy käyttäjän ikää (esim. 25) ja tulostaa konsoliin: ”25 – näytät ikäistäsi nuoremmalta”</a:t>
            </a:r>
          </a:p>
          <a:p>
            <a:pPr lvl="0">
              <a:buFont typeface="+mj-lt"/>
              <a:buAutoNum type="arabicPeriod" startAt="11"/>
            </a:pPr>
            <a:r>
              <a:rPr lang="fi-FI" dirty="0"/>
              <a:t>Kirjoita ohjelma, joka pyytää käyttäjältä 10 suuremman kokonaisluvun (esim. 13) ja tulostaa konsoliin esimerkkitapauksessa 13 kertaa:</a:t>
            </a:r>
            <a:br>
              <a:rPr lang="fi-FI" dirty="0"/>
            </a:br>
            <a:r>
              <a:rPr lang="fi-FI" dirty="0"/>
              <a:t>13 13 13 13 13 13 13 13 13 13 13 13 13</a:t>
            </a:r>
            <a:br>
              <a:rPr lang="fi-FI" dirty="0"/>
            </a:br>
            <a:r>
              <a:rPr lang="fi-FI" dirty="0"/>
              <a:t>13131313131313131313131313</a:t>
            </a:r>
            <a:br>
              <a:rPr lang="fi-FI" dirty="0"/>
            </a:br>
            <a:r>
              <a:rPr lang="fi-FI" dirty="0"/>
              <a:t>… (sama 11 kertaa ja lopuksi:)</a:t>
            </a:r>
            <a:br>
              <a:rPr lang="fi-FI" dirty="0"/>
            </a:br>
            <a:r>
              <a:rPr lang="fi-FI" dirty="0"/>
              <a:t>13 13 13 13 13 13 13 13 13 13 13 13 13</a:t>
            </a:r>
            <a:br>
              <a:rPr lang="fi-FI" dirty="0"/>
            </a:br>
            <a:r>
              <a:rPr lang="fi-FI" dirty="0"/>
              <a:t>13131313131313131313131313</a:t>
            </a:r>
          </a:p>
          <a:p>
            <a:pPr lvl="0">
              <a:buFont typeface="+mj-lt"/>
              <a:buAutoNum type="arabicPeriod" startAt="11"/>
            </a:pPr>
            <a:r>
              <a:rPr lang="fi-FI" dirty="0"/>
              <a:t>Kirjoita ohjelma, joka pyytää sanaa käyttäjältä ja vaihtaa sanan ensimmäisen ja viimeisen kirjaimen keskenään, </a:t>
            </a:r>
            <a:r>
              <a:rPr lang="fi-FI" dirty="0" err="1"/>
              <a:t>esim</a:t>
            </a:r>
            <a:r>
              <a:rPr lang="fi-FI" dirty="0"/>
              <a:t> Jyri </a:t>
            </a:r>
            <a:r>
              <a:rPr lang="fi-FI" dirty="0">
                <a:sym typeface="Wingdings" pitchFamily="2" charset="2"/>
              </a:rPr>
              <a:t></a:t>
            </a:r>
            <a:r>
              <a:rPr lang="fi-FI" dirty="0"/>
              <a:t> </a:t>
            </a:r>
            <a:r>
              <a:rPr lang="fi-FI" dirty="0" err="1"/>
              <a:t>iyrJ</a:t>
            </a:r>
            <a:r>
              <a:rPr lang="fi-FI" dirty="0"/>
              <a:t> tai Lindroos </a:t>
            </a:r>
            <a:r>
              <a:rPr lang="fi-FI" dirty="0">
                <a:sym typeface="Wingdings" pitchFamily="2" charset="2"/>
              </a:rPr>
              <a:t></a:t>
            </a:r>
            <a:r>
              <a:rPr lang="fi-FI" dirty="0"/>
              <a:t> </a:t>
            </a:r>
            <a:r>
              <a:rPr lang="fi-FI" dirty="0" err="1"/>
              <a:t>sindrooL</a:t>
            </a:r>
            <a:endParaRPr lang="fi-FI" dirty="0"/>
          </a:p>
          <a:p>
            <a:pPr lvl="0">
              <a:buFont typeface="+mj-lt"/>
              <a:buAutoNum type="arabicPeriod" startAt="11"/>
            </a:pPr>
            <a:r>
              <a:rPr lang="fi-FI" dirty="0"/>
              <a:t>Kirjoita ohjelma, joka pyytää kahta kokonaislukua käyttäjältä ja tulostaa joko:</a:t>
            </a:r>
          </a:p>
          <a:p>
            <a:pPr marL="800100" lvl="1" indent="-342900">
              <a:buFont typeface="+mj-lt"/>
              <a:buAutoNum type="arabicPeriod"/>
            </a:pPr>
            <a:r>
              <a:rPr lang="fi-FI" dirty="0"/>
              <a:t>Molemmat ovat positiivisia</a:t>
            </a:r>
          </a:p>
          <a:p>
            <a:pPr marL="800100" lvl="1" indent="-342900">
              <a:buFont typeface="+mj-lt"/>
              <a:buAutoNum type="arabicPeriod"/>
            </a:pPr>
            <a:r>
              <a:rPr lang="fi-FI" dirty="0"/>
              <a:t>Molemmat ovat negatiivisia</a:t>
            </a:r>
          </a:p>
          <a:p>
            <a:pPr marL="800100" lvl="1" indent="-342900">
              <a:buFont typeface="+mj-lt"/>
              <a:buAutoNum type="arabicPeriod"/>
            </a:pPr>
            <a:r>
              <a:rPr lang="fi-FI" dirty="0"/>
              <a:t>Toinen on positiivinen ja toinen negatiivinen</a:t>
            </a:r>
          </a:p>
          <a:p>
            <a:pPr lvl="0">
              <a:buFont typeface="+mj-lt"/>
              <a:buAutoNum type="arabicPeriod" startAt="11"/>
            </a:pPr>
            <a:r>
              <a:rPr lang="fi-FI" dirty="0"/>
              <a:t>Kirjoita ohjelma, joka pyytää käyttäjältä lausetta ja tulostaa ko. lauseen pisimmän sanan. Esim. Olipa kerran </a:t>
            </a:r>
            <a:r>
              <a:rPr lang="fi-FI" dirty="0" err="1"/>
              <a:t>Onnimanni</a:t>
            </a:r>
            <a:r>
              <a:rPr lang="fi-FI" dirty="0"/>
              <a:t>, </a:t>
            </a:r>
            <a:r>
              <a:rPr lang="fi-FI" dirty="0" err="1"/>
              <a:t>Onnimannista</a:t>
            </a:r>
            <a:r>
              <a:rPr lang="fi-FI" dirty="0"/>
              <a:t> Matikka </a:t>
            </a:r>
            <a:r>
              <a:rPr lang="fi-FI" dirty="0">
                <a:sym typeface="Wingdings" pitchFamily="2" charset="2"/>
              </a:rPr>
              <a:t></a:t>
            </a:r>
            <a:r>
              <a:rPr lang="fi-FI" dirty="0"/>
              <a:t> </a:t>
            </a:r>
            <a:r>
              <a:rPr lang="fi-FI" dirty="0" err="1"/>
              <a:t>Onnimannista</a:t>
            </a:r>
            <a:endParaRPr lang="fi-FI" dirty="0"/>
          </a:p>
          <a:p>
            <a:pPr lvl="0">
              <a:buFont typeface="+mj-lt"/>
              <a:buAutoNum type="arabicPeriod" startAt="11"/>
            </a:pPr>
            <a:r>
              <a:rPr lang="fi-FI" dirty="0"/>
              <a:t>Kirjoita ohjelma, joka tulostaa parittomat luvut välillä 1-99</a:t>
            </a:r>
          </a:p>
          <a:p>
            <a:pPr>
              <a:buFont typeface="+mj-lt"/>
              <a:buAutoNum type="arabicPeriod" startAt="11"/>
            </a:pPr>
            <a:r>
              <a:rPr lang="fi-FI" dirty="0"/>
              <a:t>Muuta edellistä ohjelmaa siten, että se tulostaa vain 3:lla jaolliset luvut </a:t>
            </a:r>
          </a:p>
        </p:txBody>
      </p:sp>
    </p:spTree>
    <p:extLst>
      <p:ext uri="{BB962C8B-B14F-4D97-AF65-F5344CB8AC3E}">
        <p14:creationId xmlns:p14="http://schemas.microsoft.com/office/powerpoint/2010/main" val="350554742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F00FA12-D5CA-8B42-800C-2A010529C82C}"/>
              </a:ext>
            </a:extLst>
          </p:cNvPr>
          <p:cNvSpPr>
            <a:spLocks noGrp="1"/>
          </p:cNvSpPr>
          <p:nvPr>
            <p:ph type="title"/>
          </p:nvPr>
        </p:nvSpPr>
        <p:spPr>
          <a:xfrm>
            <a:off x="831674" y="580099"/>
            <a:ext cx="5761282" cy="1440392"/>
          </a:xfrm>
        </p:spPr>
        <p:txBody>
          <a:bodyPr/>
          <a:lstStyle/>
          <a:p>
            <a:r>
              <a:rPr lang="fi-FI" dirty="0"/>
              <a:t>Luokat</a:t>
            </a:r>
          </a:p>
        </p:txBody>
      </p:sp>
      <p:sp>
        <p:nvSpPr>
          <p:cNvPr id="3" name="Sisällön paikkamerkki 2">
            <a:extLst>
              <a:ext uri="{FF2B5EF4-FFF2-40B4-BE49-F238E27FC236}">
                <a16:creationId xmlns:a16="http://schemas.microsoft.com/office/drawing/2014/main" id="{11430D92-F29D-0944-B81F-886A681A85ED}"/>
              </a:ext>
            </a:extLst>
          </p:cNvPr>
          <p:cNvSpPr>
            <a:spLocks noGrp="1"/>
          </p:cNvSpPr>
          <p:nvPr>
            <p:ph sz="quarter" idx="12"/>
          </p:nvPr>
        </p:nvSpPr>
        <p:spPr>
          <a:xfrm>
            <a:off x="831674" y="2119601"/>
            <a:ext cx="6304621" cy="4301077"/>
          </a:xfrm>
        </p:spPr>
        <p:txBody>
          <a:bodyPr/>
          <a:lstStyle/>
          <a:p>
            <a:r>
              <a:rPr lang="fi-FI" dirty="0"/>
              <a:t>Nyt, kun tiedämme jo paljon C#-ohjelmoinnista, eräs kysymys herää – mihin syötämme kaiken tuon koodin?</a:t>
            </a:r>
          </a:p>
          <a:p>
            <a:r>
              <a:rPr lang="fi-FI" dirty="0"/>
              <a:t>C# haluaa järjestää koodin erilaisiin luokkiin, joita voi kutsua toisien luokkien sisältä</a:t>
            </a:r>
          </a:p>
          <a:p>
            <a:r>
              <a:rPr lang="fi-FI" dirty="0"/>
              <a:t>Yllä on </a:t>
            </a:r>
            <a:r>
              <a:rPr lang="fi-FI" dirty="0" err="1"/>
              <a:t>Tehtavia</a:t>
            </a:r>
            <a:r>
              <a:rPr lang="fi-FI" dirty="0"/>
              <a:t>-luokka, joka ihan ensimmäisellä rivillä kutsuu System-luokkaa ja sen metodeja (kuten </a:t>
            </a:r>
            <a:r>
              <a:rPr lang="fi-FI" dirty="0" err="1"/>
              <a:t>Console.Write</a:t>
            </a:r>
            <a:r>
              <a:rPr lang="fi-FI" dirty="0"/>
              <a:t> tai </a:t>
            </a:r>
            <a:r>
              <a:rPr lang="fi-FI" dirty="0" err="1"/>
              <a:t>Console.Read</a:t>
            </a:r>
            <a:r>
              <a:rPr lang="fi-FI" dirty="0"/>
              <a:t>)</a:t>
            </a:r>
          </a:p>
          <a:p>
            <a:r>
              <a:rPr lang="fi-FI" dirty="0"/>
              <a:t>Aiemmin kerroin, että jokaisessa ohjelmassa pitää olla yksi Main-metodi, joka käynnistää ohjelman</a:t>
            </a:r>
          </a:p>
          <a:p>
            <a:r>
              <a:rPr lang="fi-FI" dirty="0"/>
              <a:t>Lähes jokainen luokka tarvitsee </a:t>
            </a:r>
            <a:r>
              <a:rPr lang="fi-FI" dirty="0" err="1"/>
              <a:t>Constructor</a:t>
            </a:r>
            <a:r>
              <a:rPr lang="fi-FI" dirty="0"/>
              <a:t>-metodin, joka suoritetaan, kun luokka otetaan käyttöön. </a:t>
            </a:r>
            <a:r>
              <a:rPr lang="fi-FI" dirty="0" err="1"/>
              <a:t>Constructor</a:t>
            </a:r>
            <a:r>
              <a:rPr lang="fi-FI" dirty="0"/>
              <a:t>-metodille voidaan syöttää arvoja tai se voidaan jättää tyhjäksi</a:t>
            </a:r>
          </a:p>
          <a:p>
            <a:r>
              <a:rPr lang="fi-FI" dirty="0"/>
              <a:t>Luokan muuttujiin ei voi koskea suoraan, vaan ne tarvitsevat metodin, jolla niitä kutsutaan</a:t>
            </a:r>
          </a:p>
        </p:txBody>
      </p:sp>
      <p:pic>
        <p:nvPicPr>
          <p:cNvPr id="5" name="Kuva 4">
            <a:extLst>
              <a:ext uri="{FF2B5EF4-FFF2-40B4-BE49-F238E27FC236}">
                <a16:creationId xmlns:a16="http://schemas.microsoft.com/office/drawing/2014/main" id="{DF025001-105A-3D4F-BD42-249E05D60CF0}"/>
              </a:ext>
            </a:extLst>
          </p:cNvPr>
          <p:cNvPicPr>
            <a:picLocks noChangeAspect="1"/>
          </p:cNvPicPr>
          <p:nvPr/>
        </p:nvPicPr>
        <p:blipFill>
          <a:blip r:embed="rId2"/>
          <a:stretch>
            <a:fillRect/>
          </a:stretch>
        </p:blipFill>
        <p:spPr>
          <a:xfrm>
            <a:off x="2394225" y="221462"/>
            <a:ext cx="3759200" cy="1333500"/>
          </a:xfrm>
          <a:prstGeom prst="rect">
            <a:avLst/>
          </a:prstGeom>
          <a:ln>
            <a:solidFill>
              <a:schemeClr val="accent1"/>
            </a:solidFill>
          </a:ln>
        </p:spPr>
      </p:pic>
    </p:spTree>
    <p:extLst>
      <p:ext uri="{BB962C8B-B14F-4D97-AF65-F5344CB8AC3E}">
        <p14:creationId xmlns:p14="http://schemas.microsoft.com/office/powerpoint/2010/main" val="13044174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9A1C4A6F-1C42-1B41-A706-93A12BD087C5}"/>
              </a:ext>
            </a:extLst>
          </p:cNvPr>
          <p:cNvSpPr>
            <a:spLocks noGrp="1"/>
          </p:cNvSpPr>
          <p:nvPr>
            <p:ph type="title"/>
          </p:nvPr>
        </p:nvSpPr>
        <p:spPr>
          <a:xfrm>
            <a:off x="771036" y="-443557"/>
            <a:ext cx="5761282" cy="1440392"/>
          </a:xfrm>
        </p:spPr>
        <p:txBody>
          <a:bodyPr/>
          <a:lstStyle/>
          <a:p>
            <a:r>
              <a:rPr lang="fi-FI" dirty="0"/>
              <a:t>Esimerkki</a:t>
            </a:r>
          </a:p>
        </p:txBody>
      </p:sp>
      <p:sp>
        <p:nvSpPr>
          <p:cNvPr id="3" name="Sisällön paikkamerkki 2">
            <a:extLst>
              <a:ext uri="{FF2B5EF4-FFF2-40B4-BE49-F238E27FC236}">
                <a16:creationId xmlns:a16="http://schemas.microsoft.com/office/drawing/2014/main" id="{ACED7313-C5D9-B24C-8412-E39B28C9536D}"/>
              </a:ext>
            </a:extLst>
          </p:cNvPr>
          <p:cNvSpPr>
            <a:spLocks noGrp="1"/>
          </p:cNvSpPr>
          <p:nvPr>
            <p:ph sz="quarter" idx="12"/>
          </p:nvPr>
        </p:nvSpPr>
        <p:spPr>
          <a:xfrm>
            <a:off x="771036" y="1095945"/>
            <a:ext cx="5248647" cy="2884487"/>
          </a:xfrm>
        </p:spPr>
        <p:txBody>
          <a:bodyPr/>
          <a:lstStyle/>
          <a:p>
            <a:r>
              <a:rPr lang="fi-FI" dirty="0"/>
              <a:t>Alla on esimerkki </a:t>
            </a:r>
            <a:r>
              <a:rPr lang="fi-FI" dirty="0" err="1"/>
              <a:t>minunAuto</a:t>
            </a:r>
            <a:r>
              <a:rPr lang="fi-FI" dirty="0"/>
              <a:t>-luokasta, jolla on</a:t>
            </a:r>
          </a:p>
          <a:p>
            <a:pPr lvl="1"/>
            <a:r>
              <a:rPr lang="fi-FI" dirty="0" err="1"/>
              <a:t>Konstruktori</a:t>
            </a:r>
            <a:r>
              <a:rPr lang="fi-FI" dirty="0"/>
              <a:t>-metodi: </a:t>
            </a:r>
            <a:r>
              <a:rPr lang="fi-FI" dirty="0" err="1"/>
              <a:t>public</a:t>
            </a:r>
            <a:r>
              <a:rPr lang="fi-FI" dirty="0"/>
              <a:t> </a:t>
            </a:r>
            <a:r>
              <a:rPr lang="fi-FI" dirty="0" err="1"/>
              <a:t>minunAuto</a:t>
            </a:r>
            <a:r>
              <a:rPr lang="fi-FI" dirty="0"/>
              <a:t>(….)</a:t>
            </a:r>
          </a:p>
          <a:p>
            <a:pPr lvl="1"/>
            <a:r>
              <a:rPr lang="fi-FI" dirty="0"/>
              <a:t>Metodi, jolla palautetaan huippunopeus</a:t>
            </a:r>
          </a:p>
          <a:p>
            <a:pPr lvl="1"/>
            <a:r>
              <a:rPr lang="fi-FI" dirty="0"/>
              <a:t>Metodi, jolla voidaan muuttaa auton väriä</a:t>
            </a:r>
          </a:p>
        </p:txBody>
      </p:sp>
      <p:pic>
        <p:nvPicPr>
          <p:cNvPr id="4" name="Kuva 3">
            <a:extLst>
              <a:ext uri="{FF2B5EF4-FFF2-40B4-BE49-F238E27FC236}">
                <a16:creationId xmlns:a16="http://schemas.microsoft.com/office/drawing/2014/main" id="{E7348299-A5C5-9E4E-88D5-CF8D2A7F67A5}"/>
              </a:ext>
            </a:extLst>
          </p:cNvPr>
          <p:cNvPicPr>
            <a:picLocks noChangeAspect="1"/>
          </p:cNvPicPr>
          <p:nvPr/>
        </p:nvPicPr>
        <p:blipFill>
          <a:blip r:embed="rId2"/>
          <a:stretch>
            <a:fillRect/>
          </a:stretch>
        </p:blipFill>
        <p:spPr>
          <a:xfrm>
            <a:off x="791918" y="2542761"/>
            <a:ext cx="5740400" cy="4038600"/>
          </a:xfrm>
          <a:prstGeom prst="rect">
            <a:avLst/>
          </a:prstGeom>
          <a:ln>
            <a:solidFill>
              <a:schemeClr val="accent1"/>
            </a:solidFill>
          </a:ln>
        </p:spPr>
      </p:pic>
    </p:spTree>
    <p:extLst>
      <p:ext uri="{BB962C8B-B14F-4D97-AF65-F5344CB8AC3E}">
        <p14:creationId xmlns:p14="http://schemas.microsoft.com/office/powerpoint/2010/main" val="210979325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556C3CD3-922F-4F49-95A9-04F97C9F04B4}"/>
              </a:ext>
            </a:extLst>
          </p:cNvPr>
          <p:cNvSpPr>
            <a:spLocks noGrp="1"/>
          </p:cNvSpPr>
          <p:nvPr>
            <p:ph type="title"/>
          </p:nvPr>
        </p:nvSpPr>
        <p:spPr/>
        <p:txBody>
          <a:bodyPr/>
          <a:lstStyle/>
          <a:p>
            <a:r>
              <a:rPr lang="fi-FI" dirty="0"/>
              <a:t>Luokan ottaminen käyttöön</a:t>
            </a:r>
          </a:p>
        </p:txBody>
      </p:sp>
      <p:sp>
        <p:nvSpPr>
          <p:cNvPr id="3" name="Sisällön paikkamerkki 2">
            <a:extLst>
              <a:ext uri="{FF2B5EF4-FFF2-40B4-BE49-F238E27FC236}">
                <a16:creationId xmlns:a16="http://schemas.microsoft.com/office/drawing/2014/main" id="{77CAA64A-8B8D-3C41-92F5-9DFC7A6D1D2F}"/>
              </a:ext>
            </a:extLst>
          </p:cNvPr>
          <p:cNvSpPr>
            <a:spLocks noGrp="1"/>
          </p:cNvSpPr>
          <p:nvPr>
            <p:ph sz="quarter" idx="12"/>
          </p:nvPr>
        </p:nvSpPr>
        <p:spPr>
          <a:xfrm>
            <a:off x="791918" y="3123454"/>
            <a:ext cx="6384134" cy="2884487"/>
          </a:xfrm>
        </p:spPr>
        <p:txBody>
          <a:bodyPr/>
          <a:lstStyle/>
          <a:p>
            <a:r>
              <a:rPr lang="fi-FI" dirty="0"/>
              <a:t>Luokka on omaa tietotyyppiä, joten se otetaan käyttöön seuraavasti:</a:t>
            </a:r>
          </a:p>
          <a:p>
            <a:pPr lvl="1"/>
            <a:r>
              <a:rPr lang="fi-FI" dirty="0" err="1"/>
              <a:t>Luokan_nimi</a:t>
            </a:r>
            <a:r>
              <a:rPr lang="fi-FI" dirty="0"/>
              <a:t> muuttuja = </a:t>
            </a:r>
            <a:r>
              <a:rPr lang="fi-FI" dirty="0" err="1"/>
              <a:t>new</a:t>
            </a:r>
            <a:r>
              <a:rPr lang="fi-FI" dirty="0"/>
              <a:t> Luokan nimi(). Esim.</a:t>
            </a:r>
            <a:br>
              <a:rPr lang="fi-FI" dirty="0"/>
            </a:br>
            <a:r>
              <a:rPr lang="fi-FI" dirty="0" err="1"/>
              <a:t>minunAuto</a:t>
            </a:r>
            <a:r>
              <a:rPr lang="fi-FI" dirty="0"/>
              <a:t> </a:t>
            </a:r>
            <a:r>
              <a:rPr lang="fi-FI" dirty="0" err="1"/>
              <a:t>audi</a:t>
            </a:r>
            <a:r>
              <a:rPr lang="fi-FI" dirty="0"/>
              <a:t> = </a:t>
            </a:r>
            <a:r>
              <a:rPr lang="fi-FI" dirty="0" err="1"/>
              <a:t>new</a:t>
            </a:r>
            <a:r>
              <a:rPr lang="fi-FI" dirty="0"/>
              <a:t> </a:t>
            </a:r>
            <a:r>
              <a:rPr lang="fi-FI" dirty="0" err="1"/>
              <a:t>minunAuto</a:t>
            </a:r>
            <a:r>
              <a:rPr lang="fi-FI" dirty="0"/>
              <a:t>(200, ’Musta’);</a:t>
            </a:r>
          </a:p>
          <a:p>
            <a:pPr lvl="1"/>
            <a:endParaRPr lang="fi-FI" dirty="0"/>
          </a:p>
          <a:p>
            <a:pPr lvl="1"/>
            <a:endParaRPr lang="fi-FI" dirty="0"/>
          </a:p>
          <a:p>
            <a:pPr lvl="1"/>
            <a:endParaRPr lang="fi-FI" dirty="0"/>
          </a:p>
          <a:p>
            <a:r>
              <a:rPr lang="fi-FI" dirty="0"/>
              <a:t>Näin olemme luoneet </a:t>
            </a:r>
            <a:r>
              <a:rPr lang="fi-FI" dirty="0" err="1"/>
              <a:t>audi</a:t>
            </a:r>
            <a:r>
              <a:rPr lang="fi-FI" dirty="0"/>
              <a:t>-nimisen objektin ja samalla tavalla voimme luoda muitakin auto-objekteja</a:t>
            </a:r>
          </a:p>
        </p:txBody>
      </p:sp>
      <p:pic>
        <p:nvPicPr>
          <p:cNvPr id="5" name="Kuva 4">
            <a:extLst>
              <a:ext uri="{FF2B5EF4-FFF2-40B4-BE49-F238E27FC236}">
                <a16:creationId xmlns:a16="http://schemas.microsoft.com/office/drawing/2014/main" id="{8AFF113A-656D-6E4F-A274-A2A92D5E58C0}"/>
              </a:ext>
            </a:extLst>
          </p:cNvPr>
          <p:cNvPicPr>
            <a:picLocks noChangeAspect="1"/>
          </p:cNvPicPr>
          <p:nvPr/>
        </p:nvPicPr>
        <p:blipFill>
          <a:blip r:embed="rId2"/>
          <a:stretch>
            <a:fillRect/>
          </a:stretch>
        </p:blipFill>
        <p:spPr>
          <a:xfrm>
            <a:off x="6152648" y="4328806"/>
            <a:ext cx="1252004" cy="814796"/>
          </a:xfrm>
          <a:prstGeom prst="rect">
            <a:avLst/>
          </a:prstGeom>
        </p:spPr>
      </p:pic>
      <p:pic>
        <p:nvPicPr>
          <p:cNvPr id="6" name="Kuva 5">
            <a:extLst>
              <a:ext uri="{FF2B5EF4-FFF2-40B4-BE49-F238E27FC236}">
                <a16:creationId xmlns:a16="http://schemas.microsoft.com/office/drawing/2014/main" id="{CA0EEBA7-5B38-7340-83D8-4701628A32CF}"/>
              </a:ext>
            </a:extLst>
          </p:cNvPr>
          <p:cNvPicPr>
            <a:picLocks noChangeAspect="1"/>
          </p:cNvPicPr>
          <p:nvPr/>
        </p:nvPicPr>
        <p:blipFill>
          <a:blip r:embed="rId3"/>
          <a:stretch>
            <a:fillRect/>
          </a:stretch>
        </p:blipFill>
        <p:spPr>
          <a:xfrm>
            <a:off x="1577059" y="4298989"/>
            <a:ext cx="4191000" cy="1041400"/>
          </a:xfrm>
          <a:prstGeom prst="rect">
            <a:avLst/>
          </a:prstGeom>
          <a:ln>
            <a:solidFill>
              <a:schemeClr val="accent1"/>
            </a:solidFill>
          </a:ln>
        </p:spPr>
      </p:pic>
    </p:spTree>
    <p:extLst>
      <p:ext uri="{BB962C8B-B14F-4D97-AF65-F5344CB8AC3E}">
        <p14:creationId xmlns:p14="http://schemas.microsoft.com/office/powerpoint/2010/main" val="3626541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D403F37-8413-FF4D-8EB1-6A34545018E1}"/>
              </a:ext>
            </a:extLst>
          </p:cNvPr>
          <p:cNvSpPr>
            <a:spLocks noGrp="1"/>
          </p:cNvSpPr>
          <p:nvPr>
            <p:ph type="title"/>
          </p:nvPr>
        </p:nvSpPr>
        <p:spPr>
          <a:xfrm>
            <a:off x="2941982" y="129863"/>
            <a:ext cx="5913605" cy="807074"/>
          </a:xfrm>
        </p:spPr>
        <p:txBody>
          <a:bodyPr/>
          <a:lstStyle/>
          <a:p>
            <a:r>
              <a:rPr lang="fi-FI" dirty="0"/>
              <a:t>TESTAUS</a:t>
            </a:r>
          </a:p>
        </p:txBody>
      </p:sp>
      <p:sp>
        <p:nvSpPr>
          <p:cNvPr id="3" name="Sisällön paikkamerkki 2">
            <a:extLst>
              <a:ext uri="{FF2B5EF4-FFF2-40B4-BE49-F238E27FC236}">
                <a16:creationId xmlns:a16="http://schemas.microsoft.com/office/drawing/2014/main" id="{46CFCEDE-BFF2-B24E-858E-42E99432E5F9}"/>
              </a:ext>
            </a:extLst>
          </p:cNvPr>
          <p:cNvSpPr>
            <a:spLocks noGrp="1"/>
          </p:cNvSpPr>
          <p:nvPr>
            <p:ph sz="quarter" idx="12"/>
          </p:nvPr>
        </p:nvSpPr>
        <p:spPr>
          <a:xfrm>
            <a:off x="791918" y="4985359"/>
            <a:ext cx="8063670" cy="1742777"/>
          </a:xfrm>
        </p:spPr>
        <p:txBody>
          <a:bodyPr>
            <a:normAutofit/>
          </a:bodyPr>
          <a:lstStyle/>
          <a:p>
            <a:r>
              <a:rPr lang="fi-FI" dirty="0"/>
              <a:t>Tee uusi Console App projekti nimeltä Pankki</a:t>
            </a:r>
          </a:p>
          <a:p>
            <a:r>
              <a:rPr lang="fi-FI" dirty="0"/>
              <a:t>Kirjoitetaan oletuskonstruktori ja </a:t>
            </a:r>
            <a:br>
              <a:rPr lang="fi-FI" dirty="0"/>
            </a:br>
            <a:r>
              <a:rPr lang="fi-FI" dirty="0"/>
              <a:t>ylikuormitettukonstruktori ja getterit:</a:t>
            </a:r>
          </a:p>
        </p:txBody>
      </p:sp>
      <p:pic>
        <p:nvPicPr>
          <p:cNvPr id="4" name="Kuva 3">
            <a:extLst>
              <a:ext uri="{FF2B5EF4-FFF2-40B4-BE49-F238E27FC236}">
                <a16:creationId xmlns:a16="http://schemas.microsoft.com/office/drawing/2014/main" id="{3B0F617F-6270-3349-96A1-20CFFF873EAE}"/>
              </a:ext>
            </a:extLst>
          </p:cNvPr>
          <p:cNvPicPr>
            <a:picLocks noChangeAspect="1"/>
          </p:cNvPicPr>
          <p:nvPr/>
        </p:nvPicPr>
        <p:blipFill>
          <a:blip r:embed="rId2"/>
          <a:stretch>
            <a:fillRect/>
          </a:stretch>
        </p:blipFill>
        <p:spPr>
          <a:xfrm>
            <a:off x="288413" y="125395"/>
            <a:ext cx="2159000" cy="1257300"/>
          </a:xfrm>
          <a:prstGeom prst="rect">
            <a:avLst/>
          </a:prstGeom>
        </p:spPr>
      </p:pic>
      <p:pic>
        <p:nvPicPr>
          <p:cNvPr id="6" name="Kuva 5">
            <a:extLst>
              <a:ext uri="{FF2B5EF4-FFF2-40B4-BE49-F238E27FC236}">
                <a16:creationId xmlns:a16="http://schemas.microsoft.com/office/drawing/2014/main" id="{6D4E1E21-F22C-0ADE-F81A-8DE61F34AF16}"/>
              </a:ext>
            </a:extLst>
          </p:cNvPr>
          <p:cNvPicPr>
            <a:picLocks noChangeAspect="1"/>
          </p:cNvPicPr>
          <p:nvPr/>
        </p:nvPicPr>
        <p:blipFill>
          <a:blip r:embed="rId3"/>
          <a:stretch>
            <a:fillRect/>
          </a:stretch>
        </p:blipFill>
        <p:spPr>
          <a:xfrm>
            <a:off x="2664993" y="888182"/>
            <a:ext cx="5480073" cy="3984005"/>
          </a:xfrm>
          <a:prstGeom prst="rect">
            <a:avLst/>
          </a:prstGeom>
        </p:spPr>
      </p:pic>
    </p:spTree>
    <p:extLst>
      <p:ext uri="{BB962C8B-B14F-4D97-AF65-F5344CB8AC3E}">
        <p14:creationId xmlns:p14="http://schemas.microsoft.com/office/powerpoint/2010/main" val="393392486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D403F37-8413-FF4D-8EB1-6A34545018E1}"/>
              </a:ext>
            </a:extLst>
          </p:cNvPr>
          <p:cNvSpPr>
            <a:spLocks noGrp="1"/>
          </p:cNvSpPr>
          <p:nvPr>
            <p:ph type="title"/>
          </p:nvPr>
        </p:nvSpPr>
        <p:spPr>
          <a:xfrm>
            <a:off x="2941982" y="129863"/>
            <a:ext cx="5913605" cy="807074"/>
          </a:xfrm>
        </p:spPr>
        <p:txBody>
          <a:bodyPr/>
          <a:lstStyle/>
          <a:p>
            <a:r>
              <a:rPr lang="fi-FI" dirty="0"/>
              <a:t>TESTAUS</a:t>
            </a:r>
          </a:p>
        </p:txBody>
      </p:sp>
      <p:sp>
        <p:nvSpPr>
          <p:cNvPr id="3" name="Sisällön paikkamerkki 2">
            <a:extLst>
              <a:ext uri="{FF2B5EF4-FFF2-40B4-BE49-F238E27FC236}">
                <a16:creationId xmlns:a16="http://schemas.microsoft.com/office/drawing/2014/main" id="{46CFCEDE-BFF2-B24E-858E-42E99432E5F9}"/>
              </a:ext>
            </a:extLst>
          </p:cNvPr>
          <p:cNvSpPr>
            <a:spLocks noGrp="1"/>
          </p:cNvSpPr>
          <p:nvPr>
            <p:ph sz="quarter" idx="12"/>
          </p:nvPr>
        </p:nvSpPr>
        <p:spPr/>
        <p:txBody>
          <a:bodyPr/>
          <a:lstStyle/>
          <a:p>
            <a:r>
              <a:rPr lang="fi-FI" dirty="0"/>
              <a:t>Tehdään funktion Otolle ja Panolle:</a:t>
            </a:r>
          </a:p>
        </p:txBody>
      </p:sp>
      <p:pic>
        <p:nvPicPr>
          <p:cNvPr id="5" name="Picture 4">
            <a:extLst>
              <a:ext uri="{FF2B5EF4-FFF2-40B4-BE49-F238E27FC236}">
                <a16:creationId xmlns:a16="http://schemas.microsoft.com/office/drawing/2014/main" id="{0D00A503-7657-EB8C-A5A5-BBBBCDD6F864}"/>
              </a:ext>
            </a:extLst>
          </p:cNvPr>
          <p:cNvPicPr>
            <a:picLocks noChangeAspect="1"/>
          </p:cNvPicPr>
          <p:nvPr/>
        </p:nvPicPr>
        <p:blipFill>
          <a:blip r:embed="rId2"/>
          <a:stretch>
            <a:fillRect/>
          </a:stretch>
        </p:blipFill>
        <p:spPr>
          <a:xfrm>
            <a:off x="-4372" y="2038350"/>
            <a:ext cx="9111614" cy="3397946"/>
          </a:xfrm>
          <a:prstGeom prst="rect">
            <a:avLst/>
          </a:prstGeom>
        </p:spPr>
      </p:pic>
    </p:spTree>
    <p:extLst>
      <p:ext uri="{BB962C8B-B14F-4D97-AF65-F5344CB8AC3E}">
        <p14:creationId xmlns:p14="http://schemas.microsoft.com/office/powerpoint/2010/main" val="214104678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D403F37-8413-FF4D-8EB1-6A34545018E1}"/>
              </a:ext>
            </a:extLst>
          </p:cNvPr>
          <p:cNvSpPr>
            <a:spLocks noGrp="1"/>
          </p:cNvSpPr>
          <p:nvPr>
            <p:ph type="title"/>
          </p:nvPr>
        </p:nvSpPr>
        <p:spPr>
          <a:xfrm>
            <a:off x="2941982" y="129863"/>
            <a:ext cx="5913605" cy="807074"/>
          </a:xfrm>
        </p:spPr>
        <p:txBody>
          <a:bodyPr/>
          <a:lstStyle/>
          <a:p>
            <a:r>
              <a:rPr lang="fi-FI" dirty="0"/>
              <a:t>TESTAUS</a:t>
            </a:r>
          </a:p>
        </p:txBody>
      </p:sp>
      <p:sp>
        <p:nvSpPr>
          <p:cNvPr id="3" name="Sisällön paikkamerkki 2">
            <a:extLst>
              <a:ext uri="{FF2B5EF4-FFF2-40B4-BE49-F238E27FC236}">
                <a16:creationId xmlns:a16="http://schemas.microsoft.com/office/drawing/2014/main" id="{46CFCEDE-BFF2-B24E-858E-42E99432E5F9}"/>
              </a:ext>
            </a:extLst>
          </p:cNvPr>
          <p:cNvSpPr>
            <a:spLocks noGrp="1"/>
          </p:cNvSpPr>
          <p:nvPr>
            <p:ph sz="quarter" idx="12"/>
          </p:nvPr>
        </p:nvSpPr>
        <p:spPr>
          <a:xfrm>
            <a:off x="791918" y="1013792"/>
            <a:ext cx="8063670" cy="5714346"/>
          </a:xfrm>
        </p:spPr>
        <p:txBody>
          <a:bodyPr/>
          <a:lstStyle/>
          <a:p>
            <a:r>
              <a:rPr lang="fi-FI" dirty="0"/>
              <a:t>Kirjoita aivan loppuun alle (Voit käyttää omaa nimeäsi ja omia lukuja:</a:t>
            </a:r>
          </a:p>
          <a:p>
            <a:endParaRPr lang="fi-FI" dirty="0"/>
          </a:p>
          <a:p>
            <a:endParaRPr lang="fi-FI" dirty="0"/>
          </a:p>
          <a:p>
            <a:endParaRPr lang="fi-FI" dirty="0"/>
          </a:p>
          <a:p>
            <a:endParaRPr lang="fi-FI" dirty="0"/>
          </a:p>
          <a:p>
            <a:endParaRPr lang="fi-FI" dirty="0"/>
          </a:p>
          <a:p>
            <a:r>
              <a:rPr lang="fi-FI" dirty="0"/>
              <a:t>Aja ja tallenna nyt työsi ja aloita uusi projekti valitsemalla pudotusvalikosta File </a:t>
            </a:r>
            <a:r>
              <a:rPr lang="fi-FI" dirty="0">
                <a:sym typeface="Wingdings" panose="05000000000000000000" pitchFamily="2" charset="2"/>
              </a:rPr>
              <a:t> </a:t>
            </a:r>
            <a:r>
              <a:rPr lang="fi-FI" dirty="0" err="1"/>
              <a:t>Add</a:t>
            </a:r>
            <a:r>
              <a:rPr lang="fi-FI" dirty="0"/>
              <a:t> </a:t>
            </a:r>
            <a:r>
              <a:rPr lang="fi-FI" dirty="0">
                <a:sym typeface="Wingdings" panose="05000000000000000000" pitchFamily="2" charset="2"/>
              </a:rPr>
              <a:t> New Project...</a:t>
            </a:r>
          </a:p>
          <a:p>
            <a:r>
              <a:rPr lang="fi-FI" dirty="0">
                <a:sym typeface="Wingdings" panose="05000000000000000000" pitchFamily="2" charset="2"/>
              </a:rPr>
              <a:t>Kirjoita hakulaatikkoon test ja valitse MSTest Test Project</a:t>
            </a:r>
          </a:p>
          <a:p>
            <a:endParaRPr lang="fi-FI" dirty="0">
              <a:sym typeface="Wingdings" panose="05000000000000000000" pitchFamily="2" charset="2"/>
            </a:endParaRPr>
          </a:p>
          <a:p>
            <a:endParaRPr lang="fi-FI" dirty="0">
              <a:sym typeface="Wingdings" panose="05000000000000000000" pitchFamily="2" charset="2"/>
            </a:endParaRPr>
          </a:p>
          <a:p>
            <a:r>
              <a:rPr lang="fi-FI" dirty="0">
                <a:sym typeface="Wingdings" panose="05000000000000000000" pitchFamily="2" charset="2"/>
              </a:rPr>
              <a:t>Anna nimeksi Pankkitesti ja luo projekti</a:t>
            </a:r>
          </a:p>
          <a:p>
            <a:r>
              <a:rPr lang="fi-FI" dirty="0">
                <a:sym typeface="Wingdings" panose="05000000000000000000" pitchFamily="2" charset="2"/>
              </a:rPr>
              <a:t>Paina oikealla hiirellä Pankkitestin alla olevaa </a:t>
            </a:r>
            <a:r>
              <a:rPr lang="fi-FI" dirty="0" err="1">
                <a:sym typeface="Wingdings" panose="05000000000000000000" pitchFamily="2" charset="2"/>
              </a:rPr>
              <a:t>Dependencies</a:t>
            </a:r>
            <a:r>
              <a:rPr lang="fi-FI" dirty="0">
                <a:sym typeface="Wingdings" panose="05000000000000000000" pitchFamily="2" charset="2"/>
              </a:rPr>
              <a:t> ja </a:t>
            </a:r>
            <a:br>
              <a:rPr lang="fi-FI" dirty="0">
                <a:sym typeface="Wingdings" panose="05000000000000000000" pitchFamily="2" charset="2"/>
              </a:rPr>
            </a:br>
            <a:r>
              <a:rPr lang="fi-FI" dirty="0">
                <a:sym typeface="Wingdings" panose="05000000000000000000" pitchFamily="2" charset="2"/>
              </a:rPr>
              <a:t>valitse ”</a:t>
            </a:r>
            <a:r>
              <a:rPr lang="fi-FI" dirty="0" err="1">
                <a:sym typeface="Wingdings" panose="05000000000000000000" pitchFamily="2" charset="2"/>
              </a:rPr>
              <a:t>Add</a:t>
            </a:r>
            <a:r>
              <a:rPr lang="fi-FI" dirty="0">
                <a:sym typeface="Wingdings" panose="05000000000000000000" pitchFamily="2" charset="2"/>
              </a:rPr>
              <a:t> </a:t>
            </a:r>
            <a:r>
              <a:rPr lang="fi-FI" dirty="0" err="1">
                <a:sym typeface="Wingdings" panose="05000000000000000000" pitchFamily="2" charset="2"/>
              </a:rPr>
              <a:t>project</a:t>
            </a:r>
            <a:r>
              <a:rPr lang="fi-FI" dirty="0">
                <a:sym typeface="Wingdings" panose="05000000000000000000" pitchFamily="2" charset="2"/>
              </a:rPr>
              <a:t> </a:t>
            </a:r>
            <a:r>
              <a:rPr lang="fi-FI" dirty="0" err="1">
                <a:sym typeface="Wingdings" panose="05000000000000000000" pitchFamily="2" charset="2"/>
              </a:rPr>
              <a:t>Reference</a:t>
            </a:r>
            <a:r>
              <a:rPr lang="fi-FI" dirty="0">
                <a:sym typeface="Wingdings" panose="05000000000000000000" pitchFamily="2" charset="2"/>
              </a:rPr>
              <a:t>” ja valitse Pankki</a:t>
            </a:r>
          </a:p>
          <a:p>
            <a:endParaRPr lang="fi-FI" dirty="0"/>
          </a:p>
        </p:txBody>
      </p:sp>
      <p:pic>
        <p:nvPicPr>
          <p:cNvPr id="8" name="Kuva 7">
            <a:extLst>
              <a:ext uri="{FF2B5EF4-FFF2-40B4-BE49-F238E27FC236}">
                <a16:creationId xmlns:a16="http://schemas.microsoft.com/office/drawing/2014/main" id="{204A1582-1D11-0E4D-9FCB-06864D169E86}"/>
              </a:ext>
            </a:extLst>
          </p:cNvPr>
          <p:cNvPicPr>
            <a:picLocks noChangeAspect="1"/>
          </p:cNvPicPr>
          <p:nvPr/>
        </p:nvPicPr>
        <p:blipFill>
          <a:blip r:embed="rId2"/>
          <a:stretch>
            <a:fillRect/>
          </a:stretch>
        </p:blipFill>
        <p:spPr>
          <a:xfrm>
            <a:off x="1227482" y="1379280"/>
            <a:ext cx="6172200" cy="1524000"/>
          </a:xfrm>
          <a:prstGeom prst="rect">
            <a:avLst/>
          </a:prstGeom>
        </p:spPr>
      </p:pic>
      <p:pic>
        <p:nvPicPr>
          <p:cNvPr id="6" name="Picture 5">
            <a:extLst>
              <a:ext uri="{FF2B5EF4-FFF2-40B4-BE49-F238E27FC236}">
                <a16:creationId xmlns:a16="http://schemas.microsoft.com/office/drawing/2014/main" id="{0DF5CE42-EA3D-6AC0-8532-0A26E7F9141E}"/>
              </a:ext>
            </a:extLst>
          </p:cNvPr>
          <p:cNvPicPr>
            <a:picLocks noChangeAspect="1"/>
          </p:cNvPicPr>
          <p:nvPr/>
        </p:nvPicPr>
        <p:blipFill>
          <a:blip r:embed="rId3"/>
          <a:stretch>
            <a:fillRect/>
          </a:stretch>
        </p:blipFill>
        <p:spPr>
          <a:xfrm>
            <a:off x="1227482" y="3846338"/>
            <a:ext cx="4514850" cy="809625"/>
          </a:xfrm>
          <a:prstGeom prst="rect">
            <a:avLst/>
          </a:prstGeom>
        </p:spPr>
      </p:pic>
      <p:pic>
        <p:nvPicPr>
          <p:cNvPr id="5" name="Kuva 4">
            <a:extLst>
              <a:ext uri="{FF2B5EF4-FFF2-40B4-BE49-F238E27FC236}">
                <a16:creationId xmlns:a16="http://schemas.microsoft.com/office/drawing/2014/main" id="{0D8511D5-7DBA-A0BA-D602-7196E2B9A973}"/>
              </a:ext>
            </a:extLst>
          </p:cNvPr>
          <p:cNvPicPr>
            <a:picLocks noChangeAspect="1"/>
          </p:cNvPicPr>
          <p:nvPr/>
        </p:nvPicPr>
        <p:blipFill>
          <a:blip r:embed="rId4"/>
          <a:stretch>
            <a:fillRect/>
          </a:stretch>
        </p:blipFill>
        <p:spPr>
          <a:xfrm>
            <a:off x="6937115" y="4954772"/>
            <a:ext cx="1333686" cy="523948"/>
          </a:xfrm>
          <a:prstGeom prst="rect">
            <a:avLst/>
          </a:prstGeom>
        </p:spPr>
      </p:pic>
    </p:spTree>
    <p:extLst>
      <p:ext uri="{BB962C8B-B14F-4D97-AF65-F5344CB8AC3E}">
        <p14:creationId xmlns:p14="http://schemas.microsoft.com/office/powerpoint/2010/main" val="3637370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D403F37-8413-FF4D-8EB1-6A34545018E1}"/>
              </a:ext>
            </a:extLst>
          </p:cNvPr>
          <p:cNvSpPr>
            <a:spLocks noGrp="1"/>
          </p:cNvSpPr>
          <p:nvPr>
            <p:ph type="title"/>
          </p:nvPr>
        </p:nvSpPr>
        <p:spPr>
          <a:xfrm>
            <a:off x="2941982" y="129863"/>
            <a:ext cx="5913605" cy="807074"/>
          </a:xfrm>
        </p:spPr>
        <p:txBody>
          <a:bodyPr/>
          <a:lstStyle/>
          <a:p>
            <a:r>
              <a:rPr lang="fi-FI" dirty="0"/>
              <a:t>TESTAUS</a:t>
            </a:r>
          </a:p>
        </p:txBody>
      </p:sp>
      <p:sp>
        <p:nvSpPr>
          <p:cNvPr id="3" name="Sisällön paikkamerkki 2">
            <a:extLst>
              <a:ext uri="{FF2B5EF4-FFF2-40B4-BE49-F238E27FC236}">
                <a16:creationId xmlns:a16="http://schemas.microsoft.com/office/drawing/2014/main" id="{46CFCEDE-BFF2-B24E-858E-42E99432E5F9}"/>
              </a:ext>
            </a:extLst>
          </p:cNvPr>
          <p:cNvSpPr>
            <a:spLocks noGrp="1"/>
          </p:cNvSpPr>
          <p:nvPr>
            <p:ph sz="quarter" idx="12"/>
          </p:nvPr>
        </p:nvSpPr>
        <p:spPr/>
        <p:txBody>
          <a:bodyPr/>
          <a:lstStyle/>
          <a:p>
            <a:r>
              <a:rPr lang="fi-FI" dirty="0">
                <a:sym typeface="Wingdings" pitchFamily="2" charset="2"/>
              </a:rPr>
              <a:t>Valitse ikkunasta </a:t>
            </a:r>
            <a:r>
              <a:rPr lang="fi-FI" dirty="0" err="1">
                <a:sym typeface="Wingdings" pitchFamily="2" charset="2"/>
              </a:rPr>
              <a:t>Browse</a:t>
            </a:r>
            <a:r>
              <a:rPr lang="fi-FI" dirty="0">
                <a:sym typeface="Wingdings" pitchFamily="2" charset="2"/>
              </a:rPr>
              <a:t> ja alhaalta </a:t>
            </a:r>
            <a:r>
              <a:rPr lang="fi-FI" dirty="0" err="1">
                <a:sym typeface="Wingdings" pitchFamily="2" charset="2"/>
              </a:rPr>
              <a:t>Browse</a:t>
            </a:r>
            <a:r>
              <a:rPr lang="fi-FI" dirty="0">
                <a:sym typeface="Wingdings" pitchFamily="2" charset="2"/>
              </a:rPr>
              <a:t> ja etsi, mihin</a:t>
            </a:r>
            <a:br>
              <a:rPr lang="fi-FI" dirty="0">
                <a:sym typeface="Wingdings" pitchFamily="2" charset="2"/>
              </a:rPr>
            </a:br>
            <a:r>
              <a:rPr lang="fi-FI" dirty="0">
                <a:sym typeface="Wingdings" pitchFamily="2" charset="2"/>
              </a:rPr>
              <a:t>tallensit Pankkisovelluksesi ja sieltä Pankki  bin  </a:t>
            </a:r>
            <a:r>
              <a:rPr lang="fi-FI" dirty="0" err="1">
                <a:sym typeface="Wingdings" pitchFamily="2" charset="2"/>
              </a:rPr>
              <a:t>debug</a:t>
            </a:r>
            <a:br>
              <a:rPr lang="fi-FI" dirty="0">
                <a:sym typeface="Wingdings" pitchFamily="2" charset="2"/>
              </a:rPr>
            </a:br>
            <a:r>
              <a:rPr lang="fi-FI" dirty="0">
                <a:sym typeface="Wingdings" pitchFamily="2" charset="2"/>
              </a:rPr>
              <a:t> net6.0 ja valitse sieltä Pankkisovelluksen kirjasto</a:t>
            </a:r>
            <a:endParaRPr lang="fi-FI" dirty="0"/>
          </a:p>
          <a:p>
            <a:endParaRPr lang="fi-FI" dirty="0"/>
          </a:p>
        </p:txBody>
      </p:sp>
      <p:pic>
        <p:nvPicPr>
          <p:cNvPr id="6" name="Kuva 5">
            <a:extLst>
              <a:ext uri="{FF2B5EF4-FFF2-40B4-BE49-F238E27FC236}">
                <a16:creationId xmlns:a16="http://schemas.microsoft.com/office/drawing/2014/main" id="{3AC1701A-04FC-D84A-BA68-5D23EC094409}"/>
              </a:ext>
            </a:extLst>
          </p:cNvPr>
          <p:cNvPicPr>
            <a:picLocks noChangeAspect="1"/>
          </p:cNvPicPr>
          <p:nvPr/>
        </p:nvPicPr>
        <p:blipFill>
          <a:blip r:embed="rId2"/>
          <a:stretch>
            <a:fillRect/>
          </a:stretch>
        </p:blipFill>
        <p:spPr>
          <a:xfrm>
            <a:off x="1092200" y="2515980"/>
            <a:ext cx="8051800" cy="2044700"/>
          </a:xfrm>
          <a:prstGeom prst="rect">
            <a:avLst/>
          </a:prstGeom>
        </p:spPr>
      </p:pic>
      <p:sp>
        <p:nvSpPr>
          <p:cNvPr id="9" name="Nuoli vasemmalle 8">
            <a:extLst>
              <a:ext uri="{FF2B5EF4-FFF2-40B4-BE49-F238E27FC236}">
                <a16:creationId xmlns:a16="http://schemas.microsoft.com/office/drawing/2014/main" id="{1C65158A-7A8F-6C46-86B6-D106774E8FDC}"/>
              </a:ext>
            </a:extLst>
          </p:cNvPr>
          <p:cNvSpPr/>
          <p:nvPr/>
        </p:nvSpPr>
        <p:spPr>
          <a:xfrm>
            <a:off x="2564296" y="4005470"/>
            <a:ext cx="1719469" cy="208657"/>
          </a:xfrm>
          <a:prstGeom prst="lef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i-FI"/>
          </a:p>
        </p:txBody>
      </p:sp>
      <p:pic>
        <p:nvPicPr>
          <p:cNvPr id="10" name="Kuva 9">
            <a:extLst>
              <a:ext uri="{FF2B5EF4-FFF2-40B4-BE49-F238E27FC236}">
                <a16:creationId xmlns:a16="http://schemas.microsoft.com/office/drawing/2014/main" id="{815977B0-A6FA-944B-95F5-608384E595CD}"/>
              </a:ext>
            </a:extLst>
          </p:cNvPr>
          <p:cNvPicPr>
            <a:picLocks noChangeAspect="1"/>
          </p:cNvPicPr>
          <p:nvPr/>
        </p:nvPicPr>
        <p:blipFill>
          <a:blip r:embed="rId3"/>
          <a:stretch>
            <a:fillRect/>
          </a:stretch>
        </p:blipFill>
        <p:spPr>
          <a:xfrm>
            <a:off x="1092200" y="4844308"/>
            <a:ext cx="3314700" cy="1600200"/>
          </a:xfrm>
          <a:prstGeom prst="rect">
            <a:avLst/>
          </a:prstGeom>
        </p:spPr>
      </p:pic>
    </p:spTree>
    <p:extLst>
      <p:ext uri="{BB962C8B-B14F-4D97-AF65-F5344CB8AC3E}">
        <p14:creationId xmlns:p14="http://schemas.microsoft.com/office/powerpoint/2010/main" val="338657589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D403F37-8413-FF4D-8EB1-6A34545018E1}"/>
              </a:ext>
            </a:extLst>
          </p:cNvPr>
          <p:cNvSpPr>
            <a:spLocks noGrp="1"/>
          </p:cNvSpPr>
          <p:nvPr>
            <p:ph type="title"/>
          </p:nvPr>
        </p:nvSpPr>
        <p:spPr>
          <a:xfrm>
            <a:off x="2941982" y="129863"/>
            <a:ext cx="5913605" cy="807074"/>
          </a:xfrm>
        </p:spPr>
        <p:txBody>
          <a:bodyPr/>
          <a:lstStyle/>
          <a:p>
            <a:r>
              <a:rPr lang="fi-FI" dirty="0"/>
              <a:t>TESTAUS</a:t>
            </a:r>
          </a:p>
        </p:txBody>
      </p:sp>
      <p:sp>
        <p:nvSpPr>
          <p:cNvPr id="3" name="Sisällön paikkamerkki 2">
            <a:extLst>
              <a:ext uri="{FF2B5EF4-FFF2-40B4-BE49-F238E27FC236}">
                <a16:creationId xmlns:a16="http://schemas.microsoft.com/office/drawing/2014/main" id="{46CFCEDE-BFF2-B24E-858E-42E99432E5F9}"/>
              </a:ext>
            </a:extLst>
          </p:cNvPr>
          <p:cNvSpPr>
            <a:spLocks noGrp="1"/>
          </p:cNvSpPr>
          <p:nvPr>
            <p:ph sz="quarter" idx="12"/>
          </p:nvPr>
        </p:nvSpPr>
        <p:spPr/>
        <p:txBody>
          <a:bodyPr/>
          <a:lstStyle/>
          <a:p>
            <a:r>
              <a:rPr lang="fi-FI" dirty="0">
                <a:sym typeface="Wingdings" pitchFamily="2" charset="2"/>
              </a:rPr>
              <a:t>Vaihdetaan UnitTest1 hieman kuvaavampaan nimeen </a:t>
            </a:r>
            <a:r>
              <a:rPr lang="fi-FI" dirty="0" err="1">
                <a:sym typeface="Wingdings" pitchFamily="2" charset="2"/>
              </a:rPr>
              <a:t>PankkitiliTesti</a:t>
            </a:r>
            <a:r>
              <a:rPr lang="fi-FI" dirty="0">
                <a:sym typeface="Wingdings" pitchFamily="2" charset="2"/>
              </a:rPr>
              <a:t> menemällä </a:t>
            </a:r>
            <a:r>
              <a:rPr lang="fi-FI" dirty="0" err="1">
                <a:sym typeface="Wingdings" pitchFamily="2" charset="2"/>
              </a:rPr>
              <a:t>Solution</a:t>
            </a:r>
            <a:r>
              <a:rPr lang="fi-FI" dirty="0">
                <a:sym typeface="Wingdings" pitchFamily="2" charset="2"/>
              </a:rPr>
              <a:t> Exploreriin UnitTest1 päälle, painamalla sitä hiiren oikeanpuoleisella näppäimellä ja valitsemalla </a:t>
            </a:r>
            <a:r>
              <a:rPr lang="fi-FI" dirty="0" err="1">
                <a:sym typeface="Wingdings" pitchFamily="2" charset="2"/>
              </a:rPr>
              <a:t>Rename</a:t>
            </a:r>
            <a:r>
              <a:rPr lang="fi-FI" dirty="0">
                <a:sym typeface="Wingdings" pitchFamily="2" charset="2"/>
              </a:rPr>
              <a:t> ja vastaamalla </a:t>
            </a:r>
            <a:r>
              <a:rPr lang="fi-FI" dirty="0" err="1">
                <a:sym typeface="Wingdings" pitchFamily="2" charset="2"/>
              </a:rPr>
              <a:t>Yes</a:t>
            </a:r>
            <a:r>
              <a:rPr lang="fi-FI" dirty="0">
                <a:sym typeface="Wingdings" pitchFamily="2" charset="2"/>
              </a:rPr>
              <a:t>.</a:t>
            </a:r>
          </a:p>
          <a:p>
            <a:r>
              <a:rPr lang="fi-FI" dirty="0">
                <a:sym typeface="Wingdings" pitchFamily="2" charset="2"/>
              </a:rPr>
              <a:t>Otetaan käyttöön Pankki </a:t>
            </a:r>
            <a:r>
              <a:rPr lang="fi-FI" dirty="0" err="1">
                <a:sym typeface="Wingdings" pitchFamily="2" charset="2"/>
              </a:rPr>
              <a:t>namespace</a:t>
            </a:r>
            <a:r>
              <a:rPr lang="fi-FI" dirty="0">
                <a:sym typeface="Wingdings" pitchFamily="2" charset="2"/>
              </a:rPr>
              <a:t> laittamalla ylös </a:t>
            </a:r>
            <a:r>
              <a:rPr lang="fi-FI" dirty="0" err="1">
                <a:sym typeface="Wingdings" pitchFamily="2" charset="2"/>
              </a:rPr>
              <a:t>using</a:t>
            </a:r>
            <a:r>
              <a:rPr lang="fi-FI" dirty="0">
                <a:sym typeface="Wingdings" pitchFamily="2" charset="2"/>
              </a:rPr>
              <a:t> Pankki;</a:t>
            </a:r>
          </a:p>
          <a:p>
            <a:r>
              <a:rPr lang="fi-FI" dirty="0">
                <a:sym typeface="Wingdings" pitchFamily="2" charset="2"/>
              </a:rPr>
              <a:t>Huomaa, että pakollisia osia ovat</a:t>
            </a:r>
          </a:p>
          <a:p>
            <a:pPr lvl="1"/>
            <a:r>
              <a:rPr lang="fi-FI" dirty="0" err="1">
                <a:sym typeface="Wingdings" pitchFamily="2" charset="2"/>
              </a:rPr>
              <a:t>TestClass</a:t>
            </a:r>
            <a:r>
              <a:rPr lang="fi-FI" dirty="0">
                <a:sym typeface="Wingdings" pitchFamily="2" charset="2"/>
              </a:rPr>
              <a:t> attribuutti, joka sisältää </a:t>
            </a:r>
            <a:r>
              <a:rPr lang="fi-FI" dirty="0" err="1">
                <a:sym typeface="Wingdings" pitchFamily="2" charset="2"/>
              </a:rPr>
              <a:t>unit</a:t>
            </a:r>
            <a:r>
              <a:rPr lang="fi-FI" dirty="0">
                <a:sym typeface="Wingdings" pitchFamily="2" charset="2"/>
              </a:rPr>
              <a:t> testauksen metodit</a:t>
            </a:r>
          </a:p>
          <a:p>
            <a:pPr lvl="1"/>
            <a:r>
              <a:rPr lang="fi-FI" dirty="0" err="1">
                <a:sym typeface="Wingdings" pitchFamily="2" charset="2"/>
              </a:rPr>
              <a:t>TestMethod</a:t>
            </a:r>
            <a:r>
              <a:rPr lang="fi-FI" dirty="0">
                <a:sym typeface="Wingdings" pitchFamily="2" charset="2"/>
              </a:rPr>
              <a:t> attribuutti, jossa kerromme kuinka pitää toimia</a:t>
            </a:r>
          </a:p>
          <a:p>
            <a:endParaRPr lang="fi-FI" dirty="0"/>
          </a:p>
          <a:p>
            <a:endParaRPr lang="fi-FI" dirty="0"/>
          </a:p>
        </p:txBody>
      </p:sp>
      <p:pic>
        <p:nvPicPr>
          <p:cNvPr id="4" name="Kuva 3">
            <a:extLst>
              <a:ext uri="{FF2B5EF4-FFF2-40B4-BE49-F238E27FC236}">
                <a16:creationId xmlns:a16="http://schemas.microsoft.com/office/drawing/2014/main" id="{F4123F6A-6766-5C4F-895F-ABA2BEF720A7}"/>
              </a:ext>
            </a:extLst>
          </p:cNvPr>
          <p:cNvPicPr>
            <a:picLocks noChangeAspect="1"/>
          </p:cNvPicPr>
          <p:nvPr/>
        </p:nvPicPr>
        <p:blipFill>
          <a:blip r:embed="rId2"/>
          <a:stretch>
            <a:fillRect/>
          </a:stretch>
        </p:blipFill>
        <p:spPr>
          <a:xfrm>
            <a:off x="7345018" y="2414381"/>
            <a:ext cx="1371600" cy="419100"/>
          </a:xfrm>
          <a:prstGeom prst="rect">
            <a:avLst/>
          </a:prstGeom>
        </p:spPr>
      </p:pic>
      <p:pic>
        <p:nvPicPr>
          <p:cNvPr id="6" name="Picture 5">
            <a:extLst>
              <a:ext uri="{FF2B5EF4-FFF2-40B4-BE49-F238E27FC236}">
                <a16:creationId xmlns:a16="http://schemas.microsoft.com/office/drawing/2014/main" id="{F021CA9A-1A56-27F1-E5DB-AF36E2C2651C}"/>
              </a:ext>
            </a:extLst>
          </p:cNvPr>
          <p:cNvPicPr>
            <a:picLocks noChangeAspect="1"/>
          </p:cNvPicPr>
          <p:nvPr/>
        </p:nvPicPr>
        <p:blipFill>
          <a:blip r:embed="rId3"/>
          <a:stretch>
            <a:fillRect/>
          </a:stretch>
        </p:blipFill>
        <p:spPr>
          <a:xfrm>
            <a:off x="5524500" y="3852957"/>
            <a:ext cx="3619500" cy="2609850"/>
          </a:xfrm>
          <a:prstGeom prst="rect">
            <a:avLst/>
          </a:prstGeom>
        </p:spPr>
      </p:pic>
    </p:spTree>
    <p:extLst>
      <p:ext uri="{BB962C8B-B14F-4D97-AF65-F5344CB8AC3E}">
        <p14:creationId xmlns:p14="http://schemas.microsoft.com/office/powerpoint/2010/main" val="256399591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D403F37-8413-FF4D-8EB1-6A34545018E1}"/>
              </a:ext>
            </a:extLst>
          </p:cNvPr>
          <p:cNvSpPr>
            <a:spLocks noGrp="1"/>
          </p:cNvSpPr>
          <p:nvPr>
            <p:ph type="title"/>
          </p:nvPr>
        </p:nvSpPr>
        <p:spPr>
          <a:xfrm>
            <a:off x="2941982" y="129863"/>
            <a:ext cx="5913605" cy="807074"/>
          </a:xfrm>
        </p:spPr>
        <p:txBody>
          <a:bodyPr/>
          <a:lstStyle/>
          <a:p>
            <a:r>
              <a:rPr lang="fi-FI" dirty="0"/>
              <a:t>TESTAUS</a:t>
            </a:r>
          </a:p>
        </p:txBody>
      </p:sp>
      <p:sp>
        <p:nvSpPr>
          <p:cNvPr id="3" name="Sisällön paikkamerkki 2">
            <a:extLst>
              <a:ext uri="{FF2B5EF4-FFF2-40B4-BE49-F238E27FC236}">
                <a16:creationId xmlns:a16="http://schemas.microsoft.com/office/drawing/2014/main" id="{46CFCEDE-BFF2-B24E-858E-42E99432E5F9}"/>
              </a:ext>
            </a:extLst>
          </p:cNvPr>
          <p:cNvSpPr>
            <a:spLocks noGrp="1"/>
          </p:cNvSpPr>
          <p:nvPr>
            <p:ph sz="quarter" idx="12"/>
          </p:nvPr>
        </p:nvSpPr>
        <p:spPr/>
        <p:txBody>
          <a:bodyPr/>
          <a:lstStyle/>
          <a:p>
            <a:r>
              <a:rPr lang="fi-FI" dirty="0">
                <a:sym typeface="Wingdings" pitchFamily="2" charset="2"/>
              </a:rPr>
              <a:t>Luodaan testi nimeltä </a:t>
            </a:r>
            <a:r>
              <a:rPr lang="fi-FI" dirty="0" err="1">
                <a:sym typeface="Wingdings" pitchFamily="2" charset="2"/>
              </a:rPr>
              <a:t>Otto_OikealleSummalla_PaivitaSaldo</a:t>
            </a:r>
            <a:r>
              <a:rPr lang="fi-FI" dirty="0">
                <a:sym typeface="Wingdings" pitchFamily="2" charset="2"/>
              </a:rPr>
              <a:t>()</a:t>
            </a:r>
          </a:p>
          <a:p>
            <a:endParaRPr lang="fi-FI" dirty="0"/>
          </a:p>
          <a:p>
            <a:endParaRPr lang="fi-FI" dirty="0"/>
          </a:p>
        </p:txBody>
      </p:sp>
      <p:pic>
        <p:nvPicPr>
          <p:cNvPr id="5" name="Kuva 4">
            <a:extLst>
              <a:ext uri="{FF2B5EF4-FFF2-40B4-BE49-F238E27FC236}">
                <a16:creationId xmlns:a16="http://schemas.microsoft.com/office/drawing/2014/main" id="{719527EB-27E9-6A4B-8D4B-EAB70A9FAE28}"/>
              </a:ext>
            </a:extLst>
          </p:cNvPr>
          <p:cNvPicPr>
            <a:picLocks noChangeAspect="1"/>
          </p:cNvPicPr>
          <p:nvPr/>
        </p:nvPicPr>
        <p:blipFill>
          <a:blip r:embed="rId2"/>
          <a:stretch>
            <a:fillRect/>
          </a:stretch>
        </p:blipFill>
        <p:spPr>
          <a:xfrm>
            <a:off x="910909" y="2118627"/>
            <a:ext cx="8153400" cy="4191000"/>
          </a:xfrm>
          <a:prstGeom prst="rect">
            <a:avLst/>
          </a:prstGeom>
        </p:spPr>
      </p:pic>
    </p:spTree>
    <p:extLst>
      <p:ext uri="{BB962C8B-B14F-4D97-AF65-F5344CB8AC3E}">
        <p14:creationId xmlns:p14="http://schemas.microsoft.com/office/powerpoint/2010/main" val="383159310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D403F37-8413-FF4D-8EB1-6A34545018E1}"/>
              </a:ext>
            </a:extLst>
          </p:cNvPr>
          <p:cNvSpPr>
            <a:spLocks noGrp="1"/>
          </p:cNvSpPr>
          <p:nvPr>
            <p:ph type="title"/>
          </p:nvPr>
        </p:nvSpPr>
        <p:spPr>
          <a:xfrm>
            <a:off x="2941982" y="129863"/>
            <a:ext cx="5913605" cy="807074"/>
          </a:xfrm>
        </p:spPr>
        <p:txBody>
          <a:bodyPr/>
          <a:lstStyle/>
          <a:p>
            <a:r>
              <a:rPr lang="fi-FI" dirty="0"/>
              <a:t>TESTAUS</a:t>
            </a:r>
          </a:p>
        </p:txBody>
      </p:sp>
      <p:sp>
        <p:nvSpPr>
          <p:cNvPr id="3" name="Sisällön paikkamerkki 2">
            <a:extLst>
              <a:ext uri="{FF2B5EF4-FFF2-40B4-BE49-F238E27FC236}">
                <a16:creationId xmlns:a16="http://schemas.microsoft.com/office/drawing/2014/main" id="{46CFCEDE-BFF2-B24E-858E-42E99432E5F9}"/>
              </a:ext>
            </a:extLst>
          </p:cNvPr>
          <p:cNvSpPr>
            <a:spLocks noGrp="1"/>
          </p:cNvSpPr>
          <p:nvPr>
            <p:ph sz="quarter" idx="12"/>
          </p:nvPr>
        </p:nvSpPr>
        <p:spPr/>
        <p:txBody>
          <a:bodyPr/>
          <a:lstStyle/>
          <a:p>
            <a:r>
              <a:rPr lang="fi-FI" dirty="0">
                <a:sym typeface="Wingdings" pitchFamily="2" charset="2"/>
              </a:rPr>
              <a:t>Tämän jälkeen voit avata Testausikkunan joko Test  Run All Test tai pikanäppäimellä Ctrl + R, A ja ajaa testin, jolloin saat seuraavanlaiset ilmoituksen:</a:t>
            </a:r>
          </a:p>
          <a:p>
            <a:endParaRPr lang="fi-FI" dirty="0">
              <a:sym typeface="Wingdings" pitchFamily="2" charset="2"/>
            </a:endParaRPr>
          </a:p>
          <a:p>
            <a:endParaRPr lang="fi-FI" dirty="0">
              <a:sym typeface="Wingdings" pitchFamily="2" charset="2"/>
            </a:endParaRPr>
          </a:p>
          <a:p>
            <a:endParaRPr lang="fi-FI" dirty="0">
              <a:sym typeface="Wingdings" pitchFamily="2" charset="2"/>
            </a:endParaRPr>
          </a:p>
          <a:p>
            <a:endParaRPr lang="fi-FI" dirty="0">
              <a:sym typeface="Wingdings" pitchFamily="2" charset="2"/>
            </a:endParaRPr>
          </a:p>
          <a:p>
            <a:r>
              <a:rPr lang="fi-FI" dirty="0">
                <a:sym typeface="Wingdings" pitchFamily="2" charset="2"/>
              </a:rPr>
              <a:t>Tämähän johtui siitä, että meillä oli virheellinen koodi Pankkitililuokassa</a:t>
            </a:r>
          </a:p>
          <a:p>
            <a:endParaRPr lang="fi-FI" dirty="0">
              <a:sym typeface="Wingdings" pitchFamily="2" charset="2"/>
            </a:endParaRPr>
          </a:p>
          <a:p>
            <a:r>
              <a:rPr lang="fi-FI" dirty="0">
                <a:sym typeface="Wingdings" pitchFamily="2" charset="2"/>
              </a:rPr>
              <a:t>Pitäisi olla erotus, käy korjaamassa ja </a:t>
            </a:r>
            <a:r>
              <a:rPr lang="fi-FI" dirty="0">
                <a:solidFill>
                  <a:srgbClr val="FF0000"/>
                </a:solidFill>
                <a:sym typeface="Wingdings" pitchFamily="2" charset="2"/>
              </a:rPr>
              <a:t>käännä se kertaalleen</a:t>
            </a:r>
            <a:br>
              <a:rPr lang="fi-FI" dirty="0">
                <a:sym typeface="Wingdings" pitchFamily="2" charset="2"/>
              </a:rPr>
            </a:br>
            <a:r>
              <a:rPr lang="fi-FI" dirty="0">
                <a:sym typeface="Wingdings" pitchFamily="2" charset="2"/>
              </a:rPr>
              <a:t>ja aja testi uudelleen</a:t>
            </a:r>
          </a:p>
          <a:p>
            <a:endParaRPr lang="fi-FI" dirty="0">
              <a:sym typeface="Wingdings" pitchFamily="2" charset="2"/>
            </a:endParaRPr>
          </a:p>
          <a:p>
            <a:endParaRPr lang="fi-FI" dirty="0"/>
          </a:p>
          <a:p>
            <a:endParaRPr lang="fi-FI" dirty="0"/>
          </a:p>
        </p:txBody>
      </p:sp>
      <p:pic>
        <p:nvPicPr>
          <p:cNvPr id="7" name="Kuva 6">
            <a:extLst>
              <a:ext uri="{FF2B5EF4-FFF2-40B4-BE49-F238E27FC236}">
                <a16:creationId xmlns:a16="http://schemas.microsoft.com/office/drawing/2014/main" id="{FCA1245C-77C3-7546-B134-81C340CB0E14}"/>
              </a:ext>
            </a:extLst>
          </p:cNvPr>
          <p:cNvPicPr>
            <a:picLocks noChangeAspect="1"/>
          </p:cNvPicPr>
          <p:nvPr/>
        </p:nvPicPr>
        <p:blipFill>
          <a:blip r:embed="rId2"/>
          <a:stretch>
            <a:fillRect/>
          </a:stretch>
        </p:blipFill>
        <p:spPr>
          <a:xfrm>
            <a:off x="1204291" y="3922023"/>
            <a:ext cx="6032500" cy="381000"/>
          </a:xfrm>
          <a:prstGeom prst="rect">
            <a:avLst/>
          </a:prstGeom>
        </p:spPr>
      </p:pic>
      <p:pic>
        <p:nvPicPr>
          <p:cNvPr id="9" name="Picture 8">
            <a:extLst>
              <a:ext uri="{FF2B5EF4-FFF2-40B4-BE49-F238E27FC236}">
                <a16:creationId xmlns:a16="http://schemas.microsoft.com/office/drawing/2014/main" id="{3240FEDB-5BC4-4509-D816-BEF48B1F0C88}"/>
              </a:ext>
            </a:extLst>
          </p:cNvPr>
          <p:cNvPicPr>
            <a:picLocks noChangeAspect="1"/>
          </p:cNvPicPr>
          <p:nvPr/>
        </p:nvPicPr>
        <p:blipFill>
          <a:blip r:embed="rId3"/>
          <a:stretch>
            <a:fillRect/>
          </a:stretch>
        </p:blipFill>
        <p:spPr>
          <a:xfrm>
            <a:off x="1204291" y="2330167"/>
            <a:ext cx="7324725" cy="1019175"/>
          </a:xfrm>
          <a:prstGeom prst="rect">
            <a:avLst/>
          </a:prstGeom>
        </p:spPr>
      </p:pic>
      <p:pic>
        <p:nvPicPr>
          <p:cNvPr id="11" name="Picture 10">
            <a:extLst>
              <a:ext uri="{FF2B5EF4-FFF2-40B4-BE49-F238E27FC236}">
                <a16:creationId xmlns:a16="http://schemas.microsoft.com/office/drawing/2014/main" id="{90FE042C-7441-968F-D45B-095B5B1BDAF9}"/>
              </a:ext>
            </a:extLst>
          </p:cNvPr>
          <p:cNvPicPr>
            <a:picLocks noChangeAspect="1"/>
          </p:cNvPicPr>
          <p:nvPr/>
        </p:nvPicPr>
        <p:blipFill>
          <a:blip r:embed="rId4"/>
          <a:stretch>
            <a:fillRect/>
          </a:stretch>
        </p:blipFill>
        <p:spPr>
          <a:xfrm>
            <a:off x="1204291" y="4875704"/>
            <a:ext cx="4807004" cy="1515048"/>
          </a:xfrm>
          <a:prstGeom prst="rect">
            <a:avLst/>
          </a:prstGeom>
        </p:spPr>
      </p:pic>
    </p:spTree>
    <p:extLst>
      <p:ext uri="{BB962C8B-B14F-4D97-AF65-F5344CB8AC3E}">
        <p14:creationId xmlns:p14="http://schemas.microsoft.com/office/powerpoint/2010/main" val="1470744178"/>
      </p:ext>
    </p:extLst>
  </p:cSld>
  <p:clrMapOvr>
    <a:masterClrMapping/>
  </p:clrMapOvr>
</p:sld>
</file>

<file path=ppt/theme/theme1.xml><?xml version="1.0" encoding="utf-8"?>
<a:theme xmlns:a="http://schemas.openxmlformats.org/drawingml/2006/main" name="Keuda">
  <a:themeElements>
    <a:clrScheme name="KEUDA">
      <a:dk1>
        <a:srgbClr val="000000"/>
      </a:dk1>
      <a:lt1>
        <a:sysClr val="window" lastClr="FFFFFF"/>
      </a:lt1>
      <a:dk2>
        <a:srgbClr val="000000"/>
      </a:dk2>
      <a:lt2>
        <a:srgbClr val="DAD9D4"/>
      </a:lt2>
      <a:accent1>
        <a:srgbClr val="3AAA35"/>
      </a:accent1>
      <a:accent2>
        <a:srgbClr val="BCCF00"/>
      </a:accent2>
      <a:accent3>
        <a:srgbClr val="C9338B"/>
      </a:accent3>
      <a:accent4>
        <a:srgbClr val="0074D8"/>
      </a:accent4>
      <a:accent5>
        <a:srgbClr val="623D91"/>
      </a:accent5>
      <a:accent6>
        <a:srgbClr val="000000"/>
      </a:accent6>
      <a:hlink>
        <a:srgbClr val="3AAA35"/>
      </a:hlink>
      <a:folHlink>
        <a:srgbClr val="BCCF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1-tason ohjelmointi" id="{D247AF2F-6936-F547-93D0-98131A15B1DC}" vid="{FE224B68-A055-1344-A89F-FE1A3F1A447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Asiakirja" ma:contentTypeID="0x010100F531312B7327114EB8C6A781B61668F8" ma:contentTypeVersion="13" ma:contentTypeDescription="Luo uusi asiakirja." ma:contentTypeScope="" ma:versionID="160cf9f1a0764e32543ee535e7019f2e">
  <xsd:schema xmlns:xsd="http://www.w3.org/2001/XMLSchema" xmlns:xs="http://www.w3.org/2001/XMLSchema" xmlns:p="http://schemas.microsoft.com/office/2006/metadata/properties" xmlns:ns3="bef9a14e-6b3a-4af1-813a-eac9023b19ca" xmlns:ns4="d60cdafe-3c14-470c-9774-fed17032e9b6" targetNamespace="http://schemas.microsoft.com/office/2006/metadata/properties" ma:root="true" ma:fieldsID="93873177101ee229c29b07e8d73cfea5" ns3:_="" ns4:_="">
    <xsd:import namespace="bef9a14e-6b3a-4af1-813a-eac9023b19ca"/>
    <xsd:import namespace="d60cdafe-3c14-470c-9774-fed17032e9b6"/>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DateTaken" minOccurs="0"/>
                <xsd:element ref="ns3:MediaServiceLocatio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f9a14e-6b3a-4af1-813a-eac9023b19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60cdafe-3c14-470c-9774-fed17032e9b6" elementFormDefault="qualified">
    <xsd:import namespace="http://schemas.microsoft.com/office/2006/documentManagement/types"/>
    <xsd:import namespace="http://schemas.microsoft.com/office/infopath/2007/PartnerControls"/>
    <xsd:element name="SharedWithUsers" ma:index="14" nillable="true" ma:displayName="Jaettu"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Jakamisen tiedot" ma:internalName="SharedWithDetails" ma:readOnly="true">
      <xsd:simpleType>
        <xsd:restriction base="dms:Note">
          <xsd:maxLength value="255"/>
        </xsd:restriction>
      </xsd:simpleType>
    </xsd:element>
    <xsd:element name="SharingHintHash" ma:index="16" nillable="true" ma:displayName="Jakamisvihjeen hajautus"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Sisältölaji"/>
        <xsd:element ref="dc:title" minOccurs="0" maxOccurs="1" ma:index="4" ma:displayName="Otsikk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d60cdafe-3c14-470c-9774-fed17032e9b6">
      <UserInfo>
        <DisplayName>Tiina Myrsky</DisplayName>
        <AccountId>395</AccountId>
        <AccountType/>
      </UserInfo>
      <UserInfo>
        <DisplayName>Sirpa Laiho</DisplayName>
        <AccountId>953</AccountId>
        <AccountType/>
      </UserInfo>
    </SharedWithUsers>
  </documentManagement>
</p:properties>
</file>

<file path=customXml/itemProps1.xml><?xml version="1.0" encoding="utf-8"?>
<ds:datastoreItem xmlns:ds="http://schemas.openxmlformats.org/officeDocument/2006/customXml" ds:itemID="{20EF9867-FB68-4B42-81D4-E5B6D5D4E4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ef9a14e-6b3a-4af1-813a-eac9023b19ca"/>
    <ds:schemaRef ds:uri="d60cdafe-3c14-470c-9774-fed17032e9b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F0D5726-3D6A-4EAD-9F28-E8ED54CD113F}">
  <ds:schemaRefs>
    <ds:schemaRef ds:uri="http://schemas.microsoft.com/sharepoint/v3/contenttype/forms"/>
  </ds:schemaRefs>
</ds:datastoreItem>
</file>

<file path=customXml/itemProps3.xml><?xml version="1.0" encoding="utf-8"?>
<ds:datastoreItem xmlns:ds="http://schemas.openxmlformats.org/officeDocument/2006/customXml" ds:itemID="{930FAD33-FC5D-40A5-A5BF-CED66488F50B}">
  <ds:schemaRefs>
    <ds:schemaRef ds:uri="http://purl.org/dc/elements/1.1/"/>
    <ds:schemaRef ds:uri="d60cdafe-3c14-470c-9774-fed17032e9b6"/>
    <ds:schemaRef ds:uri="http://schemas.microsoft.com/office/2006/documentManagement/types"/>
    <ds:schemaRef ds:uri="http://purl.org/dc/terms/"/>
    <ds:schemaRef ds:uri="http://purl.org/dc/dcmitype/"/>
    <ds:schemaRef ds:uri="bef9a14e-6b3a-4af1-813a-eac9023b19ca"/>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Keuda</Template>
  <TotalTime>17642</TotalTime>
  <Words>7003</Words>
  <Application>Microsoft Office PowerPoint</Application>
  <PresentationFormat>Näytössä katseltava diaesitys (4:3)</PresentationFormat>
  <Paragraphs>800</Paragraphs>
  <Slides>82</Slides>
  <Notes>0</Notes>
  <HiddenSlides>3</HiddenSlides>
  <MMClips>0</MMClips>
  <ScaleCrop>false</ScaleCrop>
  <HeadingPairs>
    <vt:vector size="6" baseType="variant">
      <vt:variant>
        <vt:lpstr>Käytetyt fontit</vt:lpstr>
      </vt:variant>
      <vt:variant>
        <vt:i4>8</vt:i4>
      </vt:variant>
      <vt:variant>
        <vt:lpstr>Teema</vt:lpstr>
      </vt:variant>
      <vt:variant>
        <vt:i4>1</vt:i4>
      </vt:variant>
      <vt:variant>
        <vt:lpstr>Dian otsikot</vt:lpstr>
      </vt:variant>
      <vt:variant>
        <vt:i4>82</vt:i4>
      </vt:variant>
    </vt:vector>
  </HeadingPairs>
  <TitlesOfParts>
    <vt:vector size="91" baseType="lpstr">
      <vt:lpstr>Arial</vt:lpstr>
      <vt:lpstr>Calibri</vt:lpstr>
      <vt:lpstr>Cascadia Mono</vt:lpstr>
      <vt:lpstr>Consolas</vt:lpstr>
      <vt:lpstr>Helvetica</vt:lpstr>
      <vt:lpstr>TitilliumText22L Light</vt:lpstr>
      <vt:lpstr>Verdana</vt:lpstr>
      <vt:lpstr>Wingdings</vt:lpstr>
      <vt:lpstr>Keuda</vt:lpstr>
      <vt:lpstr>C#-ohjelmointi</vt:lpstr>
      <vt:lpstr>Visual Studion aloitus</vt:lpstr>
      <vt:lpstr>Github / Visual Studio</vt:lpstr>
      <vt:lpstr>Github / Visual Studio</vt:lpstr>
      <vt:lpstr>Ensimmäinen C# ohjelmamme</vt:lpstr>
      <vt:lpstr>Ensimmäinen C# ohjelmamme</vt:lpstr>
      <vt:lpstr>Ensimmäinen C#-ohjelmamme</vt:lpstr>
      <vt:lpstr>Muotoilusta</vt:lpstr>
      <vt:lpstr>C# - avainsanat</vt:lpstr>
      <vt:lpstr>Muuttujien määrittelystä</vt:lpstr>
      <vt:lpstr>Muuttujien määrittelystä</vt:lpstr>
      <vt:lpstr>Harjoituksia</vt:lpstr>
      <vt:lpstr>Kommentointi</vt:lpstr>
      <vt:lpstr>Dokumentointi</vt:lpstr>
      <vt:lpstr>Dokumentointi jatkuu</vt:lpstr>
      <vt:lpstr>Dokumentointi jatkuu -esimerkki</vt:lpstr>
      <vt:lpstr>Operaattorit C#:ssa</vt:lpstr>
      <vt:lpstr>Operaattorit C#:ssa</vt:lpstr>
      <vt:lpstr>Harjoituksia</vt:lpstr>
      <vt:lpstr>Ehdolliset määrittelyt</vt:lpstr>
      <vt:lpstr>Vertailuoperaattorit</vt:lpstr>
      <vt:lpstr>Loogiset operaattorit</vt:lpstr>
      <vt:lpstr>Ehdolliset määrittelyt – if / else if / else</vt:lpstr>
      <vt:lpstr>Vertailulauseet - if</vt:lpstr>
      <vt:lpstr>Vertailulauseet - switch</vt:lpstr>
      <vt:lpstr>Switch – case -tapaus</vt:lpstr>
      <vt:lpstr>Harjoituksia</vt:lpstr>
      <vt:lpstr>Toistolauseet - for</vt:lpstr>
      <vt:lpstr>Toistolauseet while (ja do-while)</vt:lpstr>
      <vt:lpstr>Foreach()</vt:lpstr>
      <vt:lpstr>Hyppäykset</vt:lpstr>
      <vt:lpstr>Taulukot - yksiulotteinen</vt:lpstr>
      <vt:lpstr>Taulukot - moniulotteinen</vt:lpstr>
      <vt:lpstr>Esimerkki</vt:lpstr>
      <vt:lpstr>Esimerkki jatkuu</vt:lpstr>
      <vt:lpstr>Sisäkkäiset taulukot</vt:lpstr>
      <vt:lpstr>String</vt:lpstr>
      <vt:lpstr>Char</vt:lpstr>
      <vt:lpstr>Ohjausmerkit</vt:lpstr>
      <vt:lpstr>Algoritmit</vt:lpstr>
      <vt:lpstr>Algoritmit - esimerkki</vt:lpstr>
      <vt:lpstr>Algoritmit - esimerkki</vt:lpstr>
      <vt:lpstr>Algoritmit – esimerkki jatkuu</vt:lpstr>
      <vt:lpstr>Koodin lukeminen</vt:lpstr>
      <vt:lpstr>Koodin kääntäminen</vt:lpstr>
      <vt:lpstr>Koodin suorittaminen</vt:lpstr>
      <vt:lpstr>Muuttujat</vt:lpstr>
      <vt:lpstr>Muuttujien määrittelyt</vt:lpstr>
      <vt:lpstr>Tietotyypit</vt:lpstr>
      <vt:lpstr>DateTimen käyttö</vt:lpstr>
      <vt:lpstr>Bool</vt:lpstr>
      <vt:lpstr>Nimet</vt:lpstr>
      <vt:lpstr>Vakiot, merkkijonot</vt:lpstr>
      <vt:lpstr>Operaattorit</vt:lpstr>
      <vt:lpstr>Konsoli</vt:lpstr>
      <vt:lpstr>Parse-metodi</vt:lpstr>
      <vt:lpstr>Muuttujien tulostus</vt:lpstr>
      <vt:lpstr>Poikkeuksien käsittely</vt:lpstr>
      <vt:lpstr>Metodit</vt:lpstr>
      <vt:lpstr>Metodin määrittely, toteutus ja kutsu</vt:lpstr>
      <vt:lpstr>Esimerkki paikallisesta muuttujasta</vt:lpstr>
      <vt:lpstr>C# perusteet jatkuu</vt:lpstr>
      <vt:lpstr>C# perusteet jatkuu</vt:lpstr>
      <vt:lpstr>C# perusteet jatkuu</vt:lpstr>
      <vt:lpstr>Virhetyypit</vt:lpstr>
      <vt:lpstr>Kääntäjän virheilmoitusten tulkinta</vt:lpstr>
      <vt:lpstr>Metodin määrittelystä</vt:lpstr>
      <vt:lpstr>Metodit</vt:lpstr>
      <vt:lpstr>Metodit jatkuvat</vt:lpstr>
      <vt:lpstr>Metodit jatkuvat</vt:lpstr>
      <vt:lpstr>Harjoituksia</vt:lpstr>
      <vt:lpstr>Harjoituksia</vt:lpstr>
      <vt:lpstr>Luokat</vt:lpstr>
      <vt:lpstr>Esimerkki</vt:lpstr>
      <vt:lpstr>Luokan ottaminen käyttöön</vt:lpstr>
      <vt:lpstr>TESTAUS</vt:lpstr>
      <vt:lpstr>TESTAUS</vt:lpstr>
      <vt:lpstr>TESTAUS</vt:lpstr>
      <vt:lpstr>TESTAUS</vt:lpstr>
      <vt:lpstr>TESTAUS</vt:lpstr>
      <vt:lpstr>TESTAUS</vt:lpstr>
      <vt:lpstr>TESTAUS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C#-ohjelmointi</dc:title>
  <dc:creator>Jyri Lindroos</dc:creator>
  <cp:lastModifiedBy>Jyri Lindroos</cp:lastModifiedBy>
  <cp:revision>16</cp:revision>
  <dcterms:created xsi:type="dcterms:W3CDTF">2021-10-24T09:05:19Z</dcterms:created>
  <dcterms:modified xsi:type="dcterms:W3CDTF">2026-01-07T05:27:44Z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0x010100F531312B7327114EB8C6A781B61668F8</vt:lpwstr>
  </property>
  <property fmtid="{D5CDD505-2E9C-101B-9397-08002B2CF9AE}" pid="3" name="Keuda Avainsana">
    <vt:lpwstr>22;#viestintä|b7bd8df1-11a9-47b9-81d4-8f39aa216b53</vt:lpwstr>
  </property>
  <property fmtid="{D5CDD505-2E9C-101B-9397-08002B2CF9AE}" pid="4" name="Keuda Ala">
    <vt:lpwstr>17;#Yhteiset palvelut|dd5a481c-96b8-4355-a3f4-1b3fa68beb25</vt:lpwstr>
  </property>
  <property fmtid="{D5CDD505-2E9C-101B-9397-08002B2CF9AE}" pid="5" name="Keuda Dokumenttityyppi">
    <vt:lpwstr>10;#Esitysmateriaali|ed134d34-a4c9-4be4-9a74-125bd0dfe4d4</vt:lpwstr>
  </property>
  <property fmtid="{D5CDD505-2E9C-101B-9397-08002B2CF9AE}" pid="6" name="AuthorIds_UIVersion_2560">
    <vt:lpwstr>30</vt:lpwstr>
  </property>
  <property fmtid="{D5CDD505-2E9C-101B-9397-08002B2CF9AE}" pid="7" name="AuthorIds_UIVersion_3072">
    <vt:lpwstr>30</vt:lpwstr>
  </property>
</Properties>
</file>