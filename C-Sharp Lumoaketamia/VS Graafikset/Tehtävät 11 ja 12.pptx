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F00"/>
    <a:srgbClr val="AF2867"/>
    <a:srgbClr val="C9338B"/>
    <a:srgbClr val="0074D8"/>
    <a:srgbClr val="623D91"/>
    <a:srgbClr val="442D73"/>
    <a:srgbClr val="A32271"/>
    <a:srgbClr val="0098BE"/>
    <a:srgbClr val="0010D8"/>
    <a:srgbClr val="C93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99" autoAdjust="0"/>
    <p:restoredTop sz="94670" autoAdjust="0"/>
  </p:normalViewPr>
  <p:slideViewPr>
    <p:cSldViewPr snapToGrid="0" snapToObjects="1">
      <p:cViewPr varScale="1">
        <p:scale>
          <a:sx n="128" d="100"/>
          <a:sy n="128" d="100"/>
        </p:scale>
        <p:origin x="2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384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D4C9-6805-D540-BF0E-8D5D44FA5A14}" type="datetimeFigureOut">
              <a:rPr lang="en-US" smtClean="0"/>
              <a:t>2/16/22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12D4-8506-FA4A-B89D-DDD39B1D7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6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EE868-360A-9D4F-ADEB-D95F6F3D8AE4}" type="datetimeFigureOut">
              <a:rPr lang="en-US" smtClean="0"/>
              <a:t>2/16/22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639CC-2304-9949-BEF3-54E737648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2358596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379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4AB942B8-D485-43EB-B893-D7EF85259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978683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6C2C99A-DA4C-41F0-ADDF-F850E7C02A8C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66739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235710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235710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91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2DEAFD-14B8-46F3-89ED-609D3D3377D8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632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sältö - ykkösvalinta -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FE89DC39-807A-4E9C-9BF9-8794BD58B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E6C7CC8-3097-4489-8F57-1AAB4DBE7496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27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uvan paikkamerkki 2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247135" y="2004607"/>
            <a:ext cx="6912000" cy="4214962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11" name="Sisällön paikkamerkki 2"/>
          <p:cNvSpPr>
            <a:spLocks noGrp="1"/>
          </p:cNvSpPr>
          <p:nvPr>
            <p:ph sz="quarter" idx="12"/>
          </p:nvPr>
        </p:nvSpPr>
        <p:spPr>
          <a:xfrm>
            <a:off x="7298724" y="4061254"/>
            <a:ext cx="1441622" cy="21583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2pPr>
            <a:lvl3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3pPr>
            <a:lvl4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4pPr>
            <a:lvl5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47135" y="463607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Kuvan 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4283676" y="947206"/>
            <a:ext cx="4473147" cy="15977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9" name="Sisällön paikkamerkki 2"/>
          <p:cNvSpPr>
            <a:spLocks noGrp="1"/>
          </p:cNvSpPr>
          <p:nvPr>
            <p:ph sz="quarter" idx="12"/>
          </p:nvPr>
        </p:nvSpPr>
        <p:spPr>
          <a:xfrm>
            <a:off x="4283675" y="2709949"/>
            <a:ext cx="4473147" cy="35590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0" name="Kuvan paikkamerkki 2"/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</p:spTree>
    <p:extLst>
      <p:ext uri="{BB962C8B-B14F-4D97-AF65-F5344CB8AC3E}">
        <p14:creationId xmlns:p14="http://schemas.microsoft.com/office/powerpoint/2010/main" val="7771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+ 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DC2E2FDC-F3B3-41CF-AB6A-48494A762C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75437" y="951548"/>
            <a:ext cx="4473147" cy="3570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6" name="Kuvan paikkamerkki 2">
            <a:extLst>
              <a:ext uri="{FF2B5EF4-FFF2-40B4-BE49-F238E27FC236}">
                <a16:creationId xmlns:a16="http://schemas.microsoft.com/office/drawing/2014/main" id="{E8D99E9B-A051-45B4-883C-FC52D255B8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1555D7A-CF63-4EF4-9AB9-418A106F04E9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487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hteystiedot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BF8A0455-F601-4BA2-A012-9207EB26FC2C}"/>
              </a:ext>
            </a:extLst>
          </p:cNvPr>
          <p:cNvSpPr txBox="1"/>
          <p:nvPr userDrawn="1"/>
        </p:nvSpPr>
        <p:spPr>
          <a:xfrm>
            <a:off x="640080" y="1151452"/>
            <a:ext cx="57773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Kysyttävää hakemisesta?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Hakupalveluihin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040 174 5579,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hakupalvelut@keuda.fi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Palvelemme myös chatissä keuda.fi.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Kiinnostaako oppisopimuskoulutus?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Työelämäpalveluihin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040 174 5627,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tyoelamapalvelut@keuda.fi</a:t>
            </a: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koulutusten yleisinfot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Parittomien viikkojen keskiviikkona klo 14 – 16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osoitteessa Keskikatu 3A, Kerava.</a:t>
            </a:r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tutustumaan? 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Katso päivittyvä lista avoimista ovista, infoista ja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muista tapahtumista osoitteessa </a:t>
            </a: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keuda.fi/infot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#ykkösvalinta  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www.keuda.fi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86727D7-5BF9-4FEE-AD3B-148F54785AC3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38904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ta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8AB97C95-E635-4200-B163-54DAC764B7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4" name="Kuva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63" y="996490"/>
            <a:ext cx="4072478" cy="5609394"/>
          </a:xfrm>
          <a:prstGeom prst="rect">
            <a:avLst/>
          </a:prstGeom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000F45F4-BC06-4C0F-93B5-E159DC2EDFDB}"/>
              </a:ext>
            </a:extLst>
          </p:cNvPr>
          <p:cNvSpPr txBox="1"/>
          <p:nvPr userDrawn="1"/>
        </p:nvSpPr>
        <p:spPr>
          <a:xfrm>
            <a:off x="590205" y="1485231"/>
            <a:ext cx="5777346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32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</a:t>
            </a:r>
            <a:endParaRPr lang="fi-FI" sz="32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Toteutamme opiskelijoille ja työelämälle yksilöllisiä,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vetovoimaisia  koulutus- ja kehittämispalveluja.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Opetus- ja koulutuspalvelut</a:t>
            </a: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Työelämäpalvelut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Koulutustarjontamme kattaa kaikki koulutusalat: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Auto- ja logistiikkapalvelut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Hyvinvointipalvelut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Liike-elämän 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Luonnonvara- ja ympäristöpalvelut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Palvelualat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Teknologia- ja rakentamispalvelut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7953638-5DFE-4A4A-91AA-B825B3CD5B5A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143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2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9E241046-3378-4DA4-96C2-F167FE837D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54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23" r:id="rId2"/>
    <p:sldLayoutId id="2147483720" r:id="rId3"/>
    <p:sldLayoutId id="2147483707" r:id="rId4"/>
    <p:sldLayoutId id="2147483726" r:id="rId5"/>
    <p:sldLayoutId id="2147483721" r:id="rId6"/>
    <p:sldLayoutId id="2147483718" r:id="rId7"/>
    <p:sldLayoutId id="2147483724" r:id="rId8"/>
    <p:sldLayoutId id="2147483725" r:id="rId9"/>
    <p:sldLayoutId id="2147483722" r:id="rId10"/>
    <p:sldLayoutId id="2147483727" r:id="rId11"/>
  </p:sldLayoutIdLst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</p:titleStyle>
    <p:bodyStyle>
      <a:lvl1pPr marL="342900" indent="-3429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  <a:lvl2pPr marL="742950" indent="-28575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2pPr>
      <a:lvl3pPr marL="11430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3pPr>
      <a:lvl4pPr marL="16002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4pPr>
      <a:lvl5pPr marL="20574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»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J9pDqjOG-Y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z5UkiKebfU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15E736C-2297-7045-8CA5-2971B118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T1-tason ohjelmointi C#-kielellä</a:t>
            </a:r>
          </a:p>
        </p:txBody>
      </p:sp>
    </p:spTree>
    <p:extLst>
      <p:ext uri="{BB962C8B-B14F-4D97-AF65-F5344CB8AC3E}">
        <p14:creationId xmlns:p14="http://schemas.microsoft.com/office/powerpoint/2010/main" val="361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5481D684-EAB2-4D47-AFB9-B60BB233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725557"/>
          </a:xfrm>
        </p:spPr>
        <p:txBody>
          <a:bodyPr/>
          <a:lstStyle/>
          <a:p>
            <a:r>
              <a:rPr lang="fi-FI" dirty="0"/>
              <a:t>11. Harjoitus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78CCAE69-B4C1-F449-8BE6-56ECB68E4C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864704"/>
            <a:ext cx="4704421" cy="5993296"/>
          </a:xfrm>
        </p:spPr>
        <p:txBody>
          <a:bodyPr/>
          <a:lstStyle/>
          <a:p>
            <a:r>
              <a:rPr lang="fi-FI" dirty="0"/>
              <a:t>Tee ohjelma, joka napin painalluksella ”heittää” kahta noppaa ja tulostaa tuloksen näytölle </a:t>
            </a:r>
          </a:p>
          <a:p>
            <a:r>
              <a:rPr lang="fi-FI" dirty="0"/>
              <a:t>Ohjelmassa otetaan taas uusi ”olio” käyttöön, eli </a:t>
            </a:r>
            <a:r>
              <a:rPr lang="fi-FI" dirty="0" err="1"/>
              <a:t>PictureBox</a:t>
            </a:r>
            <a:r>
              <a:rPr lang="fi-FI" dirty="0"/>
              <a:t> ja sen lisäksi käytetään </a:t>
            </a:r>
            <a:r>
              <a:rPr lang="fi-FI" dirty="0" err="1"/>
              <a:t>Random</a:t>
            </a:r>
            <a:r>
              <a:rPr lang="fi-FI" dirty="0"/>
              <a:t>-luokan muuttujaa Next. Tämän lisäksi siirrämme 6 tiedostoa (kuvatiedostot) ohjelman käyttöön.</a:t>
            </a:r>
          </a:p>
          <a:p>
            <a:r>
              <a:rPr lang="fi-FI" dirty="0"/>
              <a:t>Tee siis viereisen kuvan näköinen lomake, jossa noppien tilalla on </a:t>
            </a:r>
            <a:r>
              <a:rPr lang="fi-FI" dirty="0" err="1"/>
              <a:t>PictureBox</a:t>
            </a:r>
            <a:r>
              <a:rPr lang="fi-FI" dirty="0"/>
              <a:t>-oliot general-välilehdeltä ja anna niille nimet noppa01PB ja noppa02PB</a:t>
            </a:r>
          </a:p>
          <a:p>
            <a:r>
              <a:rPr lang="fi-FI" dirty="0"/>
              <a:t>Napauta sitten toista ja valitse </a:t>
            </a:r>
            <a:r>
              <a:rPr lang="fi-FI" dirty="0" err="1"/>
              <a:t>Properties</a:t>
            </a:r>
            <a:r>
              <a:rPr lang="fi-FI" dirty="0"/>
              <a:t>-välilehdeltä image ja valitse import-komento, jotta saat tuotua (kaikki kerralla) kuvat projektiisi ja valitse dice01 kuvaksi</a:t>
            </a:r>
          </a:p>
          <a:p>
            <a:r>
              <a:rPr lang="fi-FI" dirty="0"/>
              <a:t>Valitse </a:t>
            </a:r>
            <a:r>
              <a:rPr lang="fi-FI" dirty="0" err="1"/>
              <a:t>SizeModeksi</a:t>
            </a:r>
            <a:r>
              <a:rPr lang="fi-FI" dirty="0"/>
              <a:t> </a:t>
            </a:r>
            <a:r>
              <a:rPr lang="fi-FI" dirty="0" err="1"/>
              <a:t>Zoom</a:t>
            </a:r>
            <a:r>
              <a:rPr lang="fi-FI" dirty="0"/>
              <a:t>, niin kuva asettuu oikeaan kokoon. Valitse myös noppa02PB:n kuvaksi dice01 ja muuta koko oikeaksi</a:t>
            </a:r>
          </a:p>
          <a:p>
            <a:r>
              <a:rPr lang="fi-FI" dirty="0"/>
              <a:t>Napauta sitten </a:t>
            </a:r>
            <a:r>
              <a:rPr lang="fi-FI" dirty="0" err="1"/>
              <a:t>buttonia</a:t>
            </a:r>
            <a:r>
              <a:rPr lang="fi-FI" dirty="0"/>
              <a:t> ja tee koodi</a:t>
            </a:r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F0D3C9C4-8A60-FE46-B5AE-E1A9B67A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959" y="864704"/>
            <a:ext cx="31877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6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4714F9E2-411E-9E49-AB47-2958435D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6" y="190500"/>
            <a:ext cx="5194300" cy="6477000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405F006-FC64-2B45-A8AB-406DAFAAFD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87616" y="1041077"/>
            <a:ext cx="3856383" cy="5369661"/>
          </a:xfrm>
        </p:spPr>
        <p:txBody>
          <a:bodyPr/>
          <a:lstStyle/>
          <a:p>
            <a:r>
              <a:rPr lang="fi-FI" dirty="0"/>
              <a:t>Tässä tehtävässä hyödynnämme funktiota, jottei meidän tarvitse tehdä asiaa moneen kertaan, eli koska noppia heitetään kaksi, tehdään ’heitot’ funktion avulla ja lähetetään funktiolle tarvittava tieto, eli </a:t>
            </a:r>
            <a:r>
              <a:rPr lang="fi-FI" dirty="0" err="1"/>
              <a:t>PictureBoxin</a:t>
            </a:r>
            <a:r>
              <a:rPr lang="fi-FI" dirty="0"/>
              <a:t> nimi, johon haluamme kohdistaa toiminnon</a:t>
            </a:r>
          </a:p>
          <a:p>
            <a:r>
              <a:rPr lang="fi-FI" dirty="0"/>
              <a:t>Kysymys: Kuinka monta riviä koodia tulisi lisää, jos lisäisit noppien määrää viiteen?</a:t>
            </a:r>
          </a:p>
          <a:p>
            <a:pPr lvl="1"/>
            <a:r>
              <a:rPr lang="fi-FI" dirty="0"/>
              <a:t>3</a:t>
            </a:r>
          </a:p>
          <a:p>
            <a:pPr lvl="1"/>
            <a:r>
              <a:rPr lang="fi-FI" dirty="0"/>
              <a:t>30</a:t>
            </a:r>
          </a:p>
          <a:p>
            <a:pPr lvl="1"/>
            <a:r>
              <a:rPr lang="fi-FI" dirty="0"/>
              <a:t>300</a:t>
            </a:r>
          </a:p>
          <a:p>
            <a:pPr lvl="1"/>
            <a:r>
              <a:rPr lang="fi-FI" dirty="0"/>
              <a:t>3000</a:t>
            </a: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CD6E52F-1318-154E-9368-3CBDA847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719" y="-447260"/>
            <a:ext cx="5761282" cy="1440392"/>
          </a:xfrm>
        </p:spPr>
        <p:txBody>
          <a:bodyPr/>
          <a:lstStyle/>
          <a:p>
            <a:r>
              <a:rPr lang="fi-FI" dirty="0"/>
              <a:t>11. Harjoitus - koodi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0653007C-C2B2-784F-A690-E65CD896D752}"/>
              </a:ext>
            </a:extLst>
          </p:cNvPr>
          <p:cNvSpPr txBox="1"/>
          <p:nvPr/>
        </p:nvSpPr>
        <p:spPr>
          <a:xfrm>
            <a:off x="1997765" y="6192078"/>
            <a:ext cx="465151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Video aiheesta: </a:t>
            </a:r>
            <a:r>
              <a:rPr lang="fi-FI" dirty="0" err="1">
                <a:hlinkClick r:id="rId3"/>
              </a:rPr>
              <a:t>https</a:t>
            </a:r>
            <a:r>
              <a:rPr lang="fi-FI" dirty="0">
                <a:hlinkClick r:id="rId3"/>
              </a:rPr>
              <a:t>://</a:t>
            </a:r>
            <a:r>
              <a:rPr lang="fi-FI" dirty="0" err="1">
                <a:hlinkClick r:id="rId3"/>
              </a:rPr>
              <a:t>youtu.be</a:t>
            </a:r>
            <a:r>
              <a:rPr lang="fi-FI" dirty="0">
                <a:hlinkClick r:id="rId3"/>
              </a:rPr>
              <a:t>/cJ9pDqjOG-Y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5618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01E639D-2583-D84D-9388-9E58404B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850059"/>
          </a:xfrm>
        </p:spPr>
        <p:txBody>
          <a:bodyPr/>
          <a:lstStyle/>
          <a:p>
            <a:r>
              <a:rPr lang="fi-FI" dirty="0"/>
              <a:t>12. Harjoitus – 10 kysymystä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EF1C963-A49B-6D42-B601-7AE82749658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162878"/>
            <a:ext cx="8242752" cy="5695122"/>
          </a:xfrm>
        </p:spPr>
        <p:txBody>
          <a:bodyPr/>
          <a:lstStyle/>
          <a:p>
            <a:r>
              <a:rPr lang="fi-FI" dirty="0"/>
              <a:t>Tehtävän ideana on tallentaa 10 vastausta (A, B, C, D) kysymyksiin, jotka ovat annettu erikseen ja verrata niitä oikeisiin vastauksiin</a:t>
            </a:r>
          </a:p>
          <a:p>
            <a:r>
              <a:rPr lang="fi-FI" dirty="0"/>
              <a:t>Syöttö tapahtuu </a:t>
            </a:r>
            <a:r>
              <a:rPr lang="fi-FI" dirty="0" err="1"/>
              <a:t>radiobuttoneilla</a:t>
            </a:r>
            <a:r>
              <a:rPr lang="fi-FI" dirty="0"/>
              <a:t> siten, että ”Kuunnellaan” </a:t>
            </a:r>
            <a:r>
              <a:rPr lang="fi-FI" dirty="0" err="1"/>
              <a:t>radiobuttoneiden</a:t>
            </a:r>
            <a:r>
              <a:rPr lang="fi-FI" dirty="0"/>
              <a:t> muutoksia ja kun muutos tapahtuu, tehdään ”jotain”</a:t>
            </a:r>
          </a:p>
          <a:p>
            <a:r>
              <a:rPr lang="fi-FI" dirty="0"/>
              <a:t>Viimeisen vastauksen jälkeen </a:t>
            </a:r>
            <a:r>
              <a:rPr lang="fi-FI" dirty="0" err="1"/>
              <a:t>radiobuttonit</a:t>
            </a:r>
            <a:r>
              <a:rPr lang="fi-FI" dirty="0"/>
              <a:t> laitetaan pois käytöstä ja tulostetaan oikeiden vastausten lukumäärä</a:t>
            </a:r>
          </a:p>
          <a:p>
            <a:r>
              <a:rPr lang="fi-FI" dirty="0"/>
              <a:t>Tehtävässä käytetään taulukoita, sekä luodaan uusi tapauksien käsittelijä, joka kohdistetaan jokaiseen </a:t>
            </a:r>
            <a:r>
              <a:rPr lang="fi-FI" dirty="0" err="1"/>
              <a:t>radiobuttoniin</a:t>
            </a:r>
            <a:r>
              <a:rPr lang="fi-FI" dirty="0"/>
              <a:t>.</a:t>
            </a:r>
          </a:p>
          <a:p>
            <a:r>
              <a:rPr lang="fi-FI" dirty="0"/>
              <a:t>”Vastaus 1. kysymykseen” vaihtuu joka kysymyksen kohdalla siten, että kysymyksen numero vaihtuu siihen.</a:t>
            </a:r>
          </a:p>
          <a:p>
            <a:r>
              <a:rPr lang="fi-FI" dirty="0"/>
              <a:t>Jotta </a:t>
            </a:r>
            <a:r>
              <a:rPr lang="fi-FI" dirty="0" err="1"/>
              <a:t>radiobuttonit</a:t>
            </a:r>
            <a:r>
              <a:rPr lang="fi-FI" dirty="0"/>
              <a:t> näyttävät ”tyhjää” ja toimivat, joudut tekemään yhden ’turhan’ </a:t>
            </a:r>
            <a:r>
              <a:rPr lang="fi-FI" dirty="0" err="1"/>
              <a:t>radiobuttonin</a:t>
            </a:r>
            <a:r>
              <a:rPr lang="fi-FI" dirty="0"/>
              <a:t>, jonka piilotat muiden alle (ja </a:t>
            </a:r>
            <a:r>
              <a:rPr lang="fi-FI" dirty="0" err="1"/>
              <a:t>visible</a:t>
            </a:r>
            <a:r>
              <a:rPr lang="fi-FI" dirty="0"/>
              <a:t> on </a:t>
            </a:r>
            <a:r>
              <a:rPr lang="fi-FI" dirty="0" err="1"/>
              <a:t>false</a:t>
            </a:r>
            <a:r>
              <a:rPr lang="fi-FI" dirty="0"/>
              <a:t>) ja </a:t>
            </a:r>
            <a:br>
              <a:rPr lang="fi-FI" dirty="0"/>
            </a:br>
            <a:r>
              <a:rPr lang="fi-FI" dirty="0" err="1"/>
              <a:t>AutoCheck</a:t>
            </a:r>
            <a:r>
              <a:rPr lang="fi-FI" dirty="0"/>
              <a:t> on </a:t>
            </a:r>
            <a:r>
              <a:rPr lang="fi-FI" dirty="0" err="1"/>
              <a:t>false</a:t>
            </a:r>
            <a:r>
              <a:rPr lang="fi-FI" dirty="0"/>
              <a:t> (ja </a:t>
            </a:r>
            <a:r>
              <a:rPr lang="fi-FI" dirty="0" err="1"/>
              <a:t>TabIndex</a:t>
            </a:r>
            <a:r>
              <a:rPr lang="fi-FI" dirty="0"/>
              <a:t> on 0)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A03F07FA-3230-BA41-BD69-90E31DA50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39" y="4997895"/>
            <a:ext cx="3578087" cy="1750775"/>
          </a:xfrm>
          <a:prstGeom prst="rect">
            <a:avLst/>
          </a:prstGeom>
        </p:spPr>
      </p:pic>
      <p:pic>
        <p:nvPicPr>
          <p:cNvPr id="5" name="Kuva 4">
            <a:extLst>
              <a:ext uri="{FF2B5EF4-FFF2-40B4-BE49-F238E27FC236}">
                <a16:creationId xmlns:a16="http://schemas.microsoft.com/office/drawing/2014/main" id="{8FD725B7-9E08-9B47-A21A-4D6E64E5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294" y="4997895"/>
            <a:ext cx="3578088" cy="174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6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9A732828-8BA7-A34B-9A6F-351146EE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78" y="973326"/>
            <a:ext cx="9144000" cy="2793304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16BE895D-F018-DD43-BD1E-B4DC84DD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129863"/>
            <a:ext cx="5761282" cy="720196"/>
          </a:xfrm>
        </p:spPr>
        <p:txBody>
          <a:bodyPr/>
          <a:lstStyle/>
          <a:p>
            <a:r>
              <a:rPr lang="fi-FI" dirty="0"/>
              <a:t>12. Harjoitus - koodi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76F7CC6E-FE9F-6847-8B03-6DADDD735949}"/>
              </a:ext>
            </a:extLst>
          </p:cNvPr>
          <p:cNvSpPr txBox="1"/>
          <p:nvPr/>
        </p:nvSpPr>
        <p:spPr>
          <a:xfrm>
            <a:off x="4234070" y="1868557"/>
            <a:ext cx="4731026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Määritetään taulukot, toisessa oikeat vastaukset ja kysymyksiä varten laskuri ja oikeita vastauksia varten toinen laskuri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96762F31-898E-7042-B5BA-F7228E731DB5}"/>
              </a:ext>
            </a:extLst>
          </p:cNvPr>
          <p:cNvSpPr txBox="1"/>
          <p:nvPr/>
        </p:nvSpPr>
        <p:spPr>
          <a:xfrm>
            <a:off x="1123122" y="4258204"/>
            <a:ext cx="4880113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Tehdään tapahtumankäsittelijä nimeltä </a:t>
            </a:r>
            <a:r>
              <a:rPr lang="fi-FI" dirty="0" err="1"/>
              <a:t>radioButton_CheckedChanged</a:t>
            </a:r>
            <a:r>
              <a:rPr lang="fi-FI" dirty="0"/>
              <a:t> (kts. Seuraava dia) ja yhdistetään se jokaiseen </a:t>
            </a:r>
            <a:r>
              <a:rPr lang="fi-FI" dirty="0" err="1"/>
              <a:t>radiobuttoniin</a:t>
            </a:r>
            <a:r>
              <a:rPr lang="fi-FI" dirty="0"/>
              <a:t>.</a:t>
            </a:r>
          </a:p>
        </p:txBody>
      </p:sp>
      <p:cxnSp>
        <p:nvCxnSpPr>
          <p:cNvPr id="8" name="Suora nuoliyhdysviiva 7">
            <a:extLst>
              <a:ext uri="{FF2B5EF4-FFF2-40B4-BE49-F238E27FC236}">
                <a16:creationId xmlns:a16="http://schemas.microsoft.com/office/drawing/2014/main" id="{4EB9D8AA-3890-4B4A-BAF3-8C88B610E4A2}"/>
              </a:ext>
            </a:extLst>
          </p:cNvPr>
          <p:cNvCxnSpPr/>
          <p:nvPr/>
        </p:nvCxnSpPr>
        <p:spPr>
          <a:xfrm flipH="1">
            <a:off x="3886200" y="715617"/>
            <a:ext cx="993913" cy="665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uora nuoliyhdysviiva 9">
            <a:extLst>
              <a:ext uri="{FF2B5EF4-FFF2-40B4-BE49-F238E27FC236}">
                <a16:creationId xmlns:a16="http://schemas.microsoft.com/office/drawing/2014/main" id="{5660E6AB-1224-664F-9E0E-8CECCC26BEF2}"/>
              </a:ext>
            </a:extLst>
          </p:cNvPr>
          <p:cNvCxnSpPr/>
          <p:nvPr/>
        </p:nvCxnSpPr>
        <p:spPr>
          <a:xfrm flipH="1">
            <a:off x="3856383" y="745006"/>
            <a:ext cx="1023730" cy="855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iruutu 10">
            <a:extLst>
              <a:ext uri="{FF2B5EF4-FFF2-40B4-BE49-F238E27FC236}">
                <a16:creationId xmlns:a16="http://schemas.microsoft.com/office/drawing/2014/main" id="{A28DEC65-A0C5-AD44-9088-9E7CA4E69F98}"/>
              </a:ext>
            </a:extLst>
          </p:cNvPr>
          <p:cNvSpPr txBox="1"/>
          <p:nvPr/>
        </p:nvSpPr>
        <p:spPr>
          <a:xfrm>
            <a:off x="4880113" y="402247"/>
            <a:ext cx="2524539" cy="646331"/>
          </a:xfrm>
          <a:prstGeom prst="rect">
            <a:avLst/>
          </a:prstGeom>
          <a:solidFill>
            <a:schemeClr val="accent1">
              <a:alpha val="48885"/>
            </a:scheme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Eritavalla kuin videolla, muista korjata</a:t>
            </a:r>
          </a:p>
        </p:txBody>
      </p:sp>
    </p:spTree>
    <p:extLst>
      <p:ext uri="{BB962C8B-B14F-4D97-AF65-F5344CB8AC3E}">
        <p14:creationId xmlns:p14="http://schemas.microsoft.com/office/powerpoint/2010/main" val="22721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DE03150C-F65F-364C-84FA-E3423CC28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025"/>
            <a:ext cx="7390418" cy="5934111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16BE895D-F018-DD43-BD1E-B4DC84DD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129863"/>
            <a:ext cx="5761282" cy="594037"/>
          </a:xfrm>
        </p:spPr>
        <p:txBody>
          <a:bodyPr/>
          <a:lstStyle/>
          <a:p>
            <a:r>
              <a:rPr lang="fi-FI" dirty="0"/>
              <a:t>12. Harjoitus - koodi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E3937F48-F4BB-B648-B2CF-0027BE473874}"/>
              </a:ext>
            </a:extLst>
          </p:cNvPr>
          <p:cNvSpPr txBox="1"/>
          <p:nvPr/>
        </p:nvSpPr>
        <p:spPr>
          <a:xfrm>
            <a:off x="5499200" y="1033670"/>
            <a:ext cx="348863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Tarkistetaan, että </a:t>
            </a:r>
            <a:r>
              <a:rPr lang="fi-FI" dirty="0" err="1"/>
              <a:t>radiobuttonilta</a:t>
            </a:r>
            <a:r>
              <a:rPr lang="fi-FI" dirty="0"/>
              <a:t> tuli jotain ja ettei laskuri mennyt yli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ABA961ED-03A7-F442-8059-5C2DE33809A5}"/>
              </a:ext>
            </a:extLst>
          </p:cNvPr>
          <p:cNvSpPr txBox="1"/>
          <p:nvPr/>
        </p:nvSpPr>
        <p:spPr>
          <a:xfrm>
            <a:off x="4572000" y="2590621"/>
            <a:ext cx="446267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Tehdään uusi radioButton ja tallennetaan sen painikkeen, jota painettiin tiedot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Syötetään taulukkoon sen kirjain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Kasvatetaan laskuria ja vaihdetaan teksti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2C7B7A5C-5681-8048-8AFD-11E33FF3284C}"/>
              </a:ext>
            </a:extLst>
          </p:cNvPr>
          <p:cNvSpPr txBox="1"/>
          <p:nvPr/>
        </p:nvSpPr>
        <p:spPr>
          <a:xfrm>
            <a:off x="4572000" y="3896139"/>
            <a:ext cx="446267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Muussa tapauksessa poistetaan </a:t>
            </a:r>
            <a:r>
              <a:rPr lang="fi-FI" dirty="0" err="1"/>
              <a:t>radiobuttonit</a:t>
            </a:r>
            <a:r>
              <a:rPr lang="fi-FI" dirty="0"/>
              <a:t> pois käytöstä ja tyhjennetään </a:t>
            </a:r>
            <a:r>
              <a:rPr lang="fi-FI" dirty="0" err="1"/>
              <a:t>vastauslabel</a:t>
            </a:r>
            <a:endParaRPr lang="fi-FI" dirty="0"/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1C1BF441-3E5A-FE49-9B5D-5B07C1F36FA3}"/>
              </a:ext>
            </a:extLst>
          </p:cNvPr>
          <p:cNvSpPr txBox="1"/>
          <p:nvPr/>
        </p:nvSpPr>
        <p:spPr>
          <a:xfrm>
            <a:off x="5983357" y="4721087"/>
            <a:ext cx="3051313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Verrataan, kuinka moni annettu vastaus vastaa oikeaa vastausta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35639588-12FC-434F-90E0-11E17935064C}"/>
              </a:ext>
            </a:extLst>
          </p:cNvPr>
          <p:cNvSpPr txBox="1"/>
          <p:nvPr/>
        </p:nvSpPr>
        <p:spPr>
          <a:xfrm>
            <a:off x="3160643" y="6331226"/>
            <a:ext cx="5406887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Kutsutaan </a:t>
            </a:r>
            <a:r>
              <a:rPr lang="fi-FI" dirty="0" err="1"/>
              <a:t>TyhjaaVastaus</a:t>
            </a:r>
            <a:r>
              <a:rPr lang="fi-FI" dirty="0"/>
              <a:t>() –funktiota (kts. Seur. Sivu)</a:t>
            </a:r>
          </a:p>
        </p:txBody>
      </p:sp>
      <p:sp>
        <p:nvSpPr>
          <p:cNvPr id="10" name="Ellipsi 9">
            <a:extLst>
              <a:ext uri="{FF2B5EF4-FFF2-40B4-BE49-F238E27FC236}">
                <a16:creationId xmlns:a16="http://schemas.microsoft.com/office/drawing/2014/main" id="{FB3004D9-C393-7840-A41B-0B9125A3D65C}"/>
              </a:ext>
            </a:extLst>
          </p:cNvPr>
          <p:cNvSpPr/>
          <p:nvPr/>
        </p:nvSpPr>
        <p:spPr>
          <a:xfrm>
            <a:off x="4339105" y="1033670"/>
            <a:ext cx="779547" cy="4969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Ellipsi 10">
            <a:extLst>
              <a:ext uri="{FF2B5EF4-FFF2-40B4-BE49-F238E27FC236}">
                <a16:creationId xmlns:a16="http://schemas.microsoft.com/office/drawing/2014/main" id="{E58BCE02-FDE5-0542-B4A3-441DC0082544}"/>
              </a:ext>
            </a:extLst>
          </p:cNvPr>
          <p:cNvSpPr/>
          <p:nvPr/>
        </p:nvSpPr>
        <p:spPr>
          <a:xfrm>
            <a:off x="1658853" y="4128053"/>
            <a:ext cx="779547" cy="4969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Ellipsi 11">
            <a:extLst>
              <a:ext uri="{FF2B5EF4-FFF2-40B4-BE49-F238E27FC236}">
                <a16:creationId xmlns:a16="http://schemas.microsoft.com/office/drawing/2014/main" id="{2404C119-4EB3-DC42-A002-8BA6B60EA135}"/>
              </a:ext>
            </a:extLst>
          </p:cNvPr>
          <p:cNvSpPr/>
          <p:nvPr/>
        </p:nvSpPr>
        <p:spPr>
          <a:xfrm>
            <a:off x="2674790" y="4128053"/>
            <a:ext cx="779547" cy="4969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DC5C5BFC-23A9-DB47-8BB6-3AB52E97B091}"/>
              </a:ext>
            </a:extLst>
          </p:cNvPr>
          <p:cNvSpPr txBox="1"/>
          <p:nvPr/>
        </p:nvSpPr>
        <p:spPr>
          <a:xfrm>
            <a:off x="2156791" y="2512656"/>
            <a:ext cx="2286000" cy="646331"/>
          </a:xfrm>
          <a:prstGeom prst="rect">
            <a:avLst/>
          </a:prstGeom>
          <a:solidFill>
            <a:srgbClr val="FF0000">
              <a:alpha val="55440"/>
            </a:srgbClr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Eri tavalla kuin videossa, korjaa!</a:t>
            </a:r>
          </a:p>
        </p:txBody>
      </p: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F280229C-C8A9-4C41-9A26-DCAC5216687B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3299791" y="1457848"/>
            <a:ext cx="1153476" cy="10548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uora nuoliyhdysviiva 16">
            <a:extLst>
              <a:ext uri="{FF2B5EF4-FFF2-40B4-BE49-F238E27FC236}">
                <a16:creationId xmlns:a16="http://schemas.microsoft.com/office/drawing/2014/main" id="{6D596978-2032-8B42-A1E9-19F36187E9AC}"/>
              </a:ext>
            </a:extLst>
          </p:cNvPr>
          <p:cNvCxnSpPr/>
          <p:nvPr/>
        </p:nvCxnSpPr>
        <p:spPr>
          <a:xfrm flipH="1">
            <a:off x="2156791" y="3157386"/>
            <a:ext cx="584897" cy="9135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uora nuoliyhdysviiva 17">
            <a:extLst>
              <a:ext uri="{FF2B5EF4-FFF2-40B4-BE49-F238E27FC236}">
                <a16:creationId xmlns:a16="http://schemas.microsoft.com/office/drawing/2014/main" id="{BAE231F4-F392-0549-86D4-3B393E928257}"/>
              </a:ext>
            </a:extLst>
          </p:cNvPr>
          <p:cNvCxnSpPr>
            <a:cxnSpLocks/>
          </p:cNvCxnSpPr>
          <p:nvPr/>
        </p:nvCxnSpPr>
        <p:spPr>
          <a:xfrm flipH="1">
            <a:off x="3191587" y="3100235"/>
            <a:ext cx="558857" cy="1000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72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6BE895D-F018-DD43-BD1E-B4DC84DD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129863"/>
            <a:ext cx="5761282" cy="594037"/>
          </a:xfrm>
        </p:spPr>
        <p:txBody>
          <a:bodyPr/>
          <a:lstStyle/>
          <a:p>
            <a:r>
              <a:rPr lang="fi-FI" dirty="0"/>
              <a:t>12. Harjoitus - koodi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40E76033-0928-9747-9209-A5FAD05B6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8" y="892036"/>
            <a:ext cx="3594100" cy="4914900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7D07403E-588C-B046-8A48-33621E249FE0}"/>
              </a:ext>
            </a:extLst>
          </p:cNvPr>
          <p:cNvSpPr txBox="1"/>
          <p:nvPr/>
        </p:nvSpPr>
        <p:spPr>
          <a:xfrm>
            <a:off x="4386018" y="1232452"/>
            <a:ext cx="4469747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Tyhjennetään edellinen vastaus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Ja koska tyhjennys on myös </a:t>
            </a:r>
            <a:r>
              <a:rPr lang="fi-FI" dirty="0" err="1"/>
              <a:t>radiobutton</a:t>
            </a:r>
            <a:r>
              <a:rPr lang="fi-FI" dirty="0"/>
              <a:t> tapahtuma, joudutaan laskuria pienentämään, koska tyhjennys kutsui </a:t>
            </a:r>
            <a:r>
              <a:rPr lang="fi-FI" dirty="0" err="1"/>
              <a:t>Radiobutton_CheckedChanged</a:t>
            </a:r>
            <a:r>
              <a:rPr lang="fi-FI" dirty="0"/>
              <a:t> </a:t>
            </a:r>
            <a:r>
              <a:rPr lang="fi-FI"/>
              <a:t>-funktiota</a:t>
            </a:r>
            <a:endParaRPr lang="fi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DD664D18-396C-41A3-A8A1-E6FD8D3BB6EB}"/>
              </a:ext>
            </a:extLst>
          </p:cNvPr>
          <p:cNvSpPr txBox="1"/>
          <p:nvPr/>
        </p:nvSpPr>
        <p:spPr>
          <a:xfrm>
            <a:off x="1929468" y="5276675"/>
            <a:ext cx="4623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Video aiheesta:</a:t>
            </a:r>
          </a:p>
          <a:p>
            <a:r>
              <a:rPr lang="fi-FI" dirty="0">
                <a:hlinkClick r:id="rId3"/>
              </a:rPr>
              <a:t>https://youtu.be/hz5UkiKebfU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66616629"/>
      </p:ext>
    </p:extLst>
  </p:cSld>
  <p:clrMapOvr>
    <a:masterClrMapping/>
  </p:clrMapOvr>
</p:sld>
</file>

<file path=ppt/theme/theme1.xml><?xml version="1.0" encoding="utf-8"?>
<a:theme xmlns:a="http://schemas.openxmlformats.org/drawingml/2006/main" name="Keuda">
  <a:themeElements>
    <a:clrScheme name="KEUDA">
      <a:dk1>
        <a:srgbClr val="000000"/>
      </a:dk1>
      <a:lt1>
        <a:sysClr val="window" lastClr="FFFFFF"/>
      </a:lt1>
      <a:dk2>
        <a:srgbClr val="000000"/>
      </a:dk2>
      <a:lt2>
        <a:srgbClr val="DAD9D4"/>
      </a:lt2>
      <a:accent1>
        <a:srgbClr val="3AAA35"/>
      </a:accent1>
      <a:accent2>
        <a:srgbClr val="BCCF00"/>
      </a:accent2>
      <a:accent3>
        <a:srgbClr val="C9338B"/>
      </a:accent3>
      <a:accent4>
        <a:srgbClr val="0074D8"/>
      </a:accent4>
      <a:accent5>
        <a:srgbClr val="623D91"/>
      </a:accent5>
      <a:accent6>
        <a:srgbClr val="000000"/>
      </a:accent6>
      <a:hlink>
        <a:srgbClr val="3AAA35"/>
      </a:hlink>
      <a:folHlink>
        <a:srgbClr val="BCCF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eudapohja" id="{A054984A-8E48-3642-AE8C-EDA194885A68}" vid="{D6D0F34A-5152-A84B-95B2-81CF7E64AF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0cdafe-3c14-470c-9774-fed17032e9b6">
      <UserInfo>
        <DisplayName>Tiina Myrsky</DisplayName>
        <AccountId>395</AccountId>
        <AccountType/>
      </UserInfo>
      <UserInfo>
        <DisplayName>Sirpa Laiho</DisplayName>
        <AccountId>953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531312B7327114EB8C6A781B61668F8" ma:contentTypeVersion="13" ma:contentTypeDescription="Luo uusi asiakirja." ma:contentTypeScope="" ma:versionID="160cf9f1a0764e32543ee535e7019f2e">
  <xsd:schema xmlns:xsd="http://www.w3.org/2001/XMLSchema" xmlns:xs="http://www.w3.org/2001/XMLSchema" xmlns:p="http://schemas.microsoft.com/office/2006/metadata/properties" xmlns:ns3="bef9a14e-6b3a-4af1-813a-eac9023b19ca" xmlns:ns4="d60cdafe-3c14-470c-9774-fed17032e9b6" targetNamespace="http://schemas.microsoft.com/office/2006/metadata/properties" ma:root="true" ma:fieldsID="93873177101ee229c29b07e8d73cfea5" ns3:_="" ns4:_="">
    <xsd:import namespace="bef9a14e-6b3a-4af1-813a-eac9023b19ca"/>
    <xsd:import namespace="d60cdafe-3c14-470c-9774-fed17032e9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9a14e-6b3a-4af1-813a-eac9023b19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cdafe-3c14-470c-9774-fed17032e9b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0FAD33-FC5D-40A5-A5BF-CED66488F50B}">
  <ds:schemaRefs>
    <ds:schemaRef ds:uri="http://schemas.microsoft.com/office/2006/metadata/properties"/>
    <ds:schemaRef ds:uri="d60cdafe-3c14-470c-9774-fed17032e9b6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bef9a14e-6b3a-4af1-813a-eac9023b19ca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F0D5726-3D6A-4EAD-9F28-E8ED54CD11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EF9867-FB68-4B42-81D4-E5B6D5D4E4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f9a14e-6b3a-4af1-813a-eac9023b19ca"/>
    <ds:schemaRef ds:uri="d60cdafe-3c14-470c-9774-fed17032e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Keuda</Template>
  <TotalTime>17258</TotalTime>
  <Words>486</Words>
  <Application>Microsoft Macintosh PowerPoint</Application>
  <PresentationFormat>Näytössä katseltava diaesitys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1" baseType="lpstr">
      <vt:lpstr>Arial</vt:lpstr>
      <vt:lpstr>Calibri</vt:lpstr>
      <vt:lpstr>TitilliumText22L Light</vt:lpstr>
      <vt:lpstr>Keuda</vt:lpstr>
      <vt:lpstr>T1-tason ohjelmointi C#-kielellä</vt:lpstr>
      <vt:lpstr>11. Harjoitus</vt:lpstr>
      <vt:lpstr>11. Harjoitus - koodi</vt:lpstr>
      <vt:lpstr>12. Harjoitus – 10 kysymystä</vt:lpstr>
      <vt:lpstr>12. Harjoitus - koodi</vt:lpstr>
      <vt:lpstr>12. Harjoitus - koodi</vt:lpstr>
      <vt:lpstr>12. Harjoitus - koodi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T1-tason ohjelmointi C#-kielellä</dc:title>
  <dc:creator>Jyri Lindroos</dc:creator>
  <cp:lastModifiedBy>Jyri Lindroos</cp:lastModifiedBy>
  <cp:revision>79</cp:revision>
  <dcterms:created xsi:type="dcterms:W3CDTF">2021-08-06T08:12:12Z</dcterms:created>
  <dcterms:modified xsi:type="dcterms:W3CDTF">2022-02-16T09:54:18Z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0x010100F531312B7327114EB8C6A781B61668F8</vt:lpwstr>
  </property>
  <property fmtid="{D5CDD505-2E9C-101B-9397-08002B2CF9AE}" pid="3" name="Keuda Avainsana">
    <vt:lpwstr>22;#viestintä|b7bd8df1-11a9-47b9-81d4-8f39aa216b53</vt:lpwstr>
  </property>
  <property fmtid="{D5CDD505-2E9C-101B-9397-08002B2CF9AE}" pid="4" name="Keuda Ala">
    <vt:lpwstr>17;#Yhteiset palvelut|dd5a481c-96b8-4355-a3f4-1b3fa68beb25</vt:lpwstr>
  </property>
  <property fmtid="{D5CDD505-2E9C-101B-9397-08002B2CF9AE}" pid="5" name="Keuda Dokumenttityyppi">
    <vt:lpwstr>10;#Esitysmateriaali|ed134d34-a4c9-4be4-9a74-125bd0dfe4d4</vt:lpwstr>
  </property>
  <property fmtid="{D5CDD505-2E9C-101B-9397-08002B2CF9AE}" pid="6" name="AuthorIds_UIVersion_2560">
    <vt:lpwstr>30</vt:lpwstr>
  </property>
  <property fmtid="{D5CDD505-2E9C-101B-9397-08002B2CF9AE}" pid="7" name="AuthorIds_UIVersion_3072">
    <vt:lpwstr>30</vt:lpwstr>
  </property>
</Properties>
</file>